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a plain question: if a service becomes unavailable, how would a planner find what depends on it? The four boxes show a fictional path from Northbank Substation Alpha to a hospital through a data center and shared health records. Each link comes from the synthetic demo register. ContinuityMap helps a team inspect and discuss those recorded links. It does not predict damage, actual service behavior, or restoration. Everything in this deck is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this as a common information-management challenge, not a claim that every organization has the same problem or only uses spreadsheets. A continuity plan may explain procedures, an asset list may name equipment, and the service owner may know a backup that is not recorded elsewhere. Public resilience guidance also asks organizations to understand supporting and dependent functions. The practical effort is collecting, aligning, checking and maintaining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from left to right through the product. The team starts with an inventory. Each relationship carries a source and a review state. An accountable service owner decides whether it is verified. The planner then chooses a disruption scenario and reviews calculated results, open questions and actions. In this prototype, customer records are not allowed: the bundled Northbank content is fictional and the importer accepts fictional nodes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everyday language, the source is the provider and the dependent is the service that relies on it. The example states that Northbank Water Treatment requires power from Substation Alpha. The evidence reference points to a section in the invented continuity register, and the water operations owner is responsible for checking it. Verified means a human reviewer approved the record. Proposed means it still needs review. Unknown is an open question. Rejected means a reviewer declined the claim. “ANY” is explained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product if available and select a service. Show the upstream providers and downstream services. Open one relationship and point out the source text, owner and review state. If the service has an open question, explain that it is shown separately and does not count as a failure. A planner can correct a relationship and rerun the scenario to see how the declared result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“ANY” as a backup rule: at least one provider in that group must remain available. In Northbank, water treatment can use Substation Alpha or the Civic Solar Microgrid. Explain “ALL” as a joint requirement: each listed provider is needed. A service can have multiple groups, and each group must be satisfied. The program repeatedly checks the declared links until another pass finds no new affected service. The term for that in graph software is fixed-point propagation; users do not need to know the term to read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synthetic network contains 43 nodes and 80 relationship records. It includes services, facilities, recovery resources, backup relationships, open questions and three saved scenarios. The water scenario disrupts two declared sources together. The communications scenario illustrates an independent radio route. The dataset is small and hand-checked to demonstrate the software; it is not a model of a real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demonstration result. Seventeen entries are listed as unavailable: the explicit starting substation and 16 downstream results. One path runs from Alpha to the Municipal Data Center, then to Shared Health Records, then to Northbank General Hospital. Water treatment remains available because the verified ANY group still has the Civic Solar Microgrid. Two other paths are shown for review because they are not verified. The counts are synthetic graph outputs, not physical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accepts fictional TXT, Markdown, CSV, PDF and DOCX content. If a local Ollama model is configured, it can suggest provider and dependent names and cite a source passage. The names must already exist in the graph and the quoted text must be present in the document. Without a local model, a labeled rule-based method is used. The benchmark has only five short synthetic examples, so it should not be presented as proof of performance on real continuity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verification is a human action. The assessment endpoint returns whether the system state changed; it does not edit the graph or a recovery procedure. The demo has no login, permission system, tenant isolation, or production security hardening. A real customer deployment would need those safeguards, a data-handling agreement, a threat review, and clear ownership of the graph. The synthetic-only boundary is intentional.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claim a map, dashboard or crisis workflow is novel. Everbridge publicly describes Bridge as offering service and dependency mapping, resilience gaps, impact tolerances and response workflow connections. This prototype’s possible difference is a narrow workflow where every relationship can be inspected, edited and traced to evidence, with a transparent rule-based calculation. That is a hypothesis. A real competitive assessment requires product demonstrations, buyer interviews, pricing research and procurement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assumptions to support discussion, not a quote or forecast. Annual recurring revenue here is $65,000 base subscription plus three sites at $9,000 each, or $92,000. First-year revenue adds $28,000 onboarding, totaling $120,000. Direct costs assume $18,000 to deliver onboarding and $12,000 for one year of cloud and support, totaling $30,000. Gross profit is revenue minus those direct costs: $90,000. Gross margin is gross profit divided by revenue: 75%. It excludes product development, sales, management, taxes, security assurance and other company expenses. The 5, 10 and 25 organization figures simply multiply these same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translate the technologies: React is the browser interface; Cytoscape draws the interactive network; FastAPI exposes routes that people and software can call; NetworkX runs graph checks and impact calculations; PostgreSQL saves the inventory; Ollama can host a language model locally. The current graph has 43 nodes and 80 relationship records, so a relational database is sufficient. No performance claim should be inferred from this small synthetic example. Before production, identity, authorization, data retention, monitoring, backups and security review are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focused pilot proposal. Start with one service group, a dataset the customer has approved for use, named owners and one scenario. Measure how long the team takes to prepare the exercise, whether owners agree with each path, which evidence is missing, and whether follow-up actions are completed. Do not promise a reduction in real outages based on the demo. The product depends on the customer being able to build and maintain accurate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M_LIGHT">
    <p:bg>
      <p:bgPr>
        <a:solidFill>
          <a:srgbClr val="F3F6F7"/>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87F8C"/>
          </a:solidFill>
          <a:ln w="12700">
            <a:solidFill>
              <a:srgbClr val="087F8C">
                <a:alpha val="0"/>
              </a:srgbClr>
            </a:solidFill>
            <a:prstDash val="solid"/>
          </a:ln>
        </p:spPr>
      </p:sp>
      <p:sp>
        <p:nvSpPr>
          <p:cNvPr id="3" name="Shape 1"/>
          <p:cNvSpPr/>
          <p:nvPr/>
        </p:nvSpPr>
        <p:spPr>
          <a:xfrm>
            <a:off x="502920" y="6446520"/>
            <a:ext cx="11201400" cy="0"/>
          </a:xfrm>
          <a:prstGeom prst="line">
            <a:avLst/>
          </a:prstGeom>
          <a:noFill/>
          <a:ln w="8890">
            <a:solidFill>
              <a:srgbClr val="DDE5E8"/>
            </a:solidFill>
            <a:prstDash val="solid"/>
          </a:ln>
        </p:spPr>
      </p:sp>
      <p:sp>
        <p:nvSpPr>
          <p:cNvPr id="4" name="Text 2"/>
          <p:cNvSpPr/>
          <p:nvPr/>
        </p:nvSpPr>
        <p:spPr>
          <a:xfrm>
            <a:off x="548640" y="6501384"/>
            <a:ext cx="7315200" cy="146304"/>
          </a:xfrm>
          <a:prstGeom prst="rect">
            <a:avLst/>
          </a:prstGeom>
          <a:noFill/>
          <a:ln/>
        </p:spPr>
        <p:txBody>
          <a:bodyPr wrap="square" lIns="0" tIns="0" rIns="0" bIns="0" rtlCol="0" anchor="ctr"/>
          <a:lstStyle/>
          <a:p>
            <a:pPr indent="0" marL="0">
              <a:buNone/>
            </a:pPr>
            <a:r>
              <a:rPr lang="en-US" sz="750" spc="50" kern="0" dirty="0">
                <a:solidFill>
                  <a:srgbClr val="71838D"/>
                </a:solidFill>
                <a:latin typeface="Aptos" pitchFamily="34" charset="0"/>
                <a:ea typeface="Aptos" pitchFamily="34" charset="-122"/>
                <a:cs typeface="Aptos" pitchFamily="34" charset="-120"/>
              </a:rPr>
              <a:t>CONTINUITYMAP   ·   SYNTHETIC PLANNING DEMONSTRATION</a:t>
            </a:r>
            <a:endParaRPr lang="en-US" sz="750" dirty="0"/>
          </a:p>
        </p:txBody>
      </p:sp>
      <p:sp>
        <p:nvSpPr>
          <p:cNvPr id="25" name="Slide Number Placeholder 0"/>
          <p:cNvSpPr>
            <a:spLocks noGrp="1"/>
          </p:cNvSpPr>
          <p:nvPr>
            <p:ph type="sldNum" sz="quarter" idx="4294967295"/>
          </p:nvPr>
        </p:nvSpPr>
        <p:spPr>
          <a:xfrm>
            <a:off x="11247120" y="6492240"/>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1838D"/>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92240"/>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1838D"/>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638"/>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087F8C"/>
          </a:solidFill>
          <a:ln w="12700">
            <a:solidFill>
              <a:srgbClr val="087F8C">
                <a:alpha val="0"/>
              </a:srgbClr>
            </a:solidFill>
            <a:prstDash val="solid"/>
          </a:ln>
        </p:spPr>
      </p:sp>
      <p:sp>
        <p:nvSpPr>
          <p:cNvPr id="3" name="Text 1"/>
          <p:cNvSpPr/>
          <p:nvPr/>
        </p:nvSpPr>
        <p:spPr>
          <a:xfrm>
            <a:off x="658368" y="566928"/>
            <a:ext cx="4572000" cy="228600"/>
          </a:xfrm>
          <a:prstGeom prst="rect">
            <a:avLst/>
          </a:prstGeom>
          <a:noFill/>
          <a:ln/>
        </p:spPr>
        <p:txBody>
          <a:bodyPr wrap="square" lIns="0" tIns="0" rIns="0" bIns="0" rtlCol="0" anchor="ctr">
            <a:normAutofit/>
          </a:bodyPr>
          <a:lstStyle/>
          <a:p>
            <a:pPr indent="0" marL="0">
              <a:buNone/>
            </a:pPr>
            <a:r>
              <a:rPr lang="en-US" sz="1000" b="1" spc="200" kern="0" dirty="0">
                <a:solidFill>
                  <a:srgbClr val="70C8C4"/>
                </a:solidFill>
                <a:latin typeface="Aptos" pitchFamily="34" charset="0"/>
                <a:ea typeface="Aptos" pitchFamily="34" charset="-122"/>
                <a:cs typeface="Aptos" pitchFamily="34" charset="-120"/>
              </a:rPr>
              <a:t>CONTINUITYMAP</a:t>
            </a:r>
            <a:endParaRPr lang="en-US" sz="1000" dirty="0"/>
          </a:p>
        </p:txBody>
      </p:sp>
      <p:sp>
        <p:nvSpPr>
          <p:cNvPr id="4" name="Text 2"/>
          <p:cNvSpPr/>
          <p:nvPr/>
        </p:nvSpPr>
        <p:spPr>
          <a:xfrm>
            <a:off x="658368" y="1207008"/>
            <a:ext cx="7772400" cy="1371600"/>
          </a:xfrm>
          <a:prstGeom prst="rect">
            <a:avLst/>
          </a:prstGeom>
          <a:noFill/>
          <a:ln/>
        </p:spPr>
        <p:txBody>
          <a:bodyPr wrap="square" lIns="0" tIns="0" rIns="0" bIns="0" rtlCol="0" anchor="t">
            <a:normAutofit/>
          </a:bodyPr>
          <a:lstStyle/>
          <a:p>
            <a:pPr indent="0" marL="0">
              <a:buNone/>
            </a:pPr>
            <a:r>
              <a:rPr lang="en-US" sz="3100" b="1" dirty="0">
                <a:solidFill>
                  <a:srgbClr val="FFFFFF"/>
                </a:solidFill>
                <a:latin typeface="Aptos Display" pitchFamily="34" charset="0"/>
                <a:ea typeface="Aptos Display" pitchFamily="34" charset="-122"/>
                <a:cs typeface="Aptos Display" pitchFamily="34" charset="-120"/>
              </a:rPr>
              <a:t>Essential services</a:t>
            </a:r>
            <a:endParaRPr lang="en-US" sz="3100" dirty="0"/>
          </a:p>
          <a:p>
            <a:pPr indent="0" marL="0">
              <a:buNone/>
            </a:pPr>
            <a:r>
              <a:rPr lang="en-US" sz="3100" b="1" dirty="0">
                <a:solidFill>
                  <a:srgbClr val="FFFFFF"/>
                </a:solidFill>
                <a:latin typeface="Aptos Display" pitchFamily="34" charset="0"/>
                <a:ea typeface="Aptos Display" pitchFamily="34" charset="-122"/>
                <a:cs typeface="Aptos Display" pitchFamily="34" charset="-120"/>
              </a:rPr>
              <a:t>rely on one another.</a:t>
            </a:r>
            <a:endParaRPr lang="en-US" sz="3100" dirty="0"/>
          </a:p>
        </p:txBody>
      </p:sp>
      <p:sp>
        <p:nvSpPr>
          <p:cNvPr id="5" name="Text 3"/>
          <p:cNvSpPr/>
          <p:nvPr/>
        </p:nvSpPr>
        <p:spPr>
          <a:xfrm>
            <a:off x="676656" y="2816352"/>
            <a:ext cx="7315200" cy="438912"/>
          </a:xfrm>
          <a:prstGeom prst="rect">
            <a:avLst/>
          </a:prstGeom>
          <a:noFill/>
          <a:ln/>
        </p:spPr>
        <p:txBody>
          <a:bodyPr wrap="square" lIns="0" tIns="0" rIns="0" bIns="0" rtlCol="0" anchor="ctr">
            <a:normAutofit/>
          </a:bodyPr>
          <a:lstStyle/>
          <a:p>
            <a:pPr indent="0" marL="0">
              <a:buNone/>
            </a:pPr>
            <a:r>
              <a:rPr lang="en-US" sz="1500" dirty="0">
                <a:solidFill>
                  <a:srgbClr val="CDDCE2"/>
                </a:solidFill>
                <a:latin typeface="Aptos" pitchFamily="34" charset="0"/>
                <a:ea typeface="Aptos" pitchFamily="34" charset="-122"/>
                <a:cs typeface="Aptos" pitchFamily="34" charset="-120"/>
              </a:rPr>
              <a:t>A clearer way to review service dependencies and practice what-if scenarios</a:t>
            </a:r>
            <a:endParaRPr lang="en-US" sz="1500" dirty="0"/>
          </a:p>
        </p:txBody>
      </p:sp>
      <p:sp>
        <p:nvSpPr>
          <p:cNvPr id="6" name="Text 4"/>
          <p:cNvSpPr/>
          <p:nvPr/>
        </p:nvSpPr>
        <p:spPr>
          <a:xfrm>
            <a:off x="676656" y="3346704"/>
            <a:ext cx="7589520" cy="393192"/>
          </a:xfrm>
          <a:prstGeom prst="rect">
            <a:avLst/>
          </a:prstGeom>
          <a:noFill/>
          <a:ln/>
        </p:spPr>
        <p:txBody>
          <a:bodyPr wrap="square" lIns="0" tIns="0" rIns="0" bIns="0" rtlCol="0" anchor="ctr">
            <a:normAutofit/>
          </a:bodyPr>
          <a:lstStyle/>
          <a:p>
            <a:pPr indent="0" marL="0">
              <a:buNone/>
            </a:pPr>
            <a:r>
              <a:rPr lang="en-US" sz="1200" dirty="0">
                <a:solidFill>
                  <a:srgbClr val="AAC0CA"/>
                </a:solidFill>
                <a:latin typeface="Aptos" pitchFamily="34" charset="0"/>
                <a:ea typeface="Aptos" pitchFamily="34" charset="-122"/>
                <a:cs typeface="Aptos" pitchFamily="34" charset="-120"/>
              </a:rPr>
              <a:t>A reviewable map and simple what-if exercises, with evidence owners can check.</a:t>
            </a:r>
            <a:endParaRPr lang="en-US" sz="1200" dirty="0"/>
          </a:p>
        </p:txBody>
      </p:sp>
      <p:sp>
        <p:nvSpPr>
          <p:cNvPr id="7" name="Shape 5"/>
          <p:cNvSpPr/>
          <p:nvPr/>
        </p:nvSpPr>
        <p:spPr>
          <a:xfrm>
            <a:off x="694944" y="4572000"/>
            <a:ext cx="2331720" cy="950976"/>
          </a:xfrm>
          <a:prstGeom prst="roundRect">
            <a:avLst>
              <a:gd name="adj" fmla="val 11538"/>
            </a:avLst>
          </a:prstGeom>
          <a:solidFill>
            <a:srgbClr val="1C4050"/>
          </a:solidFill>
          <a:ln w="8890">
            <a:solidFill>
              <a:srgbClr val="355966"/>
            </a:solidFill>
            <a:prstDash val="solid"/>
          </a:ln>
        </p:spPr>
      </p:sp>
      <p:sp>
        <p:nvSpPr>
          <p:cNvPr id="8" name="Text 6"/>
          <p:cNvSpPr/>
          <p:nvPr/>
        </p:nvSpPr>
        <p:spPr>
          <a:xfrm>
            <a:off x="841248" y="4736592"/>
            <a:ext cx="1965960" cy="164592"/>
          </a:xfrm>
          <a:prstGeom prst="rect">
            <a:avLst/>
          </a:prstGeom>
          <a:noFill/>
          <a:ln/>
        </p:spPr>
        <p:txBody>
          <a:bodyPr wrap="square" lIns="0" tIns="0" rIns="0" bIns="0" rtlCol="0" anchor="ctr">
            <a:normAutofit/>
          </a:bodyPr>
          <a:lstStyle/>
          <a:p>
            <a:pPr indent="0" marL="0">
              <a:buNone/>
            </a:pPr>
            <a:r>
              <a:rPr lang="en-US" sz="800" b="1" spc="120" kern="0" dirty="0">
                <a:solidFill>
                  <a:srgbClr val="76C6C1"/>
                </a:solidFill>
                <a:latin typeface="Aptos" pitchFamily="34" charset="0"/>
                <a:ea typeface="Aptos" pitchFamily="34" charset="-122"/>
                <a:cs typeface="Aptos" pitchFamily="34" charset="-120"/>
              </a:rPr>
              <a:t>POWER</a:t>
            </a:r>
            <a:endParaRPr lang="en-US" sz="800" dirty="0"/>
          </a:p>
        </p:txBody>
      </p:sp>
      <p:sp>
        <p:nvSpPr>
          <p:cNvPr id="9" name="Text 7"/>
          <p:cNvSpPr/>
          <p:nvPr/>
        </p:nvSpPr>
        <p:spPr>
          <a:xfrm>
            <a:off x="841248" y="5020056"/>
            <a:ext cx="1993392" cy="274320"/>
          </a:xfrm>
          <a:prstGeom prst="rect">
            <a:avLst/>
          </a:prstGeom>
          <a:noFill/>
          <a:ln/>
        </p:spPr>
        <p:txBody>
          <a:bodyPr wrap="square" lIns="0" tIns="0" rIns="0" bIns="0" rtlCol="0" anchor="ctr">
            <a:normAutofit/>
          </a:bodyPr>
          <a:lstStyle/>
          <a:p>
            <a:pPr indent="0" marL="0">
              <a:buNone/>
            </a:pPr>
            <a:r>
              <a:rPr lang="en-US" sz="1030" b="1" dirty="0">
                <a:solidFill>
                  <a:srgbClr val="FFFFFF"/>
                </a:solidFill>
                <a:latin typeface="Aptos" pitchFamily="34" charset="0"/>
                <a:ea typeface="Aptos" pitchFamily="34" charset="-122"/>
                <a:cs typeface="Aptos" pitchFamily="34" charset="-120"/>
              </a:rPr>
              <a:t>Substation Alpha</a:t>
            </a:r>
            <a:endParaRPr lang="en-US" sz="1030" dirty="0"/>
          </a:p>
        </p:txBody>
      </p:sp>
      <p:sp>
        <p:nvSpPr>
          <p:cNvPr id="10" name="Text 8"/>
          <p:cNvSpPr/>
          <p:nvPr/>
        </p:nvSpPr>
        <p:spPr>
          <a:xfrm>
            <a:off x="3099816" y="4910328"/>
            <a:ext cx="256032" cy="246888"/>
          </a:xfrm>
          <a:prstGeom prst="rect">
            <a:avLst/>
          </a:prstGeom>
          <a:noFill/>
          <a:ln/>
        </p:spPr>
        <p:txBody>
          <a:bodyPr wrap="square" lIns="0" tIns="0" rIns="0" bIns="0" rtlCol="0" anchor="ctr">
            <a:normAutofit/>
          </a:bodyPr>
          <a:lstStyle/>
          <a:p>
            <a:pPr algn="ctr" indent="0" marL="0">
              <a:buNone/>
            </a:pPr>
            <a:r>
              <a:rPr lang="en-US" sz="1700" b="1" dirty="0">
                <a:solidFill>
                  <a:srgbClr val="79BFBA"/>
                </a:solidFill>
                <a:latin typeface="Aptos" pitchFamily="34" charset="0"/>
                <a:ea typeface="Aptos" pitchFamily="34" charset="-122"/>
                <a:cs typeface="Aptos" pitchFamily="34" charset="-120"/>
              </a:rPr>
              <a:t>→</a:t>
            </a:r>
            <a:endParaRPr lang="en-US" sz="1700" dirty="0"/>
          </a:p>
        </p:txBody>
      </p:sp>
      <p:sp>
        <p:nvSpPr>
          <p:cNvPr id="11" name="Shape 9"/>
          <p:cNvSpPr/>
          <p:nvPr/>
        </p:nvSpPr>
        <p:spPr>
          <a:xfrm>
            <a:off x="3438144" y="4572000"/>
            <a:ext cx="2331720" cy="950976"/>
          </a:xfrm>
          <a:prstGeom prst="roundRect">
            <a:avLst>
              <a:gd name="adj" fmla="val 11538"/>
            </a:avLst>
          </a:prstGeom>
          <a:solidFill>
            <a:srgbClr val="193747"/>
          </a:solidFill>
          <a:ln w="8890">
            <a:solidFill>
              <a:srgbClr val="355966"/>
            </a:solidFill>
            <a:prstDash val="solid"/>
          </a:ln>
        </p:spPr>
      </p:sp>
      <p:sp>
        <p:nvSpPr>
          <p:cNvPr id="12" name="Text 10"/>
          <p:cNvSpPr/>
          <p:nvPr/>
        </p:nvSpPr>
        <p:spPr>
          <a:xfrm>
            <a:off x="3584448" y="4736592"/>
            <a:ext cx="1965960" cy="164592"/>
          </a:xfrm>
          <a:prstGeom prst="rect">
            <a:avLst/>
          </a:prstGeom>
          <a:noFill/>
          <a:ln/>
        </p:spPr>
        <p:txBody>
          <a:bodyPr wrap="square" lIns="0" tIns="0" rIns="0" bIns="0" rtlCol="0" anchor="ctr">
            <a:normAutofit/>
          </a:bodyPr>
          <a:lstStyle/>
          <a:p>
            <a:pPr indent="0" marL="0">
              <a:buNone/>
            </a:pPr>
            <a:r>
              <a:rPr lang="en-US" sz="800" b="1" spc="120" kern="0" dirty="0">
                <a:solidFill>
                  <a:srgbClr val="76C6C1"/>
                </a:solidFill>
                <a:latin typeface="Aptos" pitchFamily="34" charset="0"/>
                <a:ea typeface="Aptos" pitchFamily="34" charset="-122"/>
                <a:cs typeface="Aptos" pitchFamily="34" charset="-120"/>
              </a:rPr>
              <a:t>DIGITAL</a:t>
            </a:r>
            <a:endParaRPr lang="en-US" sz="800" dirty="0"/>
          </a:p>
        </p:txBody>
      </p:sp>
      <p:sp>
        <p:nvSpPr>
          <p:cNvPr id="13" name="Text 11"/>
          <p:cNvSpPr/>
          <p:nvPr/>
        </p:nvSpPr>
        <p:spPr>
          <a:xfrm>
            <a:off x="3584448" y="5020056"/>
            <a:ext cx="1993392" cy="274320"/>
          </a:xfrm>
          <a:prstGeom prst="rect">
            <a:avLst/>
          </a:prstGeom>
          <a:noFill/>
          <a:ln/>
        </p:spPr>
        <p:txBody>
          <a:bodyPr wrap="square" lIns="0" tIns="0" rIns="0" bIns="0" rtlCol="0" anchor="ctr">
            <a:normAutofit/>
          </a:bodyPr>
          <a:lstStyle/>
          <a:p>
            <a:pPr indent="0" marL="0">
              <a:buNone/>
            </a:pPr>
            <a:r>
              <a:rPr lang="en-US" sz="1030" b="1" dirty="0">
                <a:solidFill>
                  <a:srgbClr val="FFFFFF"/>
                </a:solidFill>
                <a:latin typeface="Aptos" pitchFamily="34" charset="0"/>
                <a:ea typeface="Aptos" pitchFamily="34" charset="-122"/>
                <a:cs typeface="Aptos" pitchFamily="34" charset="-120"/>
              </a:rPr>
              <a:t>Municipal Data Center</a:t>
            </a:r>
            <a:endParaRPr lang="en-US" sz="1030" dirty="0"/>
          </a:p>
        </p:txBody>
      </p:sp>
      <p:sp>
        <p:nvSpPr>
          <p:cNvPr id="14" name="Text 12"/>
          <p:cNvSpPr/>
          <p:nvPr/>
        </p:nvSpPr>
        <p:spPr>
          <a:xfrm>
            <a:off x="5843016" y="4910328"/>
            <a:ext cx="256032" cy="246888"/>
          </a:xfrm>
          <a:prstGeom prst="rect">
            <a:avLst/>
          </a:prstGeom>
          <a:noFill/>
          <a:ln/>
        </p:spPr>
        <p:txBody>
          <a:bodyPr wrap="square" lIns="0" tIns="0" rIns="0" bIns="0" rtlCol="0" anchor="ctr">
            <a:normAutofit/>
          </a:bodyPr>
          <a:lstStyle/>
          <a:p>
            <a:pPr algn="ctr" indent="0" marL="0">
              <a:buNone/>
            </a:pPr>
            <a:r>
              <a:rPr lang="en-US" sz="1700" b="1" dirty="0">
                <a:solidFill>
                  <a:srgbClr val="79BFBA"/>
                </a:solidFill>
                <a:latin typeface="Aptos" pitchFamily="34" charset="0"/>
                <a:ea typeface="Aptos" pitchFamily="34" charset="-122"/>
                <a:cs typeface="Aptos" pitchFamily="34" charset="-120"/>
              </a:rPr>
              <a:t>→</a:t>
            </a:r>
            <a:endParaRPr lang="en-US" sz="1700" dirty="0"/>
          </a:p>
        </p:txBody>
      </p:sp>
      <p:sp>
        <p:nvSpPr>
          <p:cNvPr id="15" name="Shape 13"/>
          <p:cNvSpPr/>
          <p:nvPr/>
        </p:nvSpPr>
        <p:spPr>
          <a:xfrm>
            <a:off x="6181344" y="4572000"/>
            <a:ext cx="2331720" cy="950976"/>
          </a:xfrm>
          <a:prstGeom prst="roundRect">
            <a:avLst>
              <a:gd name="adj" fmla="val 11538"/>
            </a:avLst>
          </a:prstGeom>
          <a:solidFill>
            <a:srgbClr val="193747"/>
          </a:solidFill>
          <a:ln w="8890">
            <a:solidFill>
              <a:srgbClr val="355966"/>
            </a:solidFill>
            <a:prstDash val="solid"/>
          </a:ln>
        </p:spPr>
      </p:sp>
      <p:sp>
        <p:nvSpPr>
          <p:cNvPr id="16" name="Text 14"/>
          <p:cNvSpPr/>
          <p:nvPr/>
        </p:nvSpPr>
        <p:spPr>
          <a:xfrm>
            <a:off x="6327648" y="4736592"/>
            <a:ext cx="1965960" cy="164592"/>
          </a:xfrm>
          <a:prstGeom prst="rect">
            <a:avLst/>
          </a:prstGeom>
          <a:noFill/>
          <a:ln/>
        </p:spPr>
        <p:txBody>
          <a:bodyPr wrap="square" lIns="0" tIns="0" rIns="0" bIns="0" rtlCol="0" anchor="ctr">
            <a:normAutofit/>
          </a:bodyPr>
          <a:lstStyle/>
          <a:p>
            <a:pPr indent="0" marL="0">
              <a:buNone/>
            </a:pPr>
            <a:r>
              <a:rPr lang="en-US" sz="800" b="1" spc="120" kern="0" dirty="0">
                <a:solidFill>
                  <a:srgbClr val="76C6C1"/>
                </a:solidFill>
                <a:latin typeface="Aptos" pitchFamily="34" charset="0"/>
                <a:ea typeface="Aptos" pitchFamily="34" charset="-122"/>
                <a:cs typeface="Aptos" pitchFamily="34" charset="-120"/>
              </a:rPr>
              <a:t>HEALTH DATA</a:t>
            </a:r>
            <a:endParaRPr lang="en-US" sz="800" dirty="0"/>
          </a:p>
        </p:txBody>
      </p:sp>
      <p:sp>
        <p:nvSpPr>
          <p:cNvPr id="17" name="Text 15"/>
          <p:cNvSpPr/>
          <p:nvPr/>
        </p:nvSpPr>
        <p:spPr>
          <a:xfrm>
            <a:off x="6327648" y="5020056"/>
            <a:ext cx="1993392" cy="274320"/>
          </a:xfrm>
          <a:prstGeom prst="rect">
            <a:avLst/>
          </a:prstGeom>
          <a:noFill/>
          <a:ln/>
        </p:spPr>
        <p:txBody>
          <a:bodyPr wrap="square" lIns="0" tIns="0" rIns="0" bIns="0" rtlCol="0" anchor="ctr">
            <a:normAutofit/>
          </a:bodyPr>
          <a:lstStyle/>
          <a:p>
            <a:pPr indent="0" marL="0">
              <a:buNone/>
            </a:pPr>
            <a:r>
              <a:rPr lang="en-US" sz="1030" b="1" dirty="0">
                <a:solidFill>
                  <a:srgbClr val="FFFFFF"/>
                </a:solidFill>
                <a:latin typeface="Aptos" pitchFamily="34" charset="0"/>
                <a:ea typeface="Aptos" pitchFamily="34" charset="-122"/>
                <a:cs typeface="Aptos" pitchFamily="34" charset="-120"/>
              </a:rPr>
              <a:t>Shared Health Records</a:t>
            </a:r>
            <a:endParaRPr lang="en-US" sz="1030" dirty="0"/>
          </a:p>
        </p:txBody>
      </p:sp>
      <p:sp>
        <p:nvSpPr>
          <p:cNvPr id="18" name="Text 16"/>
          <p:cNvSpPr/>
          <p:nvPr/>
        </p:nvSpPr>
        <p:spPr>
          <a:xfrm>
            <a:off x="8586216" y="4910328"/>
            <a:ext cx="256032" cy="246888"/>
          </a:xfrm>
          <a:prstGeom prst="rect">
            <a:avLst/>
          </a:prstGeom>
          <a:noFill/>
          <a:ln/>
        </p:spPr>
        <p:txBody>
          <a:bodyPr wrap="square" lIns="0" tIns="0" rIns="0" bIns="0" rtlCol="0" anchor="ctr">
            <a:normAutofit/>
          </a:bodyPr>
          <a:lstStyle/>
          <a:p>
            <a:pPr algn="ctr" indent="0" marL="0">
              <a:buNone/>
            </a:pPr>
            <a:r>
              <a:rPr lang="en-US" sz="1700" b="1" dirty="0">
                <a:solidFill>
                  <a:srgbClr val="79BFBA"/>
                </a:solidFill>
                <a:latin typeface="Aptos" pitchFamily="34" charset="0"/>
                <a:ea typeface="Aptos" pitchFamily="34" charset="-122"/>
                <a:cs typeface="Aptos" pitchFamily="34" charset="-120"/>
              </a:rPr>
              <a:t>→</a:t>
            </a:r>
            <a:endParaRPr lang="en-US" sz="1700" dirty="0"/>
          </a:p>
        </p:txBody>
      </p:sp>
      <p:sp>
        <p:nvSpPr>
          <p:cNvPr id="19" name="Shape 17"/>
          <p:cNvSpPr/>
          <p:nvPr/>
        </p:nvSpPr>
        <p:spPr>
          <a:xfrm>
            <a:off x="8924544" y="4572000"/>
            <a:ext cx="2331720" cy="950976"/>
          </a:xfrm>
          <a:prstGeom prst="roundRect">
            <a:avLst>
              <a:gd name="adj" fmla="val 11538"/>
            </a:avLst>
          </a:prstGeom>
          <a:solidFill>
            <a:srgbClr val="193747"/>
          </a:solidFill>
          <a:ln w="8890">
            <a:solidFill>
              <a:srgbClr val="355966"/>
            </a:solidFill>
            <a:prstDash val="solid"/>
          </a:ln>
        </p:spPr>
      </p:sp>
      <p:sp>
        <p:nvSpPr>
          <p:cNvPr id="20" name="Text 18"/>
          <p:cNvSpPr/>
          <p:nvPr/>
        </p:nvSpPr>
        <p:spPr>
          <a:xfrm>
            <a:off x="9070848" y="4736592"/>
            <a:ext cx="1965960" cy="164592"/>
          </a:xfrm>
          <a:prstGeom prst="rect">
            <a:avLst/>
          </a:prstGeom>
          <a:noFill/>
          <a:ln/>
        </p:spPr>
        <p:txBody>
          <a:bodyPr wrap="square" lIns="0" tIns="0" rIns="0" bIns="0" rtlCol="0" anchor="ctr">
            <a:normAutofit/>
          </a:bodyPr>
          <a:lstStyle/>
          <a:p>
            <a:pPr indent="0" marL="0">
              <a:buNone/>
            </a:pPr>
            <a:r>
              <a:rPr lang="en-US" sz="800" b="1" spc="120" kern="0" dirty="0">
                <a:solidFill>
                  <a:srgbClr val="76C6C1"/>
                </a:solidFill>
                <a:latin typeface="Aptos" pitchFamily="34" charset="0"/>
                <a:ea typeface="Aptos" pitchFamily="34" charset="-122"/>
                <a:cs typeface="Aptos" pitchFamily="34" charset="-120"/>
              </a:rPr>
              <a:t>HOSPITAL</a:t>
            </a:r>
            <a:endParaRPr lang="en-US" sz="800" dirty="0"/>
          </a:p>
        </p:txBody>
      </p:sp>
      <p:sp>
        <p:nvSpPr>
          <p:cNvPr id="21" name="Text 19"/>
          <p:cNvSpPr/>
          <p:nvPr/>
        </p:nvSpPr>
        <p:spPr>
          <a:xfrm>
            <a:off x="9070848" y="5020056"/>
            <a:ext cx="1993392" cy="274320"/>
          </a:xfrm>
          <a:prstGeom prst="rect">
            <a:avLst/>
          </a:prstGeom>
          <a:noFill/>
          <a:ln/>
        </p:spPr>
        <p:txBody>
          <a:bodyPr wrap="square" lIns="0" tIns="0" rIns="0" bIns="0" rtlCol="0" anchor="ctr">
            <a:normAutofit/>
          </a:bodyPr>
          <a:lstStyle/>
          <a:p>
            <a:pPr indent="0" marL="0">
              <a:buNone/>
            </a:pPr>
            <a:r>
              <a:rPr lang="en-US" sz="1030" b="1" dirty="0">
                <a:solidFill>
                  <a:srgbClr val="FFFFFF"/>
                </a:solidFill>
                <a:latin typeface="Aptos" pitchFamily="34" charset="0"/>
                <a:ea typeface="Aptos" pitchFamily="34" charset="-122"/>
                <a:cs typeface="Aptos" pitchFamily="34" charset="-120"/>
              </a:rPr>
              <a:t>Northbank General</a:t>
            </a:r>
            <a:endParaRPr lang="en-US" sz="1030" dirty="0"/>
          </a:p>
        </p:txBody>
      </p:sp>
      <p:sp>
        <p:nvSpPr>
          <p:cNvPr id="22" name="Shape 20"/>
          <p:cNvSpPr/>
          <p:nvPr/>
        </p:nvSpPr>
        <p:spPr>
          <a:xfrm>
            <a:off x="713232" y="6071616"/>
            <a:ext cx="3685032" cy="329184"/>
          </a:xfrm>
          <a:prstGeom prst="roundRect">
            <a:avLst>
              <a:gd name="adj" fmla="val 33333"/>
            </a:avLst>
          </a:prstGeom>
          <a:solidFill>
            <a:srgbClr val="213F4D"/>
          </a:solidFill>
          <a:ln w="8890">
            <a:solidFill>
              <a:srgbClr val="213F4D"/>
            </a:solidFill>
            <a:prstDash val="solid"/>
          </a:ln>
        </p:spPr>
      </p:sp>
      <p:sp>
        <p:nvSpPr>
          <p:cNvPr id="23" name="Text 21"/>
          <p:cNvSpPr/>
          <p:nvPr/>
        </p:nvSpPr>
        <p:spPr>
          <a:xfrm>
            <a:off x="850392" y="6163056"/>
            <a:ext cx="3438144" cy="109728"/>
          </a:xfrm>
          <a:prstGeom prst="rect">
            <a:avLst/>
          </a:prstGeom>
          <a:noFill/>
          <a:ln/>
        </p:spPr>
        <p:txBody>
          <a:bodyPr wrap="square" lIns="0" tIns="0" rIns="0" bIns="0" rtlCol="0" anchor="ctr">
            <a:normAutofit/>
          </a:bodyPr>
          <a:lstStyle/>
          <a:p>
            <a:pPr algn="ctr" indent="0" marL="0">
              <a:buNone/>
            </a:pPr>
            <a:r>
              <a:rPr lang="en-US" sz="700" b="1" spc="65" kern="0" dirty="0">
                <a:solidFill>
                  <a:srgbClr val="C5D5DB"/>
                </a:solidFill>
                <a:latin typeface="Aptos" pitchFamily="34" charset="0"/>
                <a:ea typeface="Aptos" pitchFamily="34" charset="-122"/>
                <a:cs typeface="Aptos" pitchFamily="34" charset="-120"/>
              </a:rPr>
              <a:t>FICTIONAL DEMONSTRATION · PLANNING SUPPORT ONLY</a:t>
            </a:r>
            <a:endParaRPr lang="en-US" sz="700" dirty="0"/>
          </a:p>
        </p:txBody>
      </p:sp>
      <p:sp>
        <p:nvSpPr>
          <p:cNvPr id="24" name="Text 22"/>
          <p:cNvSpPr/>
          <p:nvPr/>
        </p:nvSpPr>
        <p:spPr>
          <a:xfrm>
            <a:off x="11201400" y="6492240"/>
            <a:ext cx="411480" cy="164592"/>
          </a:xfrm>
          <a:prstGeom prst="rect">
            <a:avLst/>
          </a:prstGeom>
          <a:noFill/>
          <a:ln/>
        </p:spPr>
        <p:txBody>
          <a:bodyPr wrap="square" lIns="0" tIns="0" rIns="0" bIns="0" rtlCol="0" anchor="ctr">
            <a:normAutofit/>
          </a:bodyPr>
          <a:lstStyle/>
          <a:p>
            <a:pPr algn="r" indent="0" marL="0">
              <a:buNone/>
            </a:pPr>
            <a:r>
              <a:rPr lang="en-US" sz="800" dirty="0">
                <a:solidFill>
                  <a:srgbClr val="91A8B0"/>
                </a:solidFill>
                <a:latin typeface="Aptos" pitchFamily="34" charset="0"/>
                <a:ea typeface="Aptos" pitchFamily="34" charset="-122"/>
                <a:cs typeface="Aptos" pitchFamily="34" charset="-120"/>
              </a:rPr>
              <a:t>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292608"/>
            <a:ext cx="5943600" cy="182880"/>
          </a:xfrm>
          <a:prstGeom prst="rect">
            <a:avLst/>
          </a:prstGeom>
          <a:noFill/>
          <a:ln/>
        </p:spPr>
        <p:txBody>
          <a:bodyPr wrap="square" lIns="0" tIns="0" rIns="0" bIns="0" rtlCol="0" anchor="ctr">
            <a:normAutofit/>
          </a:bodyPr>
          <a:lstStyle/>
          <a:p>
            <a:pPr indent="0" marL="0">
              <a:buNone/>
            </a:pPr>
            <a:r>
              <a:rPr lang="en-US" sz="800" b="1" spc="120" kern="0" dirty="0">
                <a:solidFill>
                  <a:srgbClr val="5E80AA"/>
                </a:solidFill>
                <a:latin typeface="Aptos" pitchFamily="34" charset="0"/>
                <a:ea typeface="Aptos" pitchFamily="34" charset="-122"/>
                <a:cs typeface="Aptos" pitchFamily="34" charset="-120"/>
              </a:rPr>
              <a:t>THE PROBLEM</a:t>
            </a:r>
            <a:endParaRPr lang="en-US" sz="8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indent="0" marL="0">
              <a:buNone/>
            </a:pPr>
            <a:r>
              <a:rPr lang="en-US" sz="2500" b="1" dirty="0">
                <a:solidFill>
                  <a:srgbClr val="102638"/>
                </a:solidFill>
                <a:latin typeface="Aptos Display" pitchFamily="34" charset="0"/>
                <a:ea typeface="Aptos Display" pitchFamily="34" charset="-122"/>
                <a:cs typeface="Aptos Display" pitchFamily="34" charset="-120"/>
              </a:rPr>
              <a:t>The challenge is knowing what is connected.</a:t>
            </a:r>
            <a:endParaRPr lang="en-US" sz="2500" dirty="0"/>
          </a:p>
        </p:txBody>
      </p:sp>
      <p:sp>
        <p:nvSpPr>
          <p:cNvPr id="4" name="Text 2"/>
          <p:cNvSpPr/>
          <p:nvPr/>
        </p:nvSpPr>
        <p:spPr>
          <a:xfrm>
            <a:off x="585216" y="1152144"/>
            <a:ext cx="10881360" cy="347472"/>
          </a:xfrm>
          <a:prstGeom prst="rect">
            <a:avLst/>
          </a:prstGeom>
          <a:noFill/>
          <a:ln/>
        </p:spPr>
        <p:txBody>
          <a:bodyPr wrap="square" lIns="0" tIns="0" rIns="0" bIns="0" rtlCol="0" anchor="t">
            <a:normAutofit/>
          </a:bodyPr>
          <a:lstStyle/>
          <a:p>
            <a:pPr indent="0" marL="0">
              <a:buNone/>
            </a:pPr>
            <a:r>
              <a:rPr lang="en-US" sz="1200" dirty="0">
                <a:solidFill>
                  <a:srgbClr val="72858D"/>
                </a:solidFill>
                <a:latin typeface="Aptos" pitchFamily="34" charset="0"/>
                <a:ea typeface="Aptos" pitchFamily="34" charset="-122"/>
                <a:cs typeface="Aptos" pitchFamily="34" charset="-120"/>
              </a:rPr>
              <a:t>Different teams often hold different pieces of the continuity picture.</a:t>
            </a:r>
            <a:endParaRPr lang="en-US" sz="1200" dirty="0"/>
          </a:p>
        </p:txBody>
      </p:sp>
      <p:sp>
        <p:nvSpPr>
          <p:cNvPr id="5" name="Shape 3"/>
          <p:cNvSpPr/>
          <p:nvPr/>
        </p:nvSpPr>
        <p:spPr>
          <a:xfrm>
            <a:off x="566928" y="1618488"/>
            <a:ext cx="11064240" cy="0"/>
          </a:xfrm>
          <a:prstGeom prst="line">
            <a:avLst/>
          </a:prstGeom>
          <a:noFill/>
          <a:ln w="12700">
            <a:solidFill>
              <a:srgbClr val="E0E8EA"/>
            </a:solidFill>
            <a:prstDash val="solid"/>
          </a:ln>
        </p:spPr>
      </p:sp>
      <p:sp>
        <p:nvSpPr>
          <p:cNvPr id="6" name="Text 4"/>
          <p:cNvSpPr/>
          <p:nvPr/>
        </p:nvSpPr>
        <p:spPr>
          <a:xfrm>
            <a:off x="621792" y="1847088"/>
            <a:ext cx="4389120" cy="182880"/>
          </a:xfrm>
          <a:prstGeom prst="rect">
            <a:avLst/>
          </a:prstGeom>
          <a:noFill/>
          <a:ln/>
        </p:spPr>
        <p:txBody>
          <a:bodyPr wrap="square" lIns="0" tIns="0" rIns="0" bIns="0" rtlCol="0" anchor="ctr">
            <a:normAutofit/>
          </a:bodyPr>
          <a:lstStyle/>
          <a:p>
            <a:pPr indent="0" marL="0">
              <a:buNone/>
            </a:pPr>
            <a:r>
              <a:rPr lang="en-US" sz="800" b="1" spc="90" kern="0" dirty="0">
                <a:solidFill>
                  <a:srgbClr val="91A0A6"/>
                </a:solidFill>
                <a:latin typeface="Aptos" pitchFamily="34" charset="0"/>
                <a:ea typeface="Aptos" pitchFamily="34" charset="-122"/>
                <a:cs typeface="Aptos" pitchFamily="34" charset="-120"/>
              </a:rPr>
              <a:t>PLANNING INSIGHT</a:t>
            </a:r>
            <a:endParaRPr lang="en-US" sz="800" dirty="0"/>
          </a:p>
        </p:txBody>
      </p:sp>
      <p:sp>
        <p:nvSpPr>
          <p:cNvPr id="7" name="Shape 5"/>
          <p:cNvSpPr/>
          <p:nvPr/>
        </p:nvSpPr>
        <p:spPr>
          <a:xfrm>
            <a:off x="640080" y="2221992"/>
            <a:ext cx="82296" cy="82296"/>
          </a:xfrm>
          <a:prstGeom prst="ellipse">
            <a:avLst/>
          </a:prstGeom>
          <a:solidFill>
            <a:srgbClr val="5E80AA"/>
          </a:solidFill>
          <a:ln w="12700">
            <a:solidFill>
              <a:srgbClr val="5E80AA">
                <a:alpha val="0"/>
              </a:srgbClr>
            </a:solidFill>
            <a:prstDash val="solid"/>
          </a:ln>
        </p:spPr>
      </p:sp>
      <p:sp>
        <p:nvSpPr>
          <p:cNvPr id="8" name="Text 6"/>
          <p:cNvSpPr/>
          <p:nvPr/>
        </p:nvSpPr>
        <p:spPr>
          <a:xfrm>
            <a:off x="841248" y="2157984"/>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Plans describe recovery steps.</a:t>
            </a:r>
            <a:endParaRPr lang="en-US" sz="1300" dirty="0"/>
          </a:p>
        </p:txBody>
      </p:sp>
      <p:sp>
        <p:nvSpPr>
          <p:cNvPr id="9" name="Shape 7"/>
          <p:cNvSpPr/>
          <p:nvPr/>
        </p:nvSpPr>
        <p:spPr>
          <a:xfrm>
            <a:off x="640080" y="3118104"/>
            <a:ext cx="82296" cy="82296"/>
          </a:xfrm>
          <a:prstGeom prst="ellipse">
            <a:avLst/>
          </a:prstGeom>
          <a:solidFill>
            <a:srgbClr val="5E80AA"/>
          </a:solidFill>
          <a:ln w="12700">
            <a:solidFill>
              <a:srgbClr val="5E80AA">
                <a:alpha val="0"/>
              </a:srgbClr>
            </a:solidFill>
            <a:prstDash val="solid"/>
          </a:ln>
        </p:spPr>
      </p:sp>
      <p:sp>
        <p:nvSpPr>
          <p:cNvPr id="10" name="Text 8"/>
          <p:cNvSpPr/>
          <p:nvPr/>
        </p:nvSpPr>
        <p:spPr>
          <a:xfrm>
            <a:off x="841248" y="3054096"/>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Equipment lists name facilities and backups.</a:t>
            </a:r>
            <a:endParaRPr lang="en-US" sz="1300" dirty="0"/>
          </a:p>
        </p:txBody>
      </p:sp>
      <p:sp>
        <p:nvSpPr>
          <p:cNvPr id="11" name="Shape 9"/>
          <p:cNvSpPr/>
          <p:nvPr/>
        </p:nvSpPr>
        <p:spPr>
          <a:xfrm>
            <a:off x="640080" y="4014216"/>
            <a:ext cx="82296" cy="82296"/>
          </a:xfrm>
          <a:prstGeom prst="ellipse">
            <a:avLst/>
          </a:prstGeom>
          <a:solidFill>
            <a:srgbClr val="5E80AA"/>
          </a:solidFill>
          <a:ln w="12700">
            <a:solidFill>
              <a:srgbClr val="5E80AA">
                <a:alpha val="0"/>
              </a:srgbClr>
            </a:solidFill>
            <a:prstDash val="solid"/>
          </a:ln>
        </p:spPr>
      </p:sp>
      <p:sp>
        <p:nvSpPr>
          <p:cNvPr id="12" name="Text 10"/>
          <p:cNvSpPr/>
          <p:nvPr/>
        </p:nvSpPr>
        <p:spPr>
          <a:xfrm>
            <a:off x="841248" y="3950208"/>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Service owners know exceptions and open questions.</a:t>
            </a:r>
            <a:endParaRPr lang="en-US" sz="1300" dirty="0"/>
          </a:p>
        </p:txBody>
      </p:sp>
      <p:sp>
        <p:nvSpPr>
          <p:cNvPr id="13" name="Shape 11"/>
          <p:cNvSpPr/>
          <p:nvPr/>
        </p:nvSpPr>
        <p:spPr>
          <a:xfrm>
            <a:off x="612648" y="5175504"/>
            <a:ext cx="4462272" cy="731520"/>
          </a:xfrm>
          <a:prstGeom prst="roundRect">
            <a:avLst>
              <a:gd name="adj" fmla="val 15000"/>
            </a:avLst>
          </a:prstGeom>
          <a:solidFill>
            <a:srgbClr val="EDF2F8"/>
          </a:solidFill>
          <a:ln w="8890">
            <a:solidFill>
              <a:srgbClr val="EDF2F8"/>
            </a:solidFill>
            <a:prstDash val="solid"/>
          </a:ln>
        </p:spPr>
      </p:sp>
      <p:sp>
        <p:nvSpPr>
          <p:cNvPr id="14" name="Text 12"/>
          <p:cNvSpPr/>
          <p:nvPr/>
        </p:nvSpPr>
        <p:spPr>
          <a:xfrm>
            <a:off x="786384" y="5312664"/>
            <a:ext cx="914400" cy="146304"/>
          </a:xfrm>
          <a:prstGeom prst="rect">
            <a:avLst/>
          </a:prstGeom>
          <a:noFill/>
          <a:ln/>
        </p:spPr>
        <p:txBody>
          <a:bodyPr wrap="square" lIns="0" tIns="0" rIns="0" bIns="0" rtlCol="0" anchor="ctr">
            <a:normAutofit/>
          </a:bodyPr>
          <a:lstStyle/>
          <a:p>
            <a:pPr indent="0" marL="0">
              <a:buNone/>
            </a:pPr>
            <a:r>
              <a:rPr lang="en-US" sz="750" b="1" spc="90" kern="0" dirty="0">
                <a:solidFill>
                  <a:srgbClr val="5E80AA"/>
                </a:solidFill>
                <a:latin typeface="Aptos" pitchFamily="34" charset="0"/>
                <a:ea typeface="Aptos" pitchFamily="34" charset="-122"/>
                <a:cs typeface="Aptos" pitchFamily="34" charset="-120"/>
              </a:rPr>
              <a:t>TAKEAWAY</a:t>
            </a:r>
            <a:endParaRPr lang="en-US" sz="750" dirty="0"/>
          </a:p>
        </p:txBody>
      </p:sp>
      <p:sp>
        <p:nvSpPr>
          <p:cNvPr id="15" name="Text 13"/>
          <p:cNvSpPr/>
          <p:nvPr/>
        </p:nvSpPr>
        <p:spPr>
          <a:xfrm>
            <a:off x="786384" y="5504688"/>
            <a:ext cx="4105656" cy="310896"/>
          </a:xfrm>
          <a:prstGeom prst="rect">
            <a:avLst/>
          </a:prstGeom>
          <a:noFill/>
          <a:ln/>
        </p:spPr>
        <p:txBody>
          <a:bodyPr wrap="square" lIns="0" tIns="0" rIns="0" bIns="0" rtlCol="0" anchor="t">
            <a:normAutofit/>
          </a:bodyPr>
          <a:lstStyle/>
          <a:p>
            <a:pPr indent="0" marL="0">
              <a:buNone/>
            </a:pPr>
            <a:r>
              <a:rPr lang="en-US" sz="1030" b="1" dirty="0">
                <a:solidFill>
                  <a:srgbClr val="203747"/>
                </a:solidFill>
                <a:latin typeface="Aptos" pitchFamily="34" charset="0"/>
                <a:ea typeface="Aptos" pitchFamily="34" charset="-122"/>
                <a:cs typeface="Aptos" pitchFamily="34" charset="-120"/>
              </a:rPr>
              <a:t>The planning task is to connect records, owners and evidence.</a:t>
            </a:r>
            <a:endParaRPr lang="en-US" sz="1030" dirty="0"/>
          </a:p>
        </p:txBody>
      </p:sp>
      <p:sp>
        <p:nvSpPr>
          <p:cNvPr id="16" name="Shape 14"/>
          <p:cNvSpPr/>
          <p:nvPr/>
        </p:nvSpPr>
        <p:spPr>
          <a:xfrm>
            <a:off x="5413248" y="1810512"/>
            <a:ext cx="6172200" cy="4096512"/>
          </a:xfrm>
          <a:prstGeom prst="roundRect">
            <a:avLst>
              <a:gd name="adj" fmla="val 2679"/>
            </a:avLst>
          </a:prstGeom>
          <a:solidFill>
            <a:srgbClr val="FFFFFF"/>
          </a:solidFill>
          <a:ln w="8890">
            <a:solidFill>
              <a:srgbClr val="E0E8EA"/>
            </a:solidFill>
            <a:prstDash val="solid"/>
          </a:ln>
        </p:spPr>
      </p:sp>
      <p:sp>
        <p:nvSpPr>
          <p:cNvPr id="17" name="Text 15"/>
          <p:cNvSpPr/>
          <p:nvPr/>
        </p:nvSpPr>
        <p:spPr>
          <a:xfrm>
            <a:off x="5687568" y="1993392"/>
            <a:ext cx="5577840" cy="274320"/>
          </a:xfrm>
          <a:prstGeom prst="rect">
            <a:avLst/>
          </a:prstGeom>
          <a:noFill/>
          <a:ln/>
        </p:spPr>
        <p:txBody>
          <a:bodyPr wrap="square" lIns="0" tIns="0" rIns="0" bIns="0" rtlCol="0" anchor="ctr">
            <a:normAutofit/>
          </a:bodyPr>
          <a:lstStyle/>
          <a:p>
            <a:pPr indent="0" marL="0">
              <a:buNone/>
            </a:pPr>
            <a:r>
              <a:rPr lang="en-US" sz="1400" b="1" dirty="0">
                <a:solidFill>
                  <a:srgbClr val="102638"/>
                </a:solidFill>
                <a:latin typeface="Aptos Display" pitchFamily="34" charset="0"/>
                <a:ea typeface="Aptos Display" pitchFamily="34" charset="-122"/>
                <a:cs typeface="Aptos Display" pitchFamily="34" charset="-120"/>
              </a:rPr>
              <a:t>Information planners may need to reconcile</a:t>
            </a:r>
            <a:endParaRPr lang="en-US" sz="1400" dirty="0"/>
          </a:p>
        </p:txBody>
      </p:sp>
      <p:sp>
        <p:nvSpPr>
          <p:cNvPr id="18" name="Shape 16"/>
          <p:cNvSpPr/>
          <p:nvPr/>
        </p:nvSpPr>
        <p:spPr>
          <a:xfrm>
            <a:off x="5641848" y="2788920"/>
            <a:ext cx="1734312" cy="1508760"/>
          </a:xfrm>
          <a:prstGeom prst="roundRect">
            <a:avLst>
              <a:gd name="adj" fmla="val 7273"/>
            </a:avLst>
          </a:prstGeom>
          <a:solidFill>
            <a:srgbClr val="EDF2F8"/>
          </a:solidFill>
          <a:ln w="8890">
            <a:solidFill>
              <a:srgbClr val="EDF2F8"/>
            </a:solidFill>
            <a:prstDash val="solid"/>
          </a:ln>
        </p:spPr>
      </p:sp>
      <p:sp>
        <p:nvSpPr>
          <p:cNvPr id="19" name="Shape 17"/>
          <p:cNvSpPr/>
          <p:nvPr/>
        </p:nvSpPr>
        <p:spPr>
          <a:xfrm>
            <a:off x="5641848" y="2788920"/>
            <a:ext cx="45720" cy="1508760"/>
          </a:xfrm>
          <a:prstGeom prst="rect">
            <a:avLst/>
          </a:prstGeom>
          <a:solidFill>
            <a:srgbClr val="5E80AA"/>
          </a:solidFill>
          <a:ln w="12700">
            <a:solidFill>
              <a:srgbClr val="5E80AA">
                <a:alpha val="0"/>
              </a:srgbClr>
            </a:solidFill>
            <a:prstDash val="solid"/>
          </a:ln>
        </p:spPr>
      </p:sp>
      <p:sp>
        <p:nvSpPr>
          <p:cNvPr id="20" name="Text 18"/>
          <p:cNvSpPr/>
          <p:nvPr/>
        </p:nvSpPr>
        <p:spPr>
          <a:xfrm>
            <a:off x="5806440" y="2944368"/>
            <a:ext cx="1423416" cy="228600"/>
          </a:xfrm>
          <a:prstGeom prst="rect">
            <a:avLst/>
          </a:prstGeom>
          <a:noFill/>
          <a:ln/>
        </p:spPr>
        <p:txBody>
          <a:bodyPr wrap="square" lIns="0" tIns="0" rIns="0" bIns="0" rtlCol="0" anchor="t">
            <a:normAutofit/>
          </a:bodyPr>
          <a:lstStyle/>
          <a:p>
            <a:pPr indent="0" marL="0">
              <a:buNone/>
            </a:pPr>
            <a:r>
              <a:rPr lang="en-US" sz="1000" b="1" dirty="0">
                <a:solidFill>
                  <a:srgbClr val="102638"/>
                </a:solidFill>
                <a:latin typeface="Aptos" pitchFamily="34" charset="0"/>
                <a:ea typeface="Aptos" pitchFamily="34" charset="-122"/>
                <a:cs typeface="Aptos" pitchFamily="34" charset="-120"/>
              </a:rPr>
              <a:t>Continuity plans</a:t>
            </a:r>
            <a:endParaRPr lang="en-US" sz="1000" dirty="0"/>
          </a:p>
        </p:txBody>
      </p:sp>
      <p:sp>
        <p:nvSpPr>
          <p:cNvPr id="21" name="Text 19"/>
          <p:cNvSpPr/>
          <p:nvPr/>
        </p:nvSpPr>
        <p:spPr>
          <a:xfrm>
            <a:off x="5806440" y="3291840"/>
            <a:ext cx="1423416" cy="886968"/>
          </a:xfrm>
          <a:prstGeom prst="rect">
            <a:avLst/>
          </a:prstGeom>
          <a:noFill/>
          <a:ln/>
        </p:spPr>
        <p:txBody>
          <a:bodyPr wrap="square" lIns="0" tIns="0" rIns="0" bIns="0" rtlCol="0" anchor="t">
            <a:normAutofit/>
          </a:bodyPr>
          <a:lstStyle/>
          <a:p>
            <a:pPr indent="0" marL="0">
              <a:buNone/>
            </a:pPr>
            <a:r>
              <a:rPr lang="en-US" sz="920" dirty="0">
                <a:solidFill>
                  <a:srgbClr val="72858D"/>
                </a:solidFill>
                <a:latin typeface="Aptos" pitchFamily="34" charset="0"/>
                <a:ea typeface="Aptos" pitchFamily="34" charset="-122"/>
                <a:cs typeface="Aptos" pitchFamily="34" charset="-120"/>
              </a:rPr>
              <a:t>Recovery steps and assumptions</a:t>
            </a:r>
            <a:endParaRPr lang="en-US" sz="920" dirty="0"/>
          </a:p>
        </p:txBody>
      </p:sp>
      <p:sp>
        <p:nvSpPr>
          <p:cNvPr id="22" name="Shape 20"/>
          <p:cNvSpPr/>
          <p:nvPr/>
        </p:nvSpPr>
        <p:spPr>
          <a:xfrm>
            <a:off x="7632192" y="2788920"/>
            <a:ext cx="1734312" cy="1508760"/>
          </a:xfrm>
          <a:prstGeom prst="roundRect">
            <a:avLst>
              <a:gd name="adj" fmla="val 7273"/>
            </a:avLst>
          </a:prstGeom>
          <a:solidFill>
            <a:srgbClr val="F7FAFA"/>
          </a:solidFill>
          <a:ln w="8890">
            <a:solidFill>
              <a:srgbClr val="E0E8EA"/>
            </a:solidFill>
            <a:prstDash val="solid"/>
          </a:ln>
        </p:spPr>
      </p:sp>
      <p:sp>
        <p:nvSpPr>
          <p:cNvPr id="23" name="Shape 21"/>
          <p:cNvSpPr/>
          <p:nvPr/>
        </p:nvSpPr>
        <p:spPr>
          <a:xfrm>
            <a:off x="7632192" y="2788920"/>
            <a:ext cx="45720" cy="1508760"/>
          </a:xfrm>
          <a:prstGeom prst="rect">
            <a:avLst/>
          </a:prstGeom>
          <a:solidFill>
            <a:srgbClr val="5E80AA"/>
          </a:solidFill>
          <a:ln w="12700">
            <a:solidFill>
              <a:srgbClr val="5E80AA">
                <a:alpha val="0"/>
              </a:srgbClr>
            </a:solidFill>
            <a:prstDash val="solid"/>
          </a:ln>
        </p:spPr>
      </p:sp>
      <p:sp>
        <p:nvSpPr>
          <p:cNvPr id="24" name="Text 22"/>
          <p:cNvSpPr/>
          <p:nvPr/>
        </p:nvSpPr>
        <p:spPr>
          <a:xfrm>
            <a:off x="7796784" y="2944368"/>
            <a:ext cx="1423416" cy="228600"/>
          </a:xfrm>
          <a:prstGeom prst="rect">
            <a:avLst/>
          </a:prstGeom>
          <a:noFill/>
          <a:ln/>
        </p:spPr>
        <p:txBody>
          <a:bodyPr wrap="square" lIns="0" tIns="0" rIns="0" bIns="0" rtlCol="0" anchor="t">
            <a:normAutofit/>
          </a:bodyPr>
          <a:lstStyle/>
          <a:p>
            <a:pPr indent="0" marL="0">
              <a:buNone/>
            </a:pPr>
            <a:r>
              <a:rPr lang="en-US" sz="1000" b="1" dirty="0">
                <a:solidFill>
                  <a:srgbClr val="102638"/>
                </a:solidFill>
                <a:latin typeface="Aptos" pitchFamily="34" charset="0"/>
                <a:ea typeface="Aptos" pitchFamily="34" charset="-122"/>
                <a:cs typeface="Aptos" pitchFamily="34" charset="-120"/>
              </a:rPr>
              <a:t>Asset lists</a:t>
            </a:r>
            <a:endParaRPr lang="en-US" sz="1000" dirty="0"/>
          </a:p>
        </p:txBody>
      </p:sp>
      <p:sp>
        <p:nvSpPr>
          <p:cNvPr id="25" name="Text 23"/>
          <p:cNvSpPr/>
          <p:nvPr/>
        </p:nvSpPr>
        <p:spPr>
          <a:xfrm>
            <a:off x="7796784" y="3291840"/>
            <a:ext cx="1423416" cy="886968"/>
          </a:xfrm>
          <a:prstGeom prst="rect">
            <a:avLst/>
          </a:prstGeom>
          <a:noFill/>
          <a:ln/>
        </p:spPr>
        <p:txBody>
          <a:bodyPr wrap="square" lIns="0" tIns="0" rIns="0" bIns="0" rtlCol="0" anchor="t">
            <a:normAutofit/>
          </a:bodyPr>
          <a:lstStyle/>
          <a:p>
            <a:pPr indent="0" marL="0">
              <a:buNone/>
            </a:pPr>
            <a:r>
              <a:rPr lang="en-US" sz="920" dirty="0">
                <a:solidFill>
                  <a:srgbClr val="72858D"/>
                </a:solidFill>
                <a:latin typeface="Aptos" pitchFamily="34" charset="0"/>
                <a:ea typeface="Aptos" pitchFamily="34" charset="-122"/>
                <a:cs typeface="Aptos" pitchFamily="34" charset="-120"/>
              </a:rPr>
              <a:t>Facilities and equipment</a:t>
            </a:r>
            <a:endParaRPr lang="en-US" sz="920" dirty="0"/>
          </a:p>
        </p:txBody>
      </p:sp>
      <p:sp>
        <p:nvSpPr>
          <p:cNvPr id="26" name="Shape 24"/>
          <p:cNvSpPr/>
          <p:nvPr/>
        </p:nvSpPr>
        <p:spPr>
          <a:xfrm>
            <a:off x="9622536" y="2788920"/>
            <a:ext cx="1734312" cy="1508760"/>
          </a:xfrm>
          <a:prstGeom prst="roundRect">
            <a:avLst>
              <a:gd name="adj" fmla="val 7273"/>
            </a:avLst>
          </a:prstGeom>
          <a:solidFill>
            <a:srgbClr val="F7FAFA"/>
          </a:solidFill>
          <a:ln w="8890">
            <a:solidFill>
              <a:srgbClr val="E0E8EA"/>
            </a:solidFill>
            <a:prstDash val="solid"/>
          </a:ln>
        </p:spPr>
      </p:sp>
      <p:sp>
        <p:nvSpPr>
          <p:cNvPr id="27" name="Shape 25"/>
          <p:cNvSpPr/>
          <p:nvPr/>
        </p:nvSpPr>
        <p:spPr>
          <a:xfrm>
            <a:off x="9622536" y="2788920"/>
            <a:ext cx="45720" cy="1508760"/>
          </a:xfrm>
          <a:prstGeom prst="rect">
            <a:avLst/>
          </a:prstGeom>
          <a:solidFill>
            <a:srgbClr val="5E80AA"/>
          </a:solidFill>
          <a:ln w="12700">
            <a:solidFill>
              <a:srgbClr val="5E80AA">
                <a:alpha val="0"/>
              </a:srgbClr>
            </a:solidFill>
            <a:prstDash val="solid"/>
          </a:ln>
        </p:spPr>
      </p:sp>
      <p:sp>
        <p:nvSpPr>
          <p:cNvPr id="28" name="Text 26"/>
          <p:cNvSpPr/>
          <p:nvPr/>
        </p:nvSpPr>
        <p:spPr>
          <a:xfrm>
            <a:off x="9787128" y="2944368"/>
            <a:ext cx="1423416" cy="228600"/>
          </a:xfrm>
          <a:prstGeom prst="rect">
            <a:avLst/>
          </a:prstGeom>
          <a:noFill/>
          <a:ln/>
        </p:spPr>
        <p:txBody>
          <a:bodyPr wrap="square" lIns="0" tIns="0" rIns="0" bIns="0" rtlCol="0" anchor="t">
            <a:normAutofit/>
          </a:bodyPr>
          <a:lstStyle/>
          <a:p>
            <a:pPr indent="0" marL="0">
              <a:buNone/>
            </a:pPr>
            <a:r>
              <a:rPr lang="en-US" sz="1000" b="1" dirty="0">
                <a:solidFill>
                  <a:srgbClr val="102638"/>
                </a:solidFill>
                <a:latin typeface="Aptos" pitchFamily="34" charset="0"/>
                <a:ea typeface="Aptos" pitchFamily="34" charset="-122"/>
                <a:cs typeface="Aptos" pitchFamily="34" charset="-120"/>
              </a:rPr>
              <a:t>Service owners</a:t>
            </a:r>
            <a:endParaRPr lang="en-US" sz="1000" dirty="0"/>
          </a:p>
        </p:txBody>
      </p:sp>
      <p:sp>
        <p:nvSpPr>
          <p:cNvPr id="29" name="Text 27"/>
          <p:cNvSpPr/>
          <p:nvPr/>
        </p:nvSpPr>
        <p:spPr>
          <a:xfrm>
            <a:off x="9787128" y="3291840"/>
            <a:ext cx="1423416" cy="886968"/>
          </a:xfrm>
          <a:prstGeom prst="rect">
            <a:avLst/>
          </a:prstGeom>
          <a:noFill/>
          <a:ln/>
        </p:spPr>
        <p:txBody>
          <a:bodyPr wrap="square" lIns="0" tIns="0" rIns="0" bIns="0" rtlCol="0" anchor="t">
            <a:normAutofit/>
          </a:bodyPr>
          <a:lstStyle/>
          <a:p>
            <a:pPr indent="0" marL="0">
              <a:buNone/>
            </a:pPr>
            <a:r>
              <a:rPr lang="en-US" sz="920" dirty="0">
                <a:solidFill>
                  <a:srgbClr val="72858D"/>
                </a:solidFill>
                <a:latin typeface="Aptos" pitchFamily="34" charset="0"/>
                <a:ea typeface="Aptos" pitchFamily="34" charset="-122"/>
                <a:cs typeface="Aptos" pitchFamily="34" charset="-120"/>
              </a:rPr>
              <a:t>Local knowledge and exceptions</a:t>
            </a:r>
            <a:endParaRPr lang="en-US" sz="920" dirty="0"/>
          </a:p>
        </p:txBody>
      </p:sp>
      <p:sp>
        <p:nvSpPr>
          <p:cNvPr id="25" name="Slide Number Placeholder 0"/>
          <p:cNvSpPr>
            <a:spLocks noGrp="1"/>
          </p:cNvSpPr>
          <p:nvPr>
            <p:ph type="sldNum" sz="quarter" idx="4294967295"/>
          </p:nvPr>
        </p:nvSpPr>
        <p:spPr>
          <a:xfrm>
            <a:off x="11247120" y="6492240"/>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1838D"/>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292608"/>
            <a:ext cx="5943600" cy="182880"/>
          </a:xfrm>
          <a:prstGeom prst="rect">
            <a:avLst/>
          </a:prstGeom>
          <a:noFill/>
          <a:ln/>
        </p:spPr>
        <p:txBody>
          <a:bodyPr wrap="square" lIns="0" tIns="0" rIns="0" bIns="0" rtlCol="0" anchor="ctr">
            <a:normAutofit/>
          </a:bodyPr>
          <a:lstStyle/>
          <a:p>
            <a:pPr indent="0" marL="0">
              <a:buNone/>
            </a:pPr>
            <a:r>
              <a:rPr lang="en-US" sz="800" b="1" spc="120" kern="0" dirty="0">
                <a:solidFill>
                  <a:srgbClr val="087F8C"/>
                </a:solidFill>
                <a:latin typeface="Aptos" pitchFamily="34" charset="0"/>
                <a:ea typeface="Aptos" pitchFamily="34" charset="-122"/>
                <a:cs typeface="Aptos" pitchFamily="34" charset="-120"/>
              </a:rPr>
              <a:t>THE PRODUCT</a:t>
            </a:r>
            <a:endParaRPr lang="en-US" sz="8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indent="0" marL="0">
              <a:buNone/>
            </a:pPr>
            <a:r>
              <a:rPr lang="en-US" sz="2500" b="1" dirty="0">
                <a:solidFill>
                  <a:srgbClr val="102638"/>
                </a:solidFill>
                <a:latin typeface="Aptos Display" pitchFamily="34" charset="0"/>
                <a:ea typeface="Aptos Display" pitchFamily="34" charset="-122"/>
                <a:cs typeface="Aptos Display" pitchFamily="34" charset="-120"/>
              </a:rPr>
              <a:t>One workspace for the dependency review.</a:t>
            </a:r>
            <a:endParaRPr lang="en-US" sz="2500" dirty="0"/>
          </a:p>
        </p:txBody>
      </p:sp>
      <p:sp>
        <p:nvSpPr>
          <p:cNvPr id="4" name="Text 2"/>
          <p:cNvSpPr/>
          <p:nvPr/>
        </p:nvSpPr>
        <p:spPr>
          <a:xfrm>
            <a:off x="585216" y="1152144"/>
            <a:ext cx="10881360" cy="347472"/>
          </a:xfrm>
          <a:prstGeom prst="rect">
            <a:avLst/>
          </a:prstGeom>
          <a:noFill/>
          <a:ln/>
        </p:spPr>
        <p:txBody>
          <a:bodyPr wrap="square" lIns="0" tIns="0" rIns="0" bIns="0" rtlCol="0" anchor="t">
            <a:normAutofit/>
          </a:bodyPr>
          <a:lstStyle/>
          <a:p>
            <a:pPr indent="0" marL="0">
              <a:buNone/>
            </a:pPr>
            <a:r>
              <a:rPr lang="en-US" sz="1200" dirty="0">
                <a:solidFill>
                  <a:srgbClr val="72858D"/>
                </a:solidFill>
                <a:latin typeface="Aptos" pitchFamily="34" charset="0"/>
                <a:ea typeface="Aptos" pitchFamily="34" charset="-122"/>
                <a:cs typeface="Aptos" pitchFamily="34" charset="-120"/>
              </a:rPr>
              <a:t>List services → attach evidence → ask owners to review → run an exercise → record actions.</a:t>
            </a:r>
            <a:endParaRPr lang="en-US" sz="1200" dirty="0"/>
          </a:p>
        </p:txBody>
      </p:sp>
      <p:sp>
        <p:nvSpPr>
          <p:cNvPr id="5" name="Shape 3"/>
          <p:cNvSpPr/>
          <p:nvPr/>
        </p:nvSpPr>
        <p:spPr>
          <a:xfrm>
            <a:off x="566928" y="1618488"/>
            <a:ext cx="11064240" cy="0"/>
          </a:xfrm>
          <a:prstGeom prst="line">
            <a:avLst/>
          </a:prstGeom>
          <a:noFill/>
          <a:ln w="12700">
            <a:solidFill>
              <a:srgbClr val="E0E8EA"/>
            </a:solidFill>
            <a:prstDash val="solid"/>
          </a:ln>
        </p:spPr>
      </p:sp>
      <p:sp>
        <p:nvSpPr>
          <p:cNvPr id="6" name="Text 4"/>
          <p:cNvSpPr/>
          <p:nvPr/>
        </p:nvSpPr>
        <p:spPr>
          <a:xfrm>
            <a:off x="621792" y="1847088"/>
            <a:ext cx="4389120" cy="182880"/>
          </a:xfrm>
          <a:prstGeom prst="rect">
            <a:avLst/>
          </a:prstGeom>
          <a:noFill/>
          <a:ln/>
        </p:spPr>
        <p:txBody>
          <a:bodyPr wrap="square" lIns="0" tIns="0" rIns="0" bIns="0" rtlCol="0" anchor="ctr">
            <a:normAutofit/>
          </a:bodyPr>
          <a:lstStyle/>
          <a:p>
            <a:pPr indent="0" marL="0">
              <a:buNone/>
            </a:pPr>
            <a:r>
              <a:rPr lang="en-US" sz="800" b="1" spc="90" kern="0" dirty="0">
                <a:solidFill>
                  <a:srgbClr val="91A0A6"/>
                </a:solidFill>
                <a:latin typeface="Aptos" pitchFamily="34" charset="0"/>
                <a:ea typeface="Aptos" pitchFamily="34" charset="-122"/>
                <a:cs typeface="Aptos" pitchFamily="34" charset="-120"/>
              </a:rPr>
              <a:t>PLANNING INSIGHT</a:t>
            </a:r>
            <a:endParaRPr lang="en-US" sz="800" dirty="0"/>
          </a:p>
        </p:txBody>
      </p:sp>
      <p:sp>
        <p:nvSpPr>
          <p:cNvPr id="7" name="Shape 5"/>
          <p:cNvSpPr/>
          <p:nvPr/>
        </p:nvSpPr>
        <p:spPr>
          <a:xfrm>
            <a:off x="640080" y="2221992"/>
            <a:ext cx="82296" cy="82296"/>
          </a:xfrm>
          <a:prstGeom prst="ellipse">
            <a:avLst/>
          </a:prstGeom>
          <a:solidFill>
            <a:srgbClr val="087F8C"/>
          </a:solidFill>
          <a:ln w="12700">
            <a:solidFill>
              <a:srgbClr val="087F8C">
                <a:alpha val="0"/>
              </a:srgbClr>
            </a:solidFill>
            <a:prstDash val="solid"/>
          </a:ln>
        </p:spPr>
      </p:sp>
      <p:sp>
        <p:nvSpPr>
          <p:cNvPr id="8" name="Text 6"/>
          <p:cNvSpPr/>
          <p:nvPr/>
        </p:nvSpPr>
        <p:spPr>
          <a:xfrm>
            <a:off x="841248" y="2157984"/>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See which service supplies another and which service relies on it.</a:t>
            </a:r>
            <a:endParaRPr lang="en-US" sz="1300" dirty="0"/>
          </a:p>
        </p:txBody>
      </p:sp>
      <p:sp>
        <p:nvSpPr>
          <p:cNvPr id="9" name="Shape 7"/>
          <p:cNvSpPr/>
          <p:nvPr/>
        </p:nvSpPr>
        <p:spPr>
          <a:xfrm>
            <a:off x="640080" y="3118104"/>
            <a:ext cx="82296" cy="82296"/>
          </a:xfrm>
          <a:prstGeom prst="ellipse">
            <a:avLst/>
          </a:prstGeom>
          <a:solidFill>
            <a:srgbClr val="087F8C"/>
          </a:solidFill>
          <a:ln w="12700">
            <a:solidFill>
              <a:srgbClr val="087F8C">
                <a:alpha val="0"/>
              </a:srgbClr>
            </a:solidFill>
            <a:prstDash val="solid"/>
          </a:ln>
        </p:spPr>
      </p:sp>
      <p:sp>
        <p:nvSpPr>
          <p:cNvPr id="10" name="Text 8"/>
          <p:cNvSpPr/>
          <p:nvPr/>
        </p:nvSpPr>
        <p:spPr>
          <a:xfrm>
            <a:off x="841248" y="3054096"/>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Keep confirmed links separate from suggestions and questions.</a:t>
            </a:r>
            <a:endParaRPr lang="en-US" sz="1300" dirty="0"/>
          </a:p>
        </p:txBody>
      </p:sp>
      <p:sp>
        <p:nvSpPr>
          <p:cNvPr id="11" name="Shape 9"/>
          <p:cNvSpPr/>
          <p:nvPr/>
        </p:nvSpPr>
        <p:spPr>
          <a:xfrm>
            <a:off x="640080" y="4014216"/>
            <a:ext cx="82296" cy="82296"/>
          </a:xfrm>
          <a:prstGeom prst="ellipse">
            <a:avLst/>
          </a:prstGeom>
          <a:solidFill>
            <a:srgbClr val="087F8C"/>
          </a:solidFill>
          <a:ln w="12700">
            <a:solidFill>
              <a:srgbClr val="087F8C">
                <a:alpha val="0"/>
              </a:srgbClr>
            </a:solidFill>
            <a:prstDash val="solid"/>
          </a:ln>
        </p:spPr>
      </p:sp>
      <p:sp>
        <p:nvSpPr>
          <p:cNvPr id="12" name="Text 10"/>
          <p:cNvSpPr/>
          <p:nvPr/>
        </p:nvSpPr>
        <p:spPr>
          <a:xfrm>
            <a:off x="841248" y="3950208"/>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Repeat an exercise and inspect the evidence behind each result.</a:t>
            </a:r>
            <a:endParaRPr lang="en-US" sz="1300" dirty="0"/>
          </a:p>
        </p:txBody>
      </p:sp>
      <p:sp>
        <p:nvSpPr>
          <p:cNvPr id="13" name="Shape 11"/>
          <p:cNvSpPr/>
          <p:nvPr/>
        </p:nvSpPr>
        <p:spPr>
          <a:xfrm>
            <a:off x="612648" y="5175504"/>
            <a:ext cx="4462272" cy="731520"/>
          </a:xfrm>
          <a:prstGeom prst="roundRect">
            <a:avLst>
              <a:gd name="adj" fmla="val 15000"/>
            </a:avLst>
          </a:prstGeom>
          <a:solidFill>
            <a:srgbClr val="E5F4F2"/>
          </a:solidFill>
          <a:ln w="8890">
            <a:solidFill>
              <a:srgbClr val="E5F4F2"/>
            </a:solidFill>
            <a:prstDash val="solid"/>
          </a:ln>
        </p:spPr>
      </p:sp>
      <p:sp>
        <p:nvSpPr>
          <p:cNvPr id="14" name="Text 12"/>
          <p:cNvSpPr/>
          <p:nvPr/>
        </p:nvSpPr>
        <p:spPr>
          <a:xfrm>
            <a:off x="786384" y="5312664"/>
            <a:ext cx="914400" cy="146304"/>
          </a:xfrm>
          <a:prstGeom prst="rect">
            <a:avLst/>
          </a:prstGeom>
          <a:noFill/>
          <a:ln/>
        </p:spPr>
        <p:txBody>
          <a:bodyPr wrap="square" lIns="0" tIns="0" rIns="0" bIns="0" rtlCol="0" anchor="ctr">
            <a:normAutofit/>
          </a:bodyPr>
          <a:lstStyle/>
          <a:p>
            <a:pPr indent="0" marL="0">
              <a:buNone/>
            </a:pPr>
            <a:r>
              <a:rPr lang="en-US" sz="750" b="1" spc="90" kern="0" dirty="0">
                <a:solidFill>
                  <a:srgbClr val="087F8C"/>
                </a:solidFill>
                <a:latin typeface="Aptos" pitchFamily="34" charset="0"/>
                <a:ea typeface="Aptos" pitchFamily="34" charset="-122"/>
                <a:cs typeface="Aptos" pitchFamily="34" charset="-120"/>
              </a:rPr>
              <a:t>TAKEAWAY</a:t>
            </a:r>
            <a:endParaRPr lang="en-US" sz="750" dirty="0"/>
          </a:p>
        </p:txBody>
      </p:sp>
      <p:sp>
        <p:nvSpPr>
          <p:cNvPr id="15" name="Text 13"/>
          <p:cNvSpPr/>
          <p:nvPr/>
        </p:nvSpPr>
        <p:spPr>
          <a:xfrm>
            <a:off x="786384" y="5504688"/>
            <a:ext cx="4105656" cy="310896"/>
          </a:xfrm>
          <a:prstGeom prst="rect">
            <a:avLst/>
          </a:prstGeom>
          <a:noFill/>
          <a:ln/>
        </p:spPr>
        <p:txBody>
          <a:bodyPr wrap="square" lIns="0" tIns="0" rIns="0" bIns="0" rtlCol="0" anchor="t">
            <a:normAutofit/>
          </a:bodyPr>
          <a:lstStyle/>
          <a:p>
            <a:pPr indent="0" marL="0">
              <a:buNone/>
            </a:pPr>
            <a:r>
              <a:rPr lang="en-US" sz="1030" b="1" dirty="0">
                <a:solidFill>
                  <a:srgbClr val="203747"/>
                </a:solidFill>
                <a:latin typeface="Aptos" pitchFamily="34" charset="0"/>
                <a:ea typeface="Aptos" pitchFamily="34" charset="-122"/>
                <a:cs typeface="Aptos" pitchFamily="34" charset="-120"/>
              </a:rPr>
              <a:t>A human review is required before a suggested link counts.</a:t>
            </a:r>
            <a:endParaRPr lang="en-US" sz="1030" dirty="0"/>
          </a:p>
        </p:txBody>
      </p:sp>
      <p:sp>
        <p:nvSpPr>
          <p:cNvPr id="16" name="Shape 14"/>
          <p:cNvSpPr/>
          <p:nvPr/>
        </p:nvSpPr>
        <p:spPr>
          <a:xfrm>
            <a:off x="5413248" y="1810512"/>
            <a:ext cx="6172200" cy="4096512"/>
          </a:xfrm>
          <a:prstGeom prst="roundRect">
            <a:avLst>
              <a:gd name="adj" fmla="val 2679"/>
            </a:avLst>
          </a:prstGeom>
          <a:solidFill>
            <a:srgbClr val="FFFFFF"/>
          </a:solidFill>
          <a:ln w="8890">
            <a:solidFill>
              <a:srgbClr val="E0E8EA"/>
            </a:solidFill>
            <a:prstDash val="solid"/>
          </a:ln>
        </p:spPr>
      </p:sp>
      <p:sp>
        <p:nvSpPr>
          <p:cNvPr id="17" name="Text 15"/>
          <p:cNvSpPr/>
          <p:nvPr/>
        </p:nvSpPr>
        <p:spPr>
          <a:xfrm>
            <a:off x="5687568" y="1993392"/>
            <a:ext cx="5577840" cy="274320"/>
          </a:xfrm>
          <a:prstGeom prst="rect">
            <a:avLst/>
          </a:prstGeom>
          <a:noFill/>
          <a:ln/>
        </p:spPr>
        <p:txBody>
          <a:bodyPr wrap="square" lIns="0" tIns="0" rIns="0" bIns="0" rtlCol="0" anchor="ctr">
            <a:normAutofit/>
          </a:bodyPr>
          <a:lstStyle/>
          <a:p>
            <a:pPr indent="0" marL="0">
              <a:buNone/>
            </a:pPr>
            <a:r>
              <a:rPr lang="en-US" sz="1400" b="1" dirty="0">
                <a:solidFill>
                  <a:srgbClr val="102638"/>
                </a:solidFill>
                <a:latin typeface="Aptos Display" pitchFamily="34" charset="0"/>
                <a:ea typeface="Aptos Display" pitchFamily="34" charset="-122"/>
                <a:cs typeface="Aptos Display" pitchFamily="34" charset="-120"/>
              </a:rPr>
              <a:t>A simple review cycle</a:t>
            </a:r>
            <a:endParaRPr lang="en-US" sz="1400" dirty="0"/>
          </a:p>
        </p:txBody>
      </p:sp>
      <p:sp>
        <p:nvSpPr>
          <p:cNvPr id="18" name="Shape 16"/>
          <p:cNvSpPr/>
          <p:nvPr/>
        </p:nvSpPr>
        <p:spPr>
          <a:xfrm>
            <a:off x="5641848" y="3200400"/>
            <a:ext cx="1168146" cy="1170432"/>
          </a:xfrm>
          <a:prstGeom prst="roundRect">
            <a:avLst>
              <a:gd name="adj" fmla="val 9393"/>
            </a:avLst>
          </a:prstGeom>
          <a:solidFill>
            <a:srgbClr val="E5F4F2"/>
          </a:solidFill>
          <a:ln w="8890">
            <a:solidFill>
              <a:srgbClr val="E5F4F2"/>
            </a:solidFill>
            <a:prstDash val="solid"/>
          </a:ln>
        </p:spPr>
      </p:sp>
      <p:sp>
        <p:nvSpPr>
          <p:cNvPr id="19" name="Shape 17"/>
          <p:cNvSpPr/>
          <p:nvPr/>
        </p:nvSpPr>
        <p:spPr>
          <a:xfrm>
            <a:off x="5769864" y="3346704"/>
            <a:ext cx="228600" cy="228600"/>
          </a:xfrm>
          <a:prstGeom prst="ellipse">
            <a:avLst/>
          </a:prstGeom>
          <a:solidFill>
            <a:srgbClr val="087F8C"/>
          </a:solidFill>
          <a:ln w="12700">
            <a:solidFill>
              <a:srgbClr val="087F8C">
                <a:alpha val="0"/>
              </a:srgbClr>
            </a:solidFill>
            <a:prstDash val="solid"/>
          </a:ln>
        </p:spPr>
      </p:sp>
      <p:sp>
        <p:nvSpPr>
          <p:cNvPr id="20" name="Text 18"/>
          <p:cNvSpPr/>
          <p:nvPr/>
        </p:nvSpPr>
        <p:spPr>
          <a:xfrm>
            <a:off x="5769864" y="3675888"/>
            <a:ext cx="948690" cy="274320"/>
          </a:xfrm>
          <a:prstGeom prst="rect">
            <a:avLst/>
          </a:prstGeom>
          <a:noFill/>
          <a:ln/>
        </p:spPr>
        <p:txBody>
          <a:bodyPr wrap="square" lIns="0" tIns="0" rIns="0" bIns="0" rtlCol="0" anchor="ctr">
            <a:normAutofit/>
          </a:bodyPr>
          <a:lstStyle/>
          <a:p>
            <a:pPr indent="0" marL="0">
              <a:buNone/>
            </a:pPr>
            <a:r>
              <a:rPr lang="en-US" sz="1100" b="1" dirty="0">
                <a:solidFill>
                  <a:srgbClr val="102638"/>
                </a:solidFill>
                <a:latin typeface="Aptos" pitchFamily="34" charset="0"/>
                <a:ea typeface="Aptos" pitchFamily="34" charset="-122"/>
                <a:cs typeface="Aptos" pitchFamily="34" charset="-120"/>
              </a:rPr>
              <a:t>List</a:t>
            </a:r>
            <a:endParaRPr lang="en-US" sz="1100" dirty="0"/>
          </a:p>
        </p:txBody>
      </p:sp>
      <p:sp>
        <p:nvSpPr>
          <p:cNvPr id="21" name="Text 19"/>
          <p:cNvSpPr/>
          <p:nvPr/>
        </p:nvSpPr>
        <p:spPr>
          <a:xfrm>
            <a:off x="5769864" y="3968496"/>
            <a:ext cx="948690" cy="292608"/>
          </a:xfrm>
          <a:prstGeom prst="rect">
            <a:avLst/>
          </a:prstGeom>
          <a:noFill/>
          <a:ln/>
        </p:spPr>
        <p:txBody>
          <a:bodyPr wrap="square" lIns="0" tIns="0" rIns="0" bIns="0" rtlCol="0" anchor="t">
            <a:normAutofit/>
          </a:bodyPr>
          <a:lstStyle/>
          <a:p>
            <a:pPr indent="0" marL="0">
              <a:buNone/>
            </a:pPr>
            <a:r>
              <a:rPr lang="en-US" sz="830" dirty="0">
                <a:solidFill>
                  <a:srgbClr val="72858D"/>
                </a:solidFill>
                <a:latin typeface="Aptos" pitchFamily="34" charset="0"/>
                <a:ea typeface="Aptos" pitchFamily="34" charset="-122"/>
                <a:cs typeface="Aptos" pitchFamily="34" charset="-120"/>
              </a:rPr>
              <a:t>Services and resources</a:t>
            </a:r>
            <a:endParaRPr lang="en-US" sz="830" dirty="0"/>
          </a:p>
        </p:txBody>
      </p:sp>
      <p:sp>
        <p:nvSpPr>
          <p:cNvPr id="22" name="Text 20"/>
          <p:cNvSpPr/>
          <p:nvPr/>
        </p:nvSpPr>
        <p:spPr>
          <a:xfrm>
            <a:off x="6823710" y="3630168"/>
            <a:ext cx="182880" cy="256032"/>
          </a:xfrm>
          <a:prstGeom prst="rect">
            <a:avLst/>
          </a:prstGeom>
          <a:noFill/>
          <a:ln/>
        </p:spPr>
        <p:txBody>
          <a:bodyPr wrap="square" lIns="0" tIns="0" rIns="0" bIns="0" rtlCol="0" anchor="ctr">
            <a:normAutofit/>
          </a:bodyPr>
          <a:lstStyle/>
          <a:p>
            <a:pPr algn="ctr" indent="0" marL="0">
              <a:buNone/>
            </a:pPr>
            <a:r>
              <a:rPr lang="en-US" sz="1900" b="1" dirty="0">
                <a:solidFill>
                  <a:srgbClr val="087F8C"/>
                </a:solidFill>
                <a:latin typeface="Aptos" pitchFamily="34" charset="0"/>
                <a:ea typeface="Aptos" pitchFamily="34" charset="-122"/>
                <a:cs typeface="Aptos" pitchFamily="34" charset="-120"/>
              </a:rPr>
              <a:t>›</a:t>
            </a:r>
            <a:endParaRPr lang="en-US" sz="1900" dirty="0"/>
          </a:p>
        </p:txBody>
      </p:sp>
      <p:sp>
        <p:nvSpPr>
          <p:cNvPr id="23" name="Shape 21"/>
          <p:cNvSpPr/>
          <p:nvPr/>
        </p:nvSpPr>
        <p:spPr>
          <a:xfrm>
            <a:off x="7157466" y="3200400"/>
            <a:ext cx="1168146" cy="1170432"/>
          </a:xfrm>
          <a:prstGeom prst="roundRect">
            <a:avLst>
              <a:gd name="adj" fmla="val 9393"/>
            </a:avLst>
          </a:prstGeom>
          <a:solidFill>
            <a:srgbClr val="F7FAFA"/>
          </a:solidFill>
          <a:ln w="8890">
            <a:solidFill>
              <a:srgbClr val="E0E8EA"/>
            </a:solidFill>
            <a:prstDash val="solid"/>
          </a:ln>
        </p:spPr>
      </p:sp>
      <p:sp>
        <p:nvSpPr>
          <p:cNvPr id="24" name="Shape 22"/>
          <p:cNvSpPr/>
          <p:nvPr/>
        </p:nvSpPr>
        <p:spPr>
          <a:xfrm>
            <a:off x="7285482" y="3346704"/>
            <a:ext cx="228600" cy="228600"/>
          </a:xfrm>
          <a:prstGeom prst="ellipse">
            <a:avLst/>
          </a:prstGeom>
          <a:solidFill>
            <a:srgbClr val="087F8C"/>
          </a:solidFill>
          <a:ln w="12700">
            <a:solidFill>
              <a:srgbClr val="087F8C">
                <a:alpha val="0"/>
              </a:srgbClr>
            </a:solidFill>
            <a:prstDash val="solid"/>
          </a:ln>
        </p:spPr>
      </p:sp>
      <p:sp>
        <p:nvSpPr>
          <p:cNvPr id="25" name="Text 23"/>
          <p:cNvSpPr/>
          <p:nvPr/>
        </p:nvSpPr>
        <p:spPr>
          <a:xfrm>
            <a:off x="7285482" y="3675888"/>
            <a:ext cx="948690" cy="274320"/>
          </a:xfrm>
          <a:prstGeom prst="rect">
            <a:avLst/>
          </a:prstGeom>
          <a:noFill/>
          <a:ln/>
        </p:spPr>
        <p:txBody>
          <a:bodyPr wrap="square" lIns="0" tIns="0" rIns="0" bIns="0" rtlCol="0" anchor="ctr">
            <a:normAutofit/>
          </a:bodyPr>
          <a:lstStyle/>
          <a:p>
            <a:pPr indent="0" marL="0">
              <a:buNone/>
            </a:pPr>
            <a:r>
              <a:rPr lang="en-US" sz="1100" b="1" dirty="0">
                <a:solidFill>
                  <a:srgbClr val="102638"/>
                </a:solidFill>
                <a:latin typeface="Aptos" pitchFamily="34" charset="0"/>
                <a:ea typeface="Aptos" pitchFamily="34" charset="-122"/>
                <a:cs typeface="Aptos" pitchFamily="34" charset="-120"/>
              </a:rPr>
              <a:t>Check</a:t>
            </a:r>
            <a:endParaRPr lang="en-US" sz="1100" dirty="0"/>
          </a:p>
        </p:txBody>
      </p:sp>
      <p:sp>
        <p:nvSpPr>
          <p:cNvPr id="26" name="Text 24"/>
          <p:cNvSpPr/>
          <p:nvPr/>
        </p:nvSpPr>
        <p:spPr>
          <a:xfrm>
            <a:off x="7285482" y="3968496"/>
            <a:ext cx="948690" cy="292608"/>
          </a:xfrm>
          <a:prstGeom prst="rect">
            <a:avLst/>
          </a:prstGeom>
          <a:noFill/>
          <a:ln/>
        </p:spPr>
        <p:txBody>
          <a:bodyPr wrap="square" lIns="0" tIns="0" rIns="0" bIns="0" rtlCol="0" anchor="t">
            <a:normAutofit/>
          </a:bodyPr>
          <a:lstStyle/>
          <a:p>
            <a:pPr indent="0" marL="0">
              <a:buNone/>
            </a:pPr>
            <a:r>
              <a:rPr lang="en-US" sz="830" dirty="0">
                <a:solidFill>
                  <a:srgbClr val="72858D"/>
                </a:solidFill>
                <a:latin typeface="Aptos" pitchFamily="34" charset="0"/>
                <a:ea typeface="Aptos" pitchFamily="34" charset="-122"/>
                <a:cs typeface="Aptos" pitchFamily="34" charset="-120"/>
              </a:rPr>
              <a:t>Owner and source evidence</a:t>
            </a:r>
            <a:endParaRPr lang="en-US" sz="830" dirty="0"/>
          </a:p>
        </p:txBody>
      </p:sp>
      <p:sp>
        <p:nvSpPr>
          <p:cNvPr id="27" name="Text 25"/>
          <p:cNvSpPr/>
          <p:nvPr/>
        </p:nvSpPr>
        <p:spPr>
          <a:xfrm>
            <a:off x="8339328" y="3630168"/>
            <a:ext cx="182880" cy="256032"/>
          </a:xfrm>
          <a:prstGeom prst="rect">
            <a:avLst/>
          </a:prstGeom>
          <a:noFill/>
          <a:ln/>
        </p:spPr>
        <p:txBody>
          <a:bodyPr wrap="square" lIns="0" tIns="0" rIns="0" bIns="0" rtlCol="0" anchor="ctr">
            <a:normAutofit/>
          </a:bodyPr>
          <a:lstStyle/>
          <a:p>
            <a:pPr algn="ctr" indent="0" marL="0">
              <a:buNone/>
            </a:pPr>
            <a:r>
              <a:rPr lang="en-US" sz="1900" b="1" dirty="0">
                <a:solidFill>
                  <a:srgbClr val="087F8C"/>
                </a:solidFill>
                <a:latin typeface="Aptos" pitchFamily="34" charset="0"/>
                <a:ea typeface="Aptos" pitchFamily="34" charset="-122"/>
                <a:cs typeface="Aptos" pitchFamily="34" charset="-120"/>
              </a:rPr>
              <a:t>›</a:t>
            </a:r>
            <a:endParaRPr lang="en-US" sz="1900" dirty="0"/>
          </a:p>
        </p:txBody>
      </p:sp>
      <p:sp>
        <p:nvSpPr>
          <p:cNvPr id="28" name="Shape 26"/>
          <p:cNvSpPr/>
          <p:nvPr/>
        </p:nvSpPr>
        <p:spPr>
          <a:xfrm>
            <a:off x="8673084" y="3200400"/>
            <a:ext cx="1168146" cy="1170432"/>
          </a:xfrm>
          <a:prstGeom prst="roundRect">
            <a:avLst>
              <a:gd name="adj" fmla="val 9393"/>
            </a:avLst>
          </a:prstGeom>
          <a:solidFill>
            <a:srgbClr val="F7FAFA"/>
          </a:solidFill>
          <a:ln w="8890">
            <a:solidFill>
              <a:srgbClr val="E0E8EA"/>
            </a:solidFill>
            <a:prstDash val="solid"/>
          </a:ln>
        </p:spPr>
      </p:sp>
      <p:sp>
        <p:nvSpPr>
          <p:cNvPr id="29" name="Shape 27"/>
          <p:cNvSpPr/>
          <p:nvPr/>
        </p:nvSpPr>
        <p:spPr>
          <a:xfrm>
            <a:off x="8801100" y="3346704"/>
            <a:ext cx="228600" cy="228600"/>
          </a:xfrm>
          <a:prstGeom prst="ellipse">
            <a:avLst/>
          </a:prstGeom>
          <a:solidFill>
            <a:srgbClr val="087F8C"/>
          </a:solidFill>
          <a:ln w="12700">
            <a:solidFill>
              <a:srgbClr val="087F8C">
                <a:alpha val="0"/>
              </a:srgbClr>
            </a:solidFill>
            <a:prstDash val="solid"/>
          </a:ln>
        </p:spPr>
      </p:sp>
      <p:sp>
        <p:nvSpPr>
          <p:cNvPr id="30" name="Text 28"/>
          <p:cNvSpPr/>
          <p:nvPr/>
        </p:nvSpPr>
        <p:spPr>
          <a:xfrm>
            <a:off x="8801100" y="3675888"/>
            <a:ext cx="948690" cy="274320"/>
          </a:xfrm>
          <a:prstGeom prst="rect">
            <a:avLst/>
          </a:prstGeom>
          <a:noFill/>
          <a:ln/>
        </p:spPr>
        <p:txBody>
          <a:bodyPr wrap="square" lIns="0" tIns="0" rIns="0" bIns="0" rtlCol="0" anchor="ctr">
            <a:normAutofit/>
          </a:bodyPr>
          <a:lstStyle/>
          <a:p>
            <a:pPr indent="0" marL="0">
              <a:buNone/>
            </a:pPr>
            <a:r>
              <a:rPr lang="en-US" sz="1100" b="1" dirty="0">
                <a:solidFill>
                  <a:srgbClr val="102638"/>
                </a:solidFill>
                <a:latin typeface="Aptos" pitchFamily="34" charset="0"/>
                <a:ea typeface="Aptos" pitchFamily="34" charset="-122"/>
                <a:cs typeface="Aptos" pitchFamily="34" charset="-120"/>
              </a:rPr>
              <a:t>Exercise</a:t>
            </a:r>
            <a:endParaRPr lang="en-US" sz="1100" dirty="0"/>
          </a:p>
        </p:txBody>
      </p:sp>
      <p:sp>
        <p:nvSpPr>
          <p:cNvPr id="31" name="Text 29"/>
          <p:cNvSpPr/>
          <p:nvPr/>
        </p:nvSpPr>
        <p:spPr>
          <a:xfrm>
            <a:off x="8801100" y="3968496"/>
            <a:ext cx="948690" cy="292608"/>
          </a:xfrm>
          <a:prstGeom prst="rect">
            <a:avLst/>
          </a:prstGeom>
          <a:noFill/>
          <a:ln/>
        </p:spPr>
        <p:txBody>
          <a:bodyPr wrap="square" lIns="0" tIns="0" rIns="0" bIns="0" rtlCol="0" anchor="t">
            <a:normAutofit/>
          </a:bodyPr>
          <a:lstStyle/>
          <a:p>
            <a:pPr indent="0" marL="0">
              <a:buNone/>
            </a:pPr>
            <a:r>
              <a:rPr lang="en-US" sz="830" dirty="0">
                <a:solidFill>
                  <a:srgbClr val="72858D"/>
                </a:solidFill>
                <a:latin typeface="Aptos" pitchFamily="34" charset="0"/>
                <a:ea typeface="Aptos" pitchFamily="34" charset="-122"/>
                <a:cs typeface="Aptos" pitchFamily="34" charset="-120"/>
              </a:rPr>
              <a:t>Repeat the same what-if</a:t>
            </a:r>
            <a:endParaRPr lang="en-US" sz="830" dirty="0"/>
          </a:p>
        </p:txBody>
      </p:sp>
      <p:sp>
        <p:nvSpPr>
          <p:cNvPr id="32" name="Text 30"/>
          <p:cNvSpPr/>
          <p:nvPr/>
        </p:nvSpPr>
        <p:spPr>
          <a:xfrm>
            <a:off x="9854946" y="3630168"/>
            <a:ext cx="182880" cy="256032"/>
          </a:xfrm>
          <a:prstGeom prst="rect">
            <a:avLst/>
          </a:prstGeom>
          <a:noFill/>
          <a:ln/>
        </p:spPr>
        <p:txBody>
          <a:bodyPr wrap="square" lIns="0" tIns="0" rIns="0" bIns="0" rtlCol="0" anchor="ctr">
            <a:normAutofit/>
          </a:bodyPr>
          <a:lstStyle/>
          <a:p>
            <a:pPr algn="ctr" indent="0" marL="0">
              <a:buNone/>
            </a:pPr>
            <a:r>
              <a:rPr lang="en-US" sz="1900" b="1" dirty="0">
                <a:solidFill>
                  <a:srgbClr val="087F8C"/>
                </a:solidFill>
                <a:latin typeface="Aptos" pitchFamily="34" charset="0"/>
                <a:ea typeface="Aptos" pitchFamily="34" charset="-122"/>
                <a:cs typeface="Aptos" pitchFamily="34" charset="-120"/>
              </a:rPr>
              <a:t>›</a:t>
            </a:r>
            <a:endParaRPr lang="en-US" sz="1900" dirty="0"/>
          </a:p>
        </p:txBody>
      </p:sp>
      <p:sp>
        <p:nvSpPr>
          <p:cNvPr id="33" name="Shape 31"/>
          <p:cNvSpPr/>
          <p:nvPr/>
        </p:nvSpPr>
        <p:spPr>
          <a:xfrm>
            <a:off x="10188702" y="3200400"/>
            <a:ext cx="1168146" cy="1170432"/>
          </a:xfrm>
          <a:prstGeom prst="roundRect">
            <a:avLst>
              <a:gd name="adj" fmla="val 9393"/>
            </a:avLst>
          </a:prstGeom>
          <a:solidFill>
            <a:srgbClr val="F7FAFA"/>
          </a:solidFill>
          <a:ln w="8890">
            <a:solidFill>
              <a:srgbClr val="E0E8EA"/>
            </a:solidFill>
            <a:prstDash val="solid"/>
          </a:ln>
        </p:spPr>
      </p:sp>
      <p:sp>
        <p:nvSpPr>
          <p:cNvPr id="34" name="Shape 32"/>
          <p:cNvSpPr/>
          <p:nvPr/>
        </p:nvSpPr>
        <p:spPr>
          <a:xfrm>
            <a:off x="10316718" y="3346704"/>
            <a:ext cx="228600" cy="228600"/>
          </a:xfrm>
          <a:prstGeom prst="ellipse">
            <a:avLst/>
          </a:prstGeom>
          <a:solidFill>
            <a:srgbClr val="087F8C"/>
          </a:solidFill>
          <a:ln w="12700">
            <a:solidFill>
              <a:srgbClr val="087F8C">
                <a:alpha val="0"/>
              </a:srgbClr>
            </a:solidFill>
            <a:prstDash val="solid"/>
          </a:ln>
        </p:spPr>
      </p:sp>
      <p:sp>
        <p:nvSpPr>
          <p:cNvPr id="35" name="Text 33"/>
          <p:cNvSpPr/>
          <p:nvPr/>
        </p:nvSpPr>
        <p:spPr>
          <a:xfrm>
            <a:off x="10316718" y="3675888"/>
            <a:ext cx="948690" cy="274320"/>
          </a:xfrm>
          <a:prstGeom prst="rect">
            <a:avLst/>
          </a:prstGeom>
          <a:noFill/>
          <a:ln/>
        </p:spPr>
        <p:txBody>
          <a:bodyPr wrap="square" lIns="0" tIns="0" rIns="0" bIns="0" rtlCol="0" anchor="ctr">
            <a:normAutofit/>
          </a:bodyPr>
          <a:lstStyle/>
          <a:p>
            <a:pPr indent="0" marL="0">
              <a:buNone/>
            </a:pPr>
            <a:r>
              <a:rPr lang="en-US" sz="1100" b="1" dirty="0">
                <a:solidFill>
                  <a:srgbClr val="102638"/>
                </a:solidFill>
                <a:latin typeface="Aptos" pitchFamily="34" charset="0"/>
                <a:ea typeface="Aptos" pitchFamily="34" charset="-122"/>
                <a:cs typeface="Aptos" pitchFamily="34" charset="-120"/>
              </a:rPr>
              <a:t>Improve</a:t>
            </a:r>
            <a:endParaRPr lang="en-US" sz="1100" dirty="0"/>
          </a:p>
        </p:txBody>
      </p:sp>
      <p:sp>
        <p:nvSpPr>
          <p:cNvPr id="36" name="Text 34"/>
          <p:cNvSpPr/>
          <p:nvPr/>
        </p:nvSpPr>
        <p:spPr>
          <a:xfrm>
            <a:off x="10316718" y="3968496"/>
            <a:ext cx="948690" cy="292608"/>
          </a:xfrm>
          <a:prstGeom prst="rect">
            <a:avLst/>
          </a:prstGeom>
          <a:noFill/>
          <a:ln/>
        </p:spPr>
        <p:txBody>
          <a:bodyPr wrap="square" lIns="0" tIns="0" rIns="0" bIns="0" rtlCol="0" anchor="t">
            <a:normAutofit/>
          </a:bodyPr>
          <a:lstStyle/>
          <a:p>
            <a:pPr indent="0" marL="0">
              <a:buNone/>
            </a:pPr>
            <a:r>
              <a:rPr lang="en-US" sz="830" dirty="0">
                <a:solidFill>
                  <a:srgbClr val="72858D"/>
                </a:solidFill>
                <a:latin typeface="Aptos" pitchFamily="34" charset="0"/>
                <a:ea typeface="Aptos" pitchFamily="34" charset="-122"/>
                <a:cs typeface="Aptos" pitchFamily="34" charset="-120"/>
              </a:rPr>
              <a:t>Record gaps and actions</a:t>
            </a:r>
            <a:endParaRPr lang="en-US" sz="830" dirty="0"/>
          </a:p>
        </p:txBody>
      </p:sp>
      <p:sp>
        <p:nvSpPr>
          <p:cNvPr id="25" name="Slide Number Placeholder 0"/>
          <p:cNvSpPr>
            <a:spLocks noGrp="1"/>
          </p:cNvSpPr>
          <p:nvPr>
            <p:ph type="sldNum" sz="quarter" idx="4294967295"/>
          </p:nvPr>
        </p:nvSpPr>
        <p:spPr>
          <a:xfrm>
            <a:off x="11247120" y="6492240"/>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1838D"/>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292608"/>
            <a:ext cx="5943600" cy="182880"/>
          </a:xfrm>
          <a:prstGeom prst="rect">
            <a:avLst/>
          </a:prstGeom>
          <a:noFill/>
          <a:ln/>
        </p:spPr>
        <p:txBody>
          <a:bodyPr wrap="square" lIns="0" tIns="0" rIns="0" bIns="0" rtlCol="0" anchor="ctr">
            <a:normAutofit/>
          </a:bodyPr>
          <a:lstStyle/>
          <a:p>
            <a:pPr indent="0" marL="0">
              <a:buNone/>
            </a:pPr>
            <a:r>
              <a:rPr lang="en-US" sz="800" b="1" spc="120" kern="0" dirty="0">
                <a:solidFill>
                  <a:srgbClr val="087F8C"/>
                </a:solidFill>
                <a:latin typeface="Aptos" pitchFamily="34" charset="0"/>
                <a:ea typeface="Aptos" pitchFamily="34" charset="-122"/>
                <a:cs typeface="Aptos" pitchFamily="34" charset="-120"/>
              </a:rPr>
              <a:t>EVIDENCE MODEL</a:t>
            </a:r>
            <a:endParaRPr lang="en-US" sz="8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indent="0" marL="0">
              <a:buNone/>
            </a:pPr>
            <a:r>
              <a:rPr lang="en-US" sz="2500" b="1" dirty="0">
                <a:solidFill>
                  <a:srgbClr val="102638"/>
                </a:solidFill>
                <a:latin typeface="Aptos Display" pitchFamily="34" charset="0"/>
                <a:ea typeface="Aptos Display" pitchFamily="34" charset="-122"/>
                <a:cs typeface="Aptos Display" pitchFamily="34" charset="-120"/>
              </a:rPr>
              <a:t>Every relationship has a reason to check.</a:t>
            </a:r>
            <a:endParaRPr lang="en-US" sz="2500" dirty="0"/>
          </a:p>
        </p:txBody>
      </p:sp>
      <p:sp>
        <p:nvSpPr>
          <p:cNvPr id="4" name="Text 2"/>
          <p:cNvSpPr/>
          <p:nvPr/>
        </p:nvSpPr>
        <p:spPr>
          <a:xfrm>
            <a:off x="585216" y="1152144"/>
            <a:ext cx="10881360" cy="347472"/>
          </a:xfrm>
          <a:prstGeom prst="rect">
            <a:avLst/>
          </a:prstGeom>
          <a:noFill/>
          <a:ln/>
        </p:spPr>
        <p:txBody>
          <a:bodyPr wrap="square" lIns="0" tIns="0" rIns="0" bIns="0" rtlCol="0" anchor="t">
            <a:normAutofit/>
          </a:bodyPr>
          <a:lstStyle/>
          <a:p>
            <a:pPr indent="0" marL="0">
              <a:buNone/>
            </a:pPr>
            <a:r>
              <a:rPr lang="en-US" sz="1200" dirty="0">
                <a:solidFill>
                  <a:srgbClr val="72858D"/>
                </a:solidFill>
                <a:latin typeface="Aptos" pitchFamily="34" charset="0"/>
                <a:ea typeface="Aptos" pitchFamily="34" charset="-122"/>
                <a:cs typeface="Aptos" pitchFamily="34" charset="-120"/>
              </a:rPr>
              <a:t>A line on the map points to a record with an owner and source.</a:t>
            </a:r>
            <a:endParaRPr lang="en-US" sz="1200" dirty="0"/>
          </a:p>
        </p:txBody>
      </p:sp>
      <p:sp>
        <p:nvSpPr>
          <p:cNvPr id="5" name="Shape 3"/>
          <p:cNvSpPr/>
          <p:nvPr/>
        </p:nvSpPr>
        <p:spPr>
          <a:xfrm>
            <a:off x="566928" y="1618488"/>
            <a:ext cx="11064240" cy="0"/>
          </a:xfrm>
          <a:prstGeom prst="line">
            <a:avLst/>
          </a:prstGeom>
          <a:noFill/>
          <a:ln w="12700">
            <a:solidFill>
              <a:srgbClr val="E0E8EA"/>
            </a:solidFill>
            <a:prstDash val="solid"/>
          </a:ln>
        </p:spPr>
      </p:sp>
      <p:sp>
        <p:nvSpPr>
          <p:cNvPr id="6" name="Text 4"/>
          <p:cNvSpPr/>
          <p:nvPr/>
        </p:nvSpPr>
        <p:spPr>
          <a:xfrm>
            <a:off x="621792" y="1847088"/>
            <a:ext cx="4389120" cy="182880"/>
          </a:xfrm>
          <a:prstGeom prst="rect">
            <a:avLst/>
          </a:prstGeom>
          <a:noFill/>
          <a:ln/>
        </p:spPr>
        <p:txBody>
          <a:bodyPr wrap="square" lIns="0" tIns="0" rIns="0" bIns="0" rtlCol="0" anchor="ctr">
            <a:normAutofit/>
          </a:bodyPr>
          <a:lstStyle/>
          <a:p>
            <a:pPr indent="0" marL="0">
              <a:buNone/>
            </a:pPr>
            <a:r>
              <a:rPr lang="en-US" sz="800" b="1" spc="90" kern="0" dirty="0">
                <a:solidFill>
                  <a:srgbClr val="91A0A6"/>
                </a:solidFill>
                <a:latin typeface="Aptos" pitchFamily="34" charset="0"/>
                <a:ea typeface="Aptos" pitchFamily="34" charset="-122"/>
                <a:cs typeface="Aptos" pitchFamily="34" charset="-120"/>
              </a:rPr>
              <a:t>PLANNING INSIGHT</a:t>
            </a:r>
            <a:endParaRPr lang="en-US" sz="800" dirty="0"/>
          </a:p>
        </p:txBody>
      </p:sp>
      <p:sp>
        <p:nvSpPr>
          <p:cNvPr id="7" name="Shape 5"/>
          <p:cNvSpPr/>
          <p:nvPr/>
        </p:nvSpPr>
        <p:spPr>
          <a:xfrm>
            <a:off x="640080" y="2221992"/>
            <a:ext cx="82296" cy="82296"/>
          </a:xfrm>
          <a:prstGeom prst="ellipse">
            <a:avLst/>
          </a:prstGeom>
          <a:solidFill>
            <a:srgbClr val="087F8C"/>
          </a:solidFill>
          <a:ln w="12700">
            <a:solidFill>
              <a:srgbClr val="087F8C">
                <a:alpha val="0"/>
              </a:srgbClr>
            </a:solidFill>
            <a:prstDash val="solid"/>
          </a:ln>
        </p:spPr>
      </p:sp>
      <p:sp>
        <p:nvSpPr>
          <p:cNvPr id="8" name="Text 6"/>
          <p:cNvSpPr/>
          <p:nvPr/>
        </p:nvSpPr>
        <p:spPr>
          <a:xfrm>
            <a:off x="841248" y="2157984"/>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Arrow: the provider supplies something the dependent service needs.</a:t>
            </a:r>
            <a:endParaRPr lang="en-US" sz="1300" dirty="0"/>
          </a:p>
        </p:txBody>
      </p:sp>
      <p:sp>
        <p:nvSpPr>
          <p:cNvPr id="9" name="Shape 7"/>
          <p:cNvSpPr/>
          <p:nvPr/>
        </p:nvSpPr>
        <p:spPr>
          <a:xfrm>
            <a:off x="640080" y="3118104"/>
            <a:ext cx="82296" cy="82296"/>
          </a:xfrm>
          <a:prstGeom prst="ellipse">
            <a:avLst/>
          </a:prstGeom>
          <a:solidFill>
            <a:srgbClr val="087F8C"/>
          </a:solidFill>
          <a:ln w="12700">
            <a:solidFill>
              <a:srgbClr val="087F8C">
                <a:alpha val="0"/>
              </a:srgbClr>
            </a:solidFill>
            <a:prstDash val="solid"/>
          </a:ln>
        </p:spPr>
      </p:sp>
      <p:sp>
        <p:nvSpPr>
          <p:cNvPr id="10" name="Text 8"/>
          <p:cNvSpPr/>
          <p:nvPr/>
        </p:nvSpPr>
        <p:spPr>
          <a:xfrm>
            <a:off x="841248" y="3054096"/>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Evidence: a quote and reference show where the claim came from.</a:t>
            </a:r>
            <a:endParaRPr lang="en-US" sz="1300" dirty="0"/>
          </a:p>
        </p:txBody>
      </p:sp>
      <p:sp>
        <p:nvSpPr>
          <p:cNvPr id="11" name="Shape 9"/>
          <p:cNvSpPr/>
          <p:nvPr/>
        </p:nvSpPr>
        <p:spPr>
          <a:xfrm>
            <a:off x="640080" y="4014216"/>
            <a:ext cx="82296" cy="82296"/>
          </a:xfrm>
          <a:prstGeom prst="ellipse">
            <a:avLst/>
          </a:prstGeom>
          <a:solidFill>
            <a:srgbClr val="087F8C"/>
          </a:solidFill>
          <a:ln w="12700">
            <a:solidFill>
              <a:srgbClr val="087F8C">
                <a:alpha val="0"/>
              </a:srgbClr>
            </a:solidFill>
            <a:prstDash val="solid"/>
          </a:ln>
        </p:spPr>
      </p:sp>
      <p:sp>
        <p:nvSpPr>
          <p:cNvPr id="12" name="Text 10"/>
          <p:cNvSpPr/>
          <p:nvPr/>
        </p:nvSpPr>
        <p:spPr>
          <a:xfrm>
            <a:off x="841248" y="3950208"/>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Review status: verified, proposed, unknown or rejected.</a:t>
            </a:r>
            <a:endParaRPr lang="en-US" sz="1300" dirty="0"/>
          </a:p>
        </p:txBody>
      </p:sp>
      <p:sp>
        <p:nvSpPr>
          <p:cNvPr id="13" name="Shape 11"/>
          <p:cNvSpPr/>
          <p:nvPr/>
        </p:nvSpPr>
        <p:spPr>
          <a:xfrm>
            <a:off x="612648" y="5175504"/>
            <a:ext cx="4462272" cy="731520"/>
          </a:xfrm>
          <a:prstGeom prst="roundRect">
            <a:avLst>
              <a:gd name="adj" fmla="val 15000"/>
            </a:avLst>
          </a:prstGeom>
          <a:solidFill>
            <a:srgbClr val="E5F4F2"/>
          </a:solidFill>
          <a:ln w="8890">
            <a:solidFill>
              <a:srgbClr val="E5F4F2"/>
            </a:solidFill>
            <a:prstDash val="solid"/>
          </a:ln>
        </p:spPr>
      </p:sp>
      <p:sp>
        <p:nvSpPr>
          <p:cNvPr id="14" name="Text 12"/>
          <p:cNvSpPr/>
          <p:nvPr/>
        </p:nvSpPr>
        <p:spPr>
          <a:xfrm>
            <a:off x="786384" y="5312664"/>
            <a:ext cx="914400" cy="146304"/>
          </a:xfrm>
          <a:prstGeom prst="rect">
            <a:avLst/>
          </a:prstGeom>
          <a:noFill/>
          <a:ln/>
        </p:spPr>
        <p:txBody>
          <a:bodyPr wrap="square" lIns="0" tIns="0" rIns="0" bIns="0" rtlCol="0" anchor="ctr">
            <a:normAutofit/>
          </a:bodyPr>
          <a:lstStyle/>
          <a:p>
            <a:pPr indent="0" marL="0">
              <a:buNone/>
            </a:pPr>
            <a:r>
              <a:rPr lang="en-US" sz="750" b="1" spc="90" kern="0" dirty="0">
                <a:solidFill>
                  <a:srgbClr val="087F8C"/>
                </a:solidFill>
                <a:latin typeface="Aptos" pitchFamily="34" charset="0"/>
                <a:ea typeface="Aptos" pitchFamily="34" charset="-122"/>
                <a:cs typeface="Aptos" pitchFamily="34" charset="-120"/>
              </a:rPr>
              <a:t>TAKEAWAY</a:t>
            </a:r>
            <a:endParaRPr lang="en-US" sz="750" dirty="0"/>
          </a:p>
        </p:txBody>
      </p:sp>
      <p:sp>
        <p:nvSpPr>
          <p:cNvPr id="15" name="Text 13"/>
          <p:cNvSpPr/>
          <p:nvPr/>
        </p:nvSpPr>
        <p:spPr>
          <a:xfrm>
            <a:off x="786384" y="5504688"/>
            <a:ext cx="4105656" cy="310896"/>
          </a:xfrm>
          <a:prstGeom prst="rect">
            <a:avLst/>
          </a:prstGeom>
          <a:noFill/>
          <a:ln/>
        </p:spPr>
        <p:txBody>
          <a:bodyPr wrap="square" lIns="0" tIns="0" rIns="0" bIns="0" rtlCol="0" anchor="t">
            <a:normAutofit/>
          </a:bodyPr>
          <a:lstStyle/>
          <a:p>
            <a:pPr indent="0" marL="0">
              <a:buNone/>
            </a:pPr>
            <a:r>
              <a:rPr lang="en-US" sz="1030" b="1" dirty="0">
                <a:solidFill>
                  <a:srgbClr val="203747"/>
                </a:solidFill>
                <a:latin typeface="Aptos" pitchFamily="34" charset="0"/>
                <a:ea typeface="Aptos" pitchFamily="34" charset="-122"/>
                <a:cs typeface="Aptos" pitchFamily="34" charset="-120"/>
              </a:rPr>
              <a:t>A relationship is a reviewable record, not just an arrow.</a:t>
            </a:r>
            <a:endParaRPr lang="en-US" sz="1030" dirty="0"/>
          </a:p>
        </p:txBody>
      </p:sp>
      <p:sp>
        <p:nvSpPr>
          <p:cNvPr id="16" name="Shape 14"/>
          <p:cNvSpPr/>
          <p:nvPr/>
        </p:nvSpPr>
        <p:spPr>
          <a:xfrm>
            <a:off x="5413248" y="1810512"/>
            <a:ext cx="6172200" cy="4096512"/>
          </a:xfrm>
          <a:prstGeom prst="roundRect">
            <a:avLst>
              <a:gd name="adj" fmla="val 2679"/>
            </a:avLst>
          </a:prstGeom>
          <a:solidFill>
            <a:srgbClr val="FFFFFF"/>
          </a:solidFill>
          <a:ln w="8890">
            <a:solidFill>
              <a:srgbClr val="E0E8EA"/>
            </a:solidFill>
            <a:prstDash val="solid"/>
          </a:ln>
        </p:spPr>
      </p:sp>
      <p:sp>
        <p:nvSpPr>
          <p:cNvPr id="17" name="Text 15"/>
          <p:cNvSpPr/>
          <p:nvPr/>
        </p:nvSpPr>
        <p:spPr>
          <a:xfrm>
            <a:off x="5687568" y="1993392"/>
            <a:ext cx="5577840" cy="274320"/>
          </a:xfrm>
          <a:prstGeom prst="rect">
            <a:avLst/>
          </a:prstGeom>
          <a:noFill/>
          <a:ln/>
        </p:spPr>
        <p:txBody>
          <a:bodyPr wrap="square" lIns="0" tIns="0" rIns="0" bIns="0" rtlCol="0" anchor="ctr">
            <a:normAutofit/>
          </a:bodyPr>
          <a:lstStyle/>
          <a:p>
            <a:pPr indent="0" marL="0">
              <a:buNone/>
            </a:pPr>
            <a:r>
              <a:rPr lang="en-US" sz="1400" b="1" dirty="0">
                <a:solidFill>
                  <a:srgbClr val="102638"/>
                </a:solidFill>
                <a:latin typeface="Aptos Display" pitchFamily="34" charset="0"/>
                <a:ea typeface="Aptos Display" pitchFamily="34" charset="-122"/>
                <a:cs typeface="Aptos Display" pitchFamily="34" charset="-120"/>
              </a:rPr>
              <a:t>One fictional relationship</a:t>
            </a:r>
            <a:endParaRPr lang="en-US" sz="1400" dirty="0"/>
          </a:p>
        </p:txBody>
      </p:sp>
      <p:sp>
        <p:nvSpPr>
          <p:cNvPr id="18" name="Shape 16"/>
          <p:cNvSpPr/>
          <p:nvPr/>
        </p:nvSpPr>
        <p:spPr>
          <a:xfrm>
            <a:off x="5870448" y="2889504"/>
            <a:ext cx="5257800" cy="2148840"/>
          </a:xfrm>
          <a:prstGeom prst="roundRect">
            <a:avLst>
              <a:gd name="adj" fmla="val 5106"/>
            </a:avLst>
          </a:prstGeom>
          <a:solidFill>
            <a:srgbClr val="E5F4F2"/>
          </a:solidFill>
          <a:ln w="8890">
            <a:solidFill>
              <a:srgbClr val="D7EBE7"/>
            </a:solidFill>
            <a:prstDash val="solid"/>
          </a:ln>
        </p:spPr>
      </p:sp>
      <p:sp>
        <p:nvSpPr>
          <p:cNvPr id="19" name="Text 17"/>
          <p:cNvSpPr/>
          <p:nvPr/>
        </p:nvSpPr>
        <p:spPr>
          <a:xfrm>
            <a:off x="6099048" y="3127248"/>
            <a:ext cx="4800600" cy="457200"/>
          </a:xfrm>
          <a:prstGeom prst="rect">
            <a:avLst/>
          </a:prstGeom>
          <a:noFill/>
          <a:ln/>
        </p:spPr>
        <p:txBody>
          <a:bodyPr wrap="square" lIns="0" tIns="0" rIns="0" bIns="0" rtlCol="0" anchor="t">
            <a:normAutofit/>
          </a:bodyPr>
          <a:lstStyle/>
          <a:p>
            <a:pPr indent="0" marL="0">
              <a:buNone/>
            </a:pPr>
            <a:r>
              <a:rPr lang="en-US" sz="1800" b="1" dirty="0">
                <a:solidFill>
                  <a:srgbClr val="102638"/>
                </a:solidFill>
                <a:latin typeface="Aptos Display" pitchFamily="34" charset="0"/>
                <a:ea typeface="Aptos Display" pitchFamily="34" charset="-122"/>
                <a:cs typeface="Aptos Display" pitchFamily="34" charset="-120"/>
              </a:rPr>
              <a:t>Substation Alpha → Water Treatment</a:t>
            </a:r>
            <a:endParaRPr lang="en-US" sz="1800" dirty="0"/>
          </a:p>
        </p:txBody>
      </p:sp>
      <p:sp>
        <p:nvSpPr>
          <p:cNvPr id="20" name="Text 18"/>
          <p:cNvSpPr/>
          <p:nvPr/>
        </p:nvSpPr>
        <p:spPr>
          <a:xfrm>
            <a:off x="6099048" y="3813048"/>
            <a:ext cx="4773168" cy="749808"/>
          </a:xfrm>
          <a:prstGeom prst="rect">
            <a:avLst/>
          </a:prstGeom>
          <a:noFill/>
          <a:ln/>
        </p:spPr>
        <p:txBody>
          <a:bodyPr wrap="square" lIns="0" tIns="0" rIns="0" bIns="0" rtlCol="0" anchor="t">
            <a:normAutofit/>
          </a:bodyPr>
          <a:lstStyle/>
          <a:p>
            <a:pPr indent="0" marL="0">
              <a:buNone/>
            </a:pPr>
            <a:r>
              <a:rPr lang="en-US" sz="1100" dirty="0">
                <a:solidFill>
                  <a:srgbClr val="203747"/>
                </a:solidFill>
                <a:latin typeface="Aptos" pitchFamily="34" charset="0"/>
                <a:ea typeface="Aptos" pitchFamily="34" charset="-122"/>
                <a:cs typeface="Aptos" pitchFamily="34" charset="-120"/>
              </a:rPr>
              <a:t>Power · VERIFIED · ANY backup group · CM-DEMO-01 §05 · checked 1 Oct 2026</a:t>
            </a:r>
            <a:endParaRPr lang="en-US" sz="1100" dirty="0"/>
          </a:p>
        </p:txBody>
      </p:sp>
      <p:sp>
        <p:nvSpPr>
          <p:cNvPr id="25" name="Slide Number Placeholder 0"/>
          <p:cNvSpPr>
            <a:spLocks noGrp="1"/>
          </p:cNvSpPr>
          <p:nvPr>
            <p:ph type="sldNum" sz="quarter" idx="4294967295"/>
          </p:nvPr>
        </p:nvSpPr>
        <p:spPr>
          <a:xfrm>
            <a:off x="11247120" y="6492240"/>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1838D"/>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292608"/>
            <a:ext cx="5943600" cy="182880"/>
          </a:xfrm>
          <a:prstGeom prst="rect">
            <a:avLst/>
          </a:prstGeom>
          <a:noFill/>
          <a:ln/>
        </p:spPr>
        <p:txBody>
          <a:bodyPr wrap="square" lIns="0" tIns="0" rIns="0" bIns="0" rtlCol="0" anchor="ctr">
            <a:normAutofit/>
          </a:bodyPr>
          <a:lstStyle/>
          <a:p>
            <a:pPr indent="0" marL="0">
              <a:buNone/>
            </a:pPr>
            <a:r>
              <a:rPr lang="en-US" sz="800" b="1" spc="120" kern="0" dirty="0">
                <a:solidFill>
                  <a:srgbClr val="5E80AA"/>
                </a:solidFill>
                <a:latin typeface="Aptos" pitchFamily="34" charset="0"/>
                <a:ea typeface="Aptos" pitchFamily="34" charset="-122"/>
                <a:cs typeface="Aptos" pitchFamily="34" charset="-120"/>
              </a:rPr>
              <a:t>MAP &amp; REVIEW</a:t>
            </a:r>
            <a:endParaRPr lang="en-US" sz="8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indent="0" marL="0">
              <a:buNone/>
            </a:pPr>
            <a:r>
              <a:rPr lang="en-US" sz="2500" b="1" dirty="0">
                <a:solidFill>
                  <a:srgbClr val="102638"/>
                </a:solidFill>
                <a:latin typeface="Aptos Display" pitchFamily="34" charset="0"/>
                <a:ea typeface="Aptos Display" pitchFamily="34" charset="-122"/>
                <a:cs typeface="Aptos Display" pitchFamily="34" charset="-120"/>
              </a:rPr>
              <a:t>Follow the path and inspect each link.</a:t>
            </a:r>
            <a:endParaRPr lang="en-US" sz="2500" dirty="0"/>
          </a:p>
        </p:txBody>
      </p:sp>
      <p:sp>
        <p:nvSpPr>
          <p:cNvPr id="4" name="Text 2"/>
          <p:cNvSpPr/>
          <p:nvPr/>
        </p:nvSpPr>
        <p:spPr>
          <a:xfrm>
            <a:off x="585216" y="1152144"/>
            <a:ext cx="10881360" cy="347472"/>
          </a:xfrm>
          <a:prstGeom prst="rect">
            <a:avLst/>
          </a:prstGeom>
          <a:noFill/>
          <a:ln/>
        </p:spPr>
        <p:txBody>
          <a:bodyPr wrap="square" lIns="0" tIns="0" rIns="0" bIns="0" rtlCol="0" anchor="t">
            <a:normAutofit/>
          </a:bodyPr>
          <a:lstStyle/>
          <a:p>
            <a:pPr indent="0" marL="0">
              <a:buNone/>
            </a:pPr>
            <a:r>
              <a:rPr lang="en-US" sz="1200" dirty="0">
                <a:solidFill>
                  <a:srgbClr val="72858D"/>
                </a:solidFill>
                <a:latin typeface="Aptos" pitchFamily="34" charset="0"/>
                <a:ea typeface="Aptos" pitchFamily="34" charset="-122"/>
                <a:cs typeface="Aptos" pitchFamily="34" charset="-120"/>
              </a:rPr>
              <a:t>Select a service to see what it relies on, what relies on it, and what needs review.</a:t>
            </a:r>
            <a:endParaRPr lang="en-US" sz="1200" dirty="0"/>
          </a:p>
        </p:txBody>
      </p:sp>
      <p:sp>
        <p:nvSpPr>
          <p:cNvPr id="5" name="Shape 3"/>
          <p:cNvSpPr/>
          <p:nvPr/>
        </p:nvSpPr>
        <p:spPr>
          <a:xfrm>
            <a:off x="566928" y="1618488"/>
            <a:ext cx="11064240" cy="0"/>
          </a:xfrm>
          <a:prstGeom prst="line">
            <a:avLst/>
          </a:prstGeom>
          <a:noFill/>
          <a:ln w="12700">
            <a:solidFill>
              <a:srgbClr val="E0E8EA"/>
            </a:solidFill>
            <a:prstDash val="solid"/>
          </a:ln>
        </p:spPr>
      </p:sp>
      <p:sp>
        <p:nvSpPr>
          <p:cNvPr id="6" name="Text 4"/>
          <p:cNvSpPr/>
          <p:nvPr/>
        </p:nvSpPr>
        <p:spPr>
          <a:xfrm>
            <a:off x="621792" y="1847088"/>
            <a:ext cx="4389120" cy="182880"/>
          </a:xfrm>
          <a:prstGeom prst="rect">
            <a:avLst/>
          </a:prstGeom>
          <a:noFill/>
          <a:ln/>
        </p:spPr>
        <p:txBody>
          <a:bodyPr wrap="square" lIns="0" tIns="0" rIns="0" bIns="0" rtlCol="0" anchor="ctr">
            <a:normAutofit/>
          </a:bodyPr>
          <a:lstStyle/>
          <a:p>
            <a:pPr indent="0" marL="0">
              <a:buNone/>
            </a:pPr>
            <a:r>
              <a:rPr lang="en-US" sz="800" b="1" spc="90" kern="0" dirty="0">
                <a:solidFill>
                  <a:srgbClr val="91A0A6"/>
                </a:solidFill>
                <a:latin typeface="Aptos" pitchFamily="34" charset="0"/>
                <a:ea typeface="Aptos" pitchFamily="34" charset="-122"/>
                <a:cs typeface="Aptos" pitchFamily="34" charset="-120"/>
              </a:rPr>
              <a:t>PLANNING INSIGHT</a:t>
            </a:r>
            <a:endParaRPr lang="en-US" sz="800" dirty="0"/>
          </a:p>
        </p:txBody>
      </p:sp>
      <p:sp>
        <p:nvSpPr>
          <p:cNvPr id="7" name="Shape 5"/>
          <p:cNvSpPr/>
          <p:nvPr/>
        </p:nvSpPr>
        <p:spPr>
          <a:xfrm>
            <a:off x="640080" y="2221992"/>
            <a:ext cx="82296" cy="82296"/>
          </a:xfrm>
          <a:prstGeom prst="ellipse">
            <a:avLst/>
          </a:prstGeom>
          <a:solidFill>
            <a:srgbClr val="5E80AA"/>
          </a:solidFill>
          <a:ln w="12700">
            <a:solidFill>
              <a:srgbClr val="5E80AA">
                <a:alpha val="0"/>
              </a:srgbClr>
            </a:solidFill>
            <a:prstDash val="solid"/>
          </a:ln>
        </p:spPr>
      </p:sp>
      <p:sp>
        <p:nvSpPr>
          <p:cNvPr id="8" name="Text 6"/>
          <p:cNvSpPr/>
          <p:nvPr/>
        </p:nvSpPr>
        <p:spPr>
          <a:xfrm>
            <a:off x="841248" y="2157984"/>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Expand the map around a service.</a:t>
            </a:r>
            <a:endParaRPr lang="en-US" sz="1300" dirty="0"/>
          </a:p>
        </p:txBody>
      </p:sp>
      <p:sp>
        <p:nvSpPr>
          <p:cNvPr id="9" name="Shape 7"/>
          <p:cNvSpPr/>
          <p:nvPr/>
        </p:nvSpPr>
        <p:spPr>
          <a:xfrm>
            <a:off x="640080" y="3118104"/>
            <a:ext cx="82296" cy="82296"/>
          </a:xfrm>
          <a:prstGeom prst="ellipse">
            <a:avLst/>
          </a:prstGeom>
          <a:solidFill>
            <a:srgbClr val="5E80AA"/>
          </a:solidFill>
          <a:ln w="12700">
            <a:solidFill>
              <a:srgbClr val="5E80AA">
                <a:alpha val="0"/>
              </a:srgbClr>
            </a:solidFill>
            <a:prstDash val="solid"/>
          </a:ln>
        </p:spPr>
      </p:sp>
      <p:sp>
        <p:nvSpPr>
          <p:cNvPr id="10" name="Text 8"/>
          <p:cNvSpPr/>
          <p:nvPr/>
        </p:nvSpPr>
        <p:spPr>
          <a:xfrm>
            <a:off x="841248" y="3054096"/>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Open a relationship to read its evidence and owner.</a:t>
            </a:r>
            <a:endParaRPr lang="en-US" sz="1300" dirty="0"/>
          </a:p>
        </p:txBody>
      </p:sp>
      <p:sp>
        <p:nvSpPr>
          <p:cNvPr id="11" name="Shape 9"/>
          <p:cNvSpPr/>
          <p:nvPr/>
        </p:nvSpPr>
        <p:spPr>
          <a:xfrm>
            <a:off x="640080" y="4014216"/>
            <a:ext cx="82296" cy="82296"/>
          </a:xfrm>
          <a:prstGeom prst="ellipse">
            <a:avLst/>
          </a:prstGeom>
          <a:solidFill>
            <a:srgbClr val="5E80AA"/>
          </a:solidFill>
          <a:ln w="12700">
            <a:solidFill>
              <a:srgbClr val="5E80AA">
                <a:alpha val="0"/>
              </a:srgbClr>
            </a:solidFill>
            <a:prstDash val="solid"/>
          </a:ln>
        </p:spPr>
      </p:sp>
      <p:sp>
        <p:nvSpPr>
          <p:cNvPr id="12" name="Text 10"/>
          <p:cNvSpPr/>
          <p:nvPr/>
        </p:nvSpPr>
        <p:spPr>
          <a:xfrm>
            <a:off x="841248" y="3950208"/>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Edit a declaration and rerun the same exercise.</a:t>
            </a:r>
            <a:endParaRPr lang="en-US" sz="1300" dirty="0"/>
          </a:p>
        </p:txBody>
      </p:sp>
      <p:sp>
        <p:nvSpPr>
          <p:cNvPr id="13" name="Shape 11"/>
          <p:cNvSpPr/>
          <p:nvPr/>
        </p:nvSpPr>
        <p:spPr>
          <a:xfrm>
            <a:off x="612648" y="5175504"/>
            <a:ext cx="4462272" cy="731520"/>
          </a:xfrm>
          <a:prstGeom prst="roundRect">
            <a:avLst>
              <a:gd name="adj" fmla="val 15000"/>
            </a:avLst>
          </a:prstGeom>
          <a:solidFill>
            <a:srgbClr val="EDF2F8"/>
          </a:solidFill>
          <a:ln w="8890">
            <a:solidFill>
              <a:srgbClr val="EDF2F8"/>
            </a:solidFill>
            <a:prstDash val="solid"/>
          </a:ln>
        </p:spPr>
      </p:sp>
      <p:sp>
        <p:nvSpPr>
          <p:cNvPr id="14" name="Text 12"/>
          <p:cNvSpPr/>
          <p:nvPr/>
        </p:nvSpPr>
        <p:spPr>
          <a:xfrm>
            <a:off x="786384" y="5312664"/>
            <a:ext cx="914400" cy="146304"/>
          </a:xfrm>
          <a:prstGeom prst="rect">
            <a:avLst/>
          </a:prstGeom>
          <a:noFill/>
          <a:ln/>
        </p:spPr>
        <p:txBody>
          <a:bodyPr wrap="square" lIns="0" tIns="0" rIns="0" bIns="0" rtlCol="0" anchor="ctr">
            <a:normAutofit/>
          </a:bodyPr>
          <a:lstStyle/>
          <a:p>
            <a:pPr indent="0" marL="0">
              <a:buNone/>
            </a:pPr>
            <a:r>
              <a:rPr lang="en-US" sz="750" b="1" spc="90" kern="0" dirty="0">
                <a:solidFill>
                  <a:srgbClr val="5E80AA"/>
                </a:solidFill>
                <a:latin typeface="Aptos" pitchFamily="34" charset="0"/>
                <a:ea typeface="Aptos" pitchFamily="34" charset="-122"/>
                <a:cs typeface="Aptos" pitchFamily="34" charset="-120"/>
              </a:rPr>
              <a:t>TAKEAWAY</a:t>
            </a:r>
            <a:endParaRPr lang="en-US" sz="750" dirty="0"/>
          </a:p>
        </p:txBody>
      </p:sp>
      <p:sp>
        <p:nvSpPr>
          <p:cNvPr id="15" name="Text 13"/>
          <p:cNvSpPr/>
          <p:nvPr/>
        </p:nvSpPr>
        <p:spPr>
          <a:xfrm>
            <a:off x="786384" y="5504688"/>
            <a:ext cx="4105656" cy="310896"/>
          </a:xfrm>
          <a:prstGeom prst="rect">
            <a:avLst/>
          </a:prstGeom>
          <a:noFill/>
          <a:ln/>
        </p:spPr>
        <p:txBody>
          <a:bodyPr wrap="square" lIns="0" tIns="0" rIns="0" bIns="0" rtlCol="0" anchor="t">
            <a:normAutofit/>
          </a:bodyPr>
          <a:lstStyle/>
          <a:p>
            <a:pPr indent="0" marL="0">
              <a:buNone/>
            </a:pPr>
            <a:r>
              <a:rPr lang="en-US" sz="1030" b="1" dirty="0">
                <a:solidFill>
                  <a:srgbClr val="203747"/>
                </a:solidFill>
                <a:latin typeface="Aptos" pitchFamily="34" charset="0"/>
                <a:ea typeface="Aptos" pitchFamily="34" charset="-122"/>
                <a:cs typeface="Aptos" pitchFamily="34" charset="-120"/>
              </a:rPr>
              <a:t>The map supports a conversation between planners and service owners.</a:t>
            </a:r>
            <a:endParaRPr lang="en-US" sz="1030" dirty="0"/>
          </a:p>
        </p:txBody>
      </p:sp>
      <p:sp>
        <p:nvSpPr>
          <p:cNvPr id="16" name="Shape 14"/>
          <p:cNvSpPr/>
          <p:nvPr/>
        </p:nvSpPr>
        <p:spPr>
          <a:xfrm>
            <a:off x="5413248" y="1810512"/>
            <a:ext cx="6172200" cy="4096512"/>
          </a:xfrm>
          <a:prstGeom prst="roundRect">
            <a:avLst>
              <a:gd name="adj" fmla="val 2679"/>
            </a:avLst>
          </a:prstGeom>
          <a:solidFill>
            <a:srgbClr val="FFFFFF"/>
          </a:solidFill>
          <a:ln w="8890">
            <a:solidFill>
              <a:srgbClr val="E0E8EA"/>
            </a:solidFill>
            <a:prstDash val="solid"/>
          </a:ln>
        </p:spPr>
      </p:sp>
      <p:sp>
        <p:nvSpPr>
          <p:cNvPr id="17" name="Text 15"/>
          <p:cNvSpPr/>
          <p:nvPr/>
        </p:nvSpPr>
        <p:spPr>
          <a:xfrm>
            <a:off x="5687568" y="1993392"/>
            <a:ext cx="5577840" cy="274320"/>
          </a:xfrm>
          <a:prstGeom prst="rect">
            <a:avLst/>
          </a:prstGeom>
          <a:noFill/>
          <a:ln/>
        </p:spPr>
        <p:txBody>
          <a:bodyPr wrap="square" lIns="0" tIns="0" rIns="0" bIns="0" rtlCol="0" anchor="ctr">
            <a:normAutofit/>
          </a:bodyPr>
          <a:lstStyle/>
          <a:p>
            <a:pPr indent="0" marL="0">
              <a:buNone/>
            </a:pPr>
            <a:r>
              <a:rPr lang="en-US" sz="1400" b="1" dirty="0">
                <a:solidFill>
                  <a:srgbClr val="102638"/>
                </a:solidFill>
                <a:latin typeface="Aptos Display" pitchFamily="34" charset="0"/>
                <a:ea typeface="Aptos Display" pitchFamily="34" charset="-122"/>
                <a:cs typeface="Aptos Display" pitchFamily="34" charset="-120"/>
              </a:rPr>
              <a:t>What a planner can inspect</a:t>
            </a:r>
            <a:endParaRPr lang="en-US" sz="1400" dirty="0"/>
          </a:p>
        </p:txBody>
      </p:sp>
      <p:sp>
        <p:nvSpPr>
          <p:cNvPr id="18" name="Shape 16"/>
          <p:cNvSpPr/>
          <p:nvPr/>
        </p:nvSpPr>
        <p:spPr>
          <a:xfrm>
            <a:off x="5641848" y="2788920"/>
            <a:ext cx="1734312" cy="1508760"/>
          </a:xfrm>
          <a:prstGeom prst="roundRect">
            <a:avLst>
              <a:gd name="adj" fmla="val 7273"/>
            </a:avLst>
          </a:prstGeom>
          <a:solidFill>
            <a:srgbClr val="EDF2F8"/>
          </a:solidFill>
          <a:ln w="8890">
            <a:solidFill>
              <a:srgbClr val="EDF2F8"/>
            </a:solidFill>
            <a:prstDash val="solid"/>
          </a:ln>
        </p:spPr>
      </p:sp>
      <p:sp>
        <p:nvSpPr>
          <p:cNvPr id="19" name="Shape 17"/>
          <p:cNvSpPr/>
          <p:nvPr/>
        </p:nvSpPr>
        <p:spPr>
          <a:xfrm>
            <a:off x="5641848" y="2788920"/>
            <a:ext cx="45720" cy="1508760"/>
          </a:xfrm>
          <a:prstGeom prst="rect">
            <a:avLst/>
          </a:prstGeom>
          <a:solidFill>
            <a:srgbClr val="5E80AA"/>
          </a:solidFill>
          <a:ln w="12700">
            <a:solidFill>
              <a:srgbClr val="5E80AA">
                <a:alpha val="0"/>
              </a:srgbClr>
            </a:solidFill>
            <a:prstDash val="solid"/>
          </a:ln>
        </p:spPr>
      </p:sp>
      <p:sp>
        <p:nvSpPr>
          <p:cNvPr id="20" name="Text 18"/>
          <p:cNvSpPr/>
          <p:nvPr/>
        </p:nvSpPr>
        <p:spPr>
          <a:xfrm>
            <a:off x="5806440" y="2944368"/>
            <a:ext cx="1423416" cy="228600"/>
          </a:xfrm>
          <a:prstGeom prst="rect">
            <a:avLst/>
          </a:prstGeom>
          <a:noFill/>
          <a:ln/>
        </p:spPr>
        <p:txBody>
          <a:bodyPr wrap="square" lIns="0" tIns="0" rIns="0" bIns="0" rtlCol="0" anchor="t">
            <a:normAutofit/>
          </a:bodyPr>
          <a:lstStyle/>
          <a:p>
            <a:pPr indent="0" marL="0">
              <a:buNone/>
            </a:pPr>
            <a:r>
              <a:rPr lang="en-US" sz="1000" b="1" dirty="0">
                <a:solidFill>
                  <a:srgbClr val="102638"/>
                </a:solidFill>
                <a:latin typeface="Aptos" pitchFamily="34" charset="0"/>
                <a:ea typeface="Aptos" pitchFamily="34" charset="-122"/>
                <a:cs typeface="Aptos" pitchFamily="34" charset="-120"/>
              </a:rPr>
              <a:t>Service</a:t>
            </a:r>
            <a:endParaRPr lang="en-US" sz="1000" dirty="0"/>
          </a:p>
        </p:txBody>
      </p:sp>
      <p:sp>
        <p:nvSpPr>
          <p:cNvPr id="21" name="Text 19"/>
          <p:cNvSpPr/>
          <p:nvPr/>
        </p:nvSpPr>
        <p:spPr>
          <a:xfrm>
            <a:off x="5806440" y="3291840"/>
            <a:ext cx="1423416" cy="886968"/>
          </a:xfrm>
          <a:prstGeom prst="rect">
            <a:avLst/>
          </a:prstGeom>
          <a:noFill/>
          <a:ln/>
        </p:spPr>
        <p:txBody>
          <a:bodyPr wrap="square" lIns="0" tIns="0" rIns="0" bIns="0" rtlCol="0" anchor="t">
            <a:normAutofit/>
          </a:bodyPr>
          <a:lstStyle/>
          <a:p>
            <a:pPr indent="0" marL="0">
              <a:buNone/>
            </a:pPr>
            <a:r>
              <a:rPr lang="en-US" sz="920" dirty="0">
                <a:solidFill>
                  <a:srgbClr val="72858D"/>
                </a:solidFill>
                <a:latin typeface="Aptos" pitchFamily="34" charset="0"/>
                <a:ea typeface="Aptos" pitchFamily="34" charset="-122"/>
                <a:cs typeface="Aptos" pitchFamily="34" charset="-120"/>
              </a:rPr>
              <a:t>Name, sector and exercise status</a:t>
            </a:r>
            <a:endParaRPr lang="en-US" sz="920" dirty="0"/>
          </a:p>
        </p:txBody>
      </p:sp>
      <p:sp>
        <p:nvSpPr>
          <p:cNvPr id="22" name="Shape 20"/>
          <p:cNvSpPr/>
          <p:nvPr/>
        </p:nvSpPr>
        <p:spPr>
          <a:xfrm>
            <a:off x="7632192" y="2788920"/>
            <a:ext cx="1734312" cy="1508760"/>
          </a:xfrm>
          <a:prstGeom prst="roundRect">
            <a:avLst>
              <a:gd name="adj" fmla="val 7273"/>
            </a:avLst>
          </a:prstGeom>
          <a:solidFill>
            <a:srgbClr val="F7FAFA"/>
          </a:solidFill>
          <a:ln w="8890">
            <a:solidFill>
              <a:srgbClr val="E0E8EA"/>
            </a:solidFill>
            <a:prstDash val="solid"/>
          </a:ln>
        </p:spPr>
      </p:sp>
      <p:sp>
        <p:nvSpPr>
          <p:cNvPr id="23" name="Shape 21"/>
          <p:cNvSpPr/>
          <p:nvPr/>
        </p:nvSpPr>
        <p:spPr>
          <a:xfrm>
            <a:off x="7632192" y="2788920"/>
            <a:ext cx="45720" cy="1508760"/>
          </a:xfrm>
          <a:prstGeom prst="rect">
            <a:avLst/>
          </a:prstGeom>
          <a:solidFill>
            <a:srgbClr val="5E80AA"/>
          </a:solidFill>
          <a:ln w="12700">
            <a:solidFill>
              <a:srgbClr val="5E80AA">
                <a:alpha val="0"/>
              </a:srgbClr>
            </a:solidFill>
            <a:prstDash val="solid"/>
          </a:ln>
        </p:spPr>
      </p:sp>
      <p:sp>
        <p:nvSpPr>
          <p:cNvPr id="24" name="Text 22"/>
          <p:cNvSpPr/>
          <p:nvPr/>
        </p:nvSpPr>
        <p:spPr>
          <a:xfrm>
            <a:off x="7796784" y="2944368"/>
            <a:ext cx="1423416" cy="228600"/>
          </a:xfrm>
          <a:prstGeom prst="rect">
            <a:avLst/>
          </a:prstGeom>
          <a:noFill/>
          <a:ln/>
        </p:spPr>
        <p:txBody>
          <a:bodyPr wrap="square" lIns="0" tIns="0" rIns="0" bIns="0" rtlCol="0" anchor="t">
            <a:normAutofit/>
          </a:bodyPr>
          <a:lstStyle/>
          <a:p>
            <a:pPr indent="0" marL="0">
              <a:buNone/>
            </a:pPr>
            <a:r>
              <a:rPr lang="en-US" sz="1000" b="1" dirty="0">
                <a:solidFill>
                  <a:srgbClr val="102638"/>
                </a:solidFill>
                <a:latin typeface="Aptos" pitchFamily="34" charset="0"/>
                <a:ea typeface="Aptos" pitchFamily="34" charset="-122"/>
                <a:cs typeface="Aptos" pitchFamily="34" charset="-120"/>
              </a:rPr>
              <a:t>Impact path</a:t>
            </a:r>
            <a:endParaRPr lang="en-US" sz="1000" dirty="0"/>
          </a:p>
        </p:txBody>
      </p:sp>
      <p:sp>
        <p:nvSpPr>
          <p:cNvPr id="25" name="Text 23"/>
          <p:cNvSpPr/>
          <p:nvPr/>
        </p:nvSpPr>
        <p:spPr>
          <a:xfrm>
            <a:off x="7796784" y="3291840"/>
            <a:ext cx="1423416" cy="886968"/>
          </a:xfrm>
          <a:prstGeom prst="rect">
            <a:avLst/>
          </a:prstGeom>
          <a:noFill/>
          <a:ln/>
        </p:spPr>
        <p:txBody>
          <a:bodyPr wrap="square" lIns="0" tIns="0" rIns="0" bIns="0" rtlCol="0" anchor="t">
            <a:normAutofit/>
          </a:bodyPr>
          <a:lstStyle/>
          <a:p>
            <a:pPr indent="0" marL="0">
              <a:buNone/>
            </a:pPr>
            <a:r>
              <a:rPr lang="en-US" sz="920" dirty="0">
                <a:solidFill>
                  <a:srgbClr val="72858D"/>
                </a:solidFill>
                <a:latin typeface="Aptos" pitchFamily="34" charset="0"/>
                <a:ea typeface="Aptos" pitchFamily="34" charset="-122"/>
                <a:cs typeface="Aptos" pitchFamily="34" charset="-120"/>
              </a:rPr>
              <a:t>The verified links behind a result</a:t>
            </a:r>
            <a:endParaRPr lang="en-US" sz="920" dirty="0"/>
          </a:p>
        </p:txBody>
      </p:sp>
      <p:sp>
        <p:nvSpPr>
          <p:cNvPr id="26" name="Shape 24"/>
          <p:cNvSpPr/>
          <p:nvPr/>
        </p:nvSpPr>
        <p:spPr>
          <a:xfrm>
            <a:off x="9622536" y="2788920"/>
            <a:ext cx="1734312" cy="1508760"/>
          </a:xfrm>
          <a:prstGeom prst="roundRect">
            <a:avLst>
              <a:gd name="adj" fmla="val 7273"/>
            </a:avLst>
          </a:prstGeom>
          <a:solidFill>
            <a:srgbClr val="F7FAFA"/>
          </a:solidFill>
          <a:ln w="8890">
            <a:solidFill>
              <a:srgbClr val="E0E8EA"/>
            </a:solidFill>
            <a:prstDash val="solid"/>
          </a:ln>
        </p:spPr>
      </p:sp>
      <p:sp>
        <p:nvSpPr>
          <p:cNvPr id="27" name="Shape 25"/>
          <p:cNvSpPr/>
          <p:nvPr/>
        </p:nvSpPr>
        <p:spPr>
          <a:xfrm>
            <a:off x="9622536" y="2788920"/>
            <a:ext cx="45720" cy="1508760"/>
          </a:xfrm>
          <a:prstGeom prst="rect">
            <a:avLst/>
          </a:prstGeom>
          <a:solidFill>
            <a:srgbClr val="5E80AA"/>
          </a:solidFill>
          <a:ln w="12700">
            <a:solidFill>
              <a:srgbClr val="5E80AA">
                <a:alpha val="0"/>
              </a:srgbClr>
            </a:solidFill>
            <a:prstDash val="solid"/>
          </a:ln>
        </p:spPr>
      </p:sp>
      <p:sp>
        <p:nvSpPr>
          <p:cNvPr id="28" name="Text 26"/>
          <p:cNvSpPr/>
          <p:nvPr/>
        </p:nvSpPr>
        <p:spPr>
          <a:xfrm>
            <a:off x="9787128" y="2944368"/>
            <a:ext cx="1423416" cy="228600"/>
          </a:xfrm>
          <a:prstGeom prst="rect">
            <a:avLst/>
          </a:prstGeom>
          <a:noFill/>
          <a:ln/>
        </p:spPr>
        <p:txBody>
          <a:bodyPr wrap="square" lIns="0" tIns="0" rIns="0" bIns="0" rtlCol="0" anchor="t">
            <a:normAutofit/>
          </a:bodyPr>
          <a:lstStyle/>
          <a:p>
            <a:pPr indent="0" marL="0">
              <a:buNone/>
            </a:pPr>
            <a:r>
              <a:rPr lang="en-US" sz="1000" b="1" dirty="0">
                <a:solidFill>
                  <a:srgbClr val="102638"/>
                </a:solidFill>
                <a:latin typeface="Aptos" pitchFamily="34" charset="0"/>
                <a:ea typeface="Aptos" pitchFamily="34" charset="-122"/>
                <a:cs typeface="Aptos" pitchFamily="34" charset="-120"/>
              </a:rPr>
              <a:t>Open question</a:t>
            </a:r>
            <a:endParaRPr lang="en-US" sz="1000" dirty="0"/>
          </a:p>
        </p:txBody>
      </p:sp>
      <p:sp>
        <p:nvSpPr>
          <p:cNvPr id="29" name="Text 27"/>
          <p:cNvSpPr/>
          <p:nvPr/>
        </p:nvSpPr>
        <p:spPr>
          <a:xfrm>
            <a:off x="9787128" y="3291840"/>
            <a:ext cx="1423416" cy="886968"/>
          </a:xfrm>
          <a:prstGeom prst="rect">
            <a:avLst/>
          </a:prstGeom>
          <a:noFill/>
          <a:ln/>
        </p:spPr>
        <p:txBody>
          <a:bodyPr wrap="square" lIns="0" tIns="0" rIns="0" bIns="0" rtlCol="0" anchor="t">
            <a:normAutofit/>
          </a:bodyPr>
          <a:lstStyle/>
          <a:p>
            <a:pPr indent="0" marL="0">
              <a:buNone/>
            </a:pPr>
            <a:r>
              <a:rPr lang="en-US" sz="920" dirty="0">
                <a:solidFill>
                  <a:srgbClr val="72858D"/>
                </a:solidFill>
                <a:latin typeface="Aptos" pitchFamily="34" charset="0"/>
                <a:ea typeface="Aptos" pitchFamily="34" charset="-122"/>
                <a:cs typeface="Aptos" pitchFamily="34" charset="-120"/>
              </a:rPr>
              <a:t>A possible link for owner review</a:t>
            </a:r>
            <a:endParaRPr lang="en-US" sz="920" dirty="0"/>
          </a:p>
        </p:txBody>
      </p:sp>
      <p:sp>
        <p:nvSpPr>
          <p:cNvPr id="25" name="Slide Number Placeholder 0"/>
          <p:cNvSpPr>
            <a:spLocks noGrp="1"/>
          </p:cNvSpPr>
          <p:nvPr>
            <p:ph type="sldNum" sz="quarter" idx="4294967295"/>
          </p:nvPr>
        </p:nvSpPr>
        <p:spPr>
          <a:xfrm>
            <a:off x="11247120" y="6492240"/>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1838D"/>
                </a:solidFill>
                <a:latin typeface="Aptos"/>
                <a:ea typeface="Aptos"/>
                <a:cs typeface="Apto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292608"/>
            <a:ext cx="5943600" cy="182880"/>
          </a:xfrm>
          <a:prstGeom prst="rect">
            <a:avLst/>
          </a:prstGeom>
          <a:noFill/>
          <a:ln/>
        </p:spPr>
        <p:txBody>
          <a:bodyPr wrap="square" lIns="0" tIns="0" rIns="0" bIns="0" rtlCol="0" anchor="ctr">
            <a:normAutofit/>
          </a:bodyPr>
          <a:lstStyle/>
          <a:p>
            <a:pPr indent="0" marL="0">
              <a:buNone/>
            </a:pPr>
            <a:r>
              <a:rPr lang="en-US" sz="800" b="1" spc="120" kern="0" dirty="0">
                <a:solidFill>
                  <a:srgbClr val="B17B24"/>
                </a:solidFill>
                <a:latin typeface="Aptos" pitchFamily="34" charset="0"/>
                <a:ea typeface="Aptos" pitchFamily="34" charset="-122"/>
                <a:cs typeface="Aptos" pitchFamily="34" charset="-120"/>
              </a:rPr>
              <a:t>SCENARIO LOGIC</a:t>
            </a:r>
            <a:endParaRPr lang="en-US" sz="8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indent="0" marL="0">
              <a:buNone/>
            </a:pPr>
            <a:r>
              <a:rPr lang="en-US" sz="2500" b="1" dirty="0">
                <a:solidFill>
                  <a:srgbClr val="102638"/>
                </a:solidFill>
                <a:latin typeface="Aptos Display" pitchFamily="34" charset="0"/>
                <a:ea typeface="Aptos Display" pitchFamily="34" charset="-122"/>
                <a:cs typeface="Aptos Display" pitchFamily="34" charset="-120"/>
              </a:rPr>
              <a:t>Backups need a clear rule.</a:t>
            </a:r>
            <a:endParaRPr lang="en-US" sz="2500" dirty="0"/>
          </a:p>
        </p:txBody>
      </p:sp>
      <p:sp>
        <p:nvSpPr>
          <p:cNvPr id="4" name="Text 2"/>
          <p:cNvSpPr/>
          <p:nvPr/>
        </p:nvSpPr>
        <p:spPr>
          <a:xfrm>
            <a:off x="585216" y="1152144"/>
            <a:ext cx="10881360" cy="347472"/>
          </a:xfrm>
          <a:prstGeom prst="rect">
            <a:avLst/>
          </a:prstGeom>
          <a:noFill/>
          <a:ln/>
        </p:spPr>
        <p:txBody>
          <a:bodyPr wrap="square" lIns="0" tIns="0" rIns="0" bIns="0" rtlCol="0" anchor="t">
            <a:normAutofit/>
          </a:bodyPr>
          <a:lstStyle/>
          <a:p>
            <a:pPr indent="0" marL="0">
              <a:buNone/>
            </a:pPr>
            <a:r>
              <a:rPr lang="en-US" sz="1200" dirty="0">
                <a:solidFill>
                  <a:srgbClr val="72858D"/>
                </a:solidFill>
                <a:latin typeface="Aptos" pitchFamily="34" charset="0"/>
                <a:ea typeface="Aptos" pitchFamily="34" charset="-122"/>
                <a:cs typeface="Aptos" pitchFamily="34" charset="-120"/>
              </a:rPr>
              <a:t>A service is affected only when a required group of verified providers is no longer available.</a:t>
            </a:r>
            <a:endParaRPr lang="en-US" sz="1200" dirty="0"/>
          </a:p>
        </p:txBody>
      </p:sp>
      <p:sp>
        <p:nvSpPr>
          <p:cNvPr id="5" name="Shape 3"/>
          <p:cNvSpPr/>
          <p:nvPr/>
        </p:nvSpPr>
        <p:spPr>
          <a:xfrm>
            <a:off x="566928" y="1618488"/>
            <a:ext cx="11064240" cy="0"/>
          </a:xfrm>
          <a:prstGeom prst="line">
            <a:avLst/>
          </a:prstGeom>
          <a:noFill/>
          <a:ln w="12700">
            <a:solidFill>
              <a:srgbClr val="E0E8EA"/>
            </a:solidFill>
            <a:prstDash val="solid"/>
          </a:ln>
        </p:spPr>
      </p:sp>
      <p:sp>
        <p:nvSpPr>
          <p:cNvPr id="6" name="Text 4"/>
          <p:cNvSpPr/>
          <p:nvPr/>
        </p:nvSpPr>
        <p:spPr>
          <a:xfrm>
            <a:off x="621792" y="1847088"/>
            <a:ext cx="4389120" cy="182880"/>
          </a:xfrm>
          <a:prstGeom prst="rect">
            <a:avLst/>
          </a:prstGeom>
          <a:noFill/>
          <a:ln/>
        </p:spPr>
        <p:txBody>
          <a:bodyPr wrap="square" lIns="0" tIns="0" rIns="0" bIns="0" rtlCol="0" anchor="ctr">
            <a:normAutofit/>
          </a:bodyPr>
          <a:lstStyle/>
          <a:p>
            <a:pPr indent="0" marL="0">
              <a:buNone/>
            </a:pPr>
            <a:r>
              <a:rPr lang="en-US" sz="800" b="1" spc="90" kern="0" dirty="0">
                <a:solidFill>
                  <a:srgbClr val="91A0A6"/>
                </a:solidFill>
                <a:latin typeface="Aptos" pitchFamily="34" charset="0"/>
                <a:ea typeface="Aptos" pitchFamily="34" charset="-122"/>
                <a:cs typeface="Aptos" pitchFamily="34" charset="-120"/>
              </a:rPr>
              <a:t>PLANNING INSIGHT</a:t>
            </a:r>
            <a:endParaRPr lang="en-US" sz="800" dirty="0"/>
          </a:p>
        </p:txBody>
      </p:sp>
      <p:sp>
        <p:nvSpPr>
          <p:cNvPr id="7" name="Shape 5"/>
          <p:cNvSpPr/>
          <p:nvPr/>
        </p:nvSpPr>
        <p:spPr>
          <a:xfrm>
            <a:off x="640080" y="2221992"/>
            <a:ext cx="82296" cy="82296"/>
          </a:xfrm>
          <a:prstGeom prst="ellipse">
            <a:avLst/>
          </a:prstGeom>
          <a:solidFill>
            <a:srgbClr val="B17B24"/>
          </a:solidFill>
          <a:ln w="12700">
            <a:solidFill>
              <a:srgbClr val="B17B24">
                <a:alpha val="0"/>
              </a:srgbClr>
            </a:solidFill>
            <a:prstDash val="solid"/>
          </a:ln>
        </p:spPr>
      </p:sp>
      <p:sp>
        <p:nvSpPr>
          <p:cNvPr id="8" name="Text 6"/>
          <p:cNvSpPr/>
          <p:nvPr/>
        </p:nvSpPr>
        <p:spPr>
          <a:xfrm>
            <a:off x="841248" y="2157984"/>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ANY: one available provider is enough.</a:t>
            </a:r>
            <a:endParaRPr lang="en-US" sz="1300" dirty="0"/>
          </a:p>
        </p:txBody>
      </p:sp>
      <p:sp>
        <p:nvSpPr>
          <p:cNvPr id="9" name="Shape 7"/>
          <p:cNvSpPr/>
          <p:nvPr/>
        </p:nvSpPr>
        <p:spPr>
          <a:xfrm>
            <a:off x="640080" y="3118104"/>
            <a:ext cx="82296" cy="82296"/>
          </a:xfrm>
          <a:prstGeom prst="ellipse">
            <a:avLst/>
          </a:prstGeom>
          <a:solidFill>
            <a:srgbClr val="B17B24"/>
          </a:solidFill>
          <a:ln w="12700">
            <a:solidFill>
              <a:srgbClr val="B17B24">
                <a:alpha val="0"/>
              </a:srgbClr>
            </a:solidFill>
            <a:prstDash val="solid"/>
          </a:ln>
        </p:spPr>
      </p:sp>
      <p:sp>
        <p:nvSpPr>
          <p:cNvPr id="10" name="Text 8"/>
          <p:cNvSpPr/>
          <p:nvPr/>
        </p:nvSpPr>
        <p:spPr>
          <a:xfrm>
            <a:off x="841248" y="3054096"/>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ALL: every listed provider is needed.</a:t>
            </a:r>
            <a:endParaRPr lang="en-US" sz="1300" dirty="0"/>
          </a:p>
        </p:txBody>
      </p:sp>
      <p:sp>
        <p:nvSpPr>
          <p:cNvPr id="11" name="Shape 9"/>
          <p:cNvSpPr/>
          <p:nvPr/>
        </p:nvSpPr>
        <p:spPr>
          <a:xfrm>
            <a:off x="640080" y="4014216"/>
            <a:ext cx="82296" cy="82296"/>
          </a:xfrm>
          <a:prstGeom prst="ellipse">
            <a:avLst/>
          </a:prstGeom>
          <a:solidFill>
            <a:srgbClr val="B17B24"/>
          </a:solidFill>
          <a:ln w="12700">
            <a:solidFill>
              <a:srgbClr val="B17B24">
                <a:alpha val="0"/>
              </a:srgbClr>
            </a:solidFill>
            <a:prstDash val="solid"/>
          </a:ln>
        </p:spPr>
      </p:sp>
      <p:sp>
        <p:nvSpPr>
          <p:cNvPr id="12" name="Text 10"/>
          <p:cNvSpPr/>
          <p:nvPr/>
        </p:nvSpPr>
        <p:spPr>
          <a:xfrm>
            <a:off x="841248" y="3950208"/>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A service may need several groups at the same time.</a:t>
            </a:r>
            <a:endParaRPr lang="en-US" sz="1300" dirty="0"/>
          </a:p>
        </p:txBody>
      </p:sp>
      <p:sp>
        <p:nvSpPr>
          <p:cNvPr id="13" name="Shape 11"/>
          <p:cNvSpPr/>
          <p:nvPr/>
        </p:nvSpPr>
        <p:spPr>
          <a:xfrm>
            <a:off x="612648" y="5175504"/>
            <a:ext cx="4462272" cy="731520"/>
          </a:xfrm>
          <a:prstGeom prst="roundRect">
            <a:avLst>
              <a:gd name="adj" fmla="val 15000"/>
            </a:avLst>
          </a:prstGeom>
          <a:solidFill>
            <a:srgbClr val="FFF4DC"/>
          </a:solidFill>
          <a:ln w="8890">
            <a:solidFill>
              <a:srgbClr val="FFF4DC"/>
            </a:solidFill>
            <a:prstDash val="solid"/>
          </a:ln>
        </p:spPr>
      </p:sp>
      <p:sp>
        <p:nvSpPr>
          <p:cNvPr id="14" name="Text 12"/>
          <p:cNvSpPr/>
          <p:nvPr/>
        </p:nvSpPr>
        <p:spPr>
          <a:xfrm>
            <a:off x="786384" y="5312664"/>
            <a:ext cx="914400" cy="146304"/>
          </a:xfrm>
          <a:prstGeom prst="rect">
            <a:avLst/>
          </a:prstGeom>
          <a:noFill/>
          <a:ln/>
        </p:spPr>
        <p:txBody>
          <a:bodyPr wrap="square" lIns="0" tIns="0" rIns="0" bIns="0" rtlCol="0" anchor="ctr">
            <a:normAutofit/>
          </a:bodyPr>
          <a:lstStyle/>
          <a:p>
            <a:pPr indent="0" marL="0">
              <a:buNone/>
            </a:pPr>
            <a:r>
              <a:rPr lang="en-US" sz="750" b="1" spc="90" kern="0" dirty="0">
                <a:solidFill>
                  <a:srgbClr val="B17B24"/>
                </a:solidFill>
                <a:latin typeface="Aptos" pitchFamily="34" charset="0"/>
                <a:ea typeface="Aptos" pitchFamily="34" charset="-122"/>
                <a:cs typeface="Aptos" pitchFamily="34" charset="-120"/>
              </a:rPr>
              <a:t>TAKEAWAY</a:t>
            </a:r>
            <a:endParaRPr lang="en-US" sz="750" dirty="0"/>
          </a:p>
        </p:txBody>
      </p:sp>
      <p:sp>
        <p:nvSpPr>
          <p:cNvPr id="15" name="Text 13"/>
          <p:cNvSpPr/>
          <p:nvPr/>
        </p:nvSpPr>
        <p:spPr>
          <a:xfrm>
            <a:off x="786384" y="5504688"/>
            <a:ext cx="4105656" cy="310896"/>
          </a:xfrm>
          <a:prstGeom prst="rect">
            <a:avLst/>
          </a:prstGeom>
          <a:noFill/>
          <a:ln/>
        </p:spPr>
        <p:txBody>
          <a:bodyPr wrap="square" lIns="0" tIns="0" rIns="0" bIns="0" rtlCol="0" anchor="t">
            <a:normAutofit/>
          </a:bodyPr>
          <a:lstStyle/>
          <a:p>
            <a:pPr indent="0" marL="0">
              <a:buNone/>
            </a:pPr>
            <a:r>
              <a:rPr lang="en-US" sz="1030" b="1" dirty="0">
                <a:solidFill>
                  <a:srgbClr val="203747"/>
                </a:solidFill>
                <a:latin typeface="Aptos" pitchFamily="34" charset="0"/>
                <a:ea typeface="Aptos" pitchFamily="34" charset="-122"/>
                <a:cs typeface="Aptos" pitchFamily="34" charset="-120"/>
              </a:rPr>
              <a:t>The app rechecks links until no new service is affected.</a:t>
            </a:r>
            <a:endParaRPr lang="en-US" sz="1030" dirty="0"/>
          </a:p>
        </p:txBody>
      </p:sp>
      <p:sp>
        <p:nvSpPr>
          <p:cNvPr id="16" name="Shape 14"/>
          <p:cNvSpPr/>
          <p:nvPr/>
        </p:nvSpPr>
        <p:spPr>
          <a:xfrm>
            <a:off x="5413248" y="1810512"/>
            <a:ext cx="6172200" cy="4096512"/>
          </a:xfrm>
          <a:prstGeom prst="roundRect">
            <a:avLst>
              <a:gd name="adj" fmla="val 2679"/>
            </a:avLst>
          </a:prstGeom>
          <a:solidFill>
            <a:srgbClr val="FFFFFF"/>
          </a:solidFill>
          <a:ln w="8890">
            <a:solidFill>
              <a:srgbClr val="E0E8EA"/>
            </a:solidFill>
            <a:prstDash val="solid"/>
          </a:ln>
        </p:spPr>
      </p:sp>
      <p:sp>
        <p:nvSpPr>
          <p:cNvPr id="17" name="Text 15"/>
          <p:cNvSpPr/>
          <p:nvPr/>
        </p:nvSpPr>
        <p:spPr>
          <a:xfrm>
            <a:off x="5687568" y="1993392"/>
            <a:ext cx="5577840" cy="274320"/>
          </a:xfrm>
          <a:prstGeom prst="rect">
            <a:avLst/>
          </a:prstGeom>
          <a:noFill/>
          <a:ln/>
        </p:spPr>
        <p:txBody>
          <a:bodyPr wrap="square" lIns="0" tIns="0" rIns="0" bIns="0" rtlCol="0" anchor="ctr">
            <a:normAutofit/>
          </a:bodyPr>
          <a:lstStyle/>
          <a:p>
            <a:pPr indent="0" marL="0">
              <a:buNone/>
            </a:pPr>
            <a:r>
              <a:rPr lang="en-US" sz="1400" b="1" dirty="0">
                <a:solidFill>
                  <a:srgbClr val="102638"/>
                </a:solidFill>
                <a:latin typeface="Aptos Display" pitchFamily="34" charset="0"/>
                <a:ea typeface="Aptos Display" pitchFamily="34" charset="-122"/>
                <a:cs typeface="Aptos Display" pitchFamily="34" charset="-120"/>
              </a:rPr>
              <a:t>A small example</a:t>
            </a:r>
            <a:endParaRPr lang="en-US" sz="1400" dirty="0"/>
          </a:p>
        </p:txBody>
      </p:sp>
      <p:sp>
        <p:nvSpPr>
          <p:cNvPr id="18" name="Shape 16"/>
          <p:cNvSpPr/>
          <p:nvPr/>
        </p:nvSpPr>
        <p:spPr>
          <a:xfrm>
            <a:off x="5641848" y="2907792"/>
            <a:ext cx="2633472" cy="2240280"/>
          </a:xfrm>
          <a:prstGeom prst="roundRect">
            <a:avLst>
              <a:gd name="adj" fmla="val 4898"/>
            </a:avLst>
          </a:prstGeom>
          <a:solidFill>
            <a:srgbClr val="F1F8F5"/>
          </a:solidFill>
          <a:ln w="8890">
            <a:solidFill>
              <a:srgbClr val="DDEDE7"/>
            </a:solidFill>
            <a:prstDash val="solid"/>
          </a:ln>
        </p:spPr>
      </p:sp>
      <p:sp>
        <p:nvSpPr>
          <p:cNvPr id="19" name="Text 17"/>
          <p:cNvSpPr/>
          <p:nvPr/>
        </p:nvSpPr>
        <p:spPr>
          <a:xfrm>
            <a:off x="5824728" y="3154680"/>
            <a:ext cx="1188720" cy="347472"/>
          </a:xfrm>
          <a:prstGeom prst="rect">
            <a:avLst/>
          </a:prstGeom>
          <a:noFill/>
          <a:ln/>
        </p:spPr>
        <p:txBody>
          <a:bodyPr wrap="square" lIns="0" tIns="0" rIns="0" bIns="0" rtlCol="0" anchor="ctr">
            <a:normAutofit/>
          </a:bodyPr>
          <a:lstStyle/>
          <a:p>
            <a:pPr indent="0" marL="0">
              <a:buNone/>
            </a:pPr>
            <a:r>
              <a:rPr lang="en-US" sz="1400" b="1" dirty="0">
                <a:solidFill>
                  <a:srgbClr val="087F8C"/>
                </a:solidFill>
                <a:latin typeface="Aptos" pitchFamily="34" charset="0"/>
                <a:ea typeface="Aptos" pitchFamily="34" charset="-122"/>
                <a:cs typeface="Aptos" pitchFamily="34" charset="-120"/>
              </a:rPr>
              <a:t>ANY</a:t>
            </a:r>
            <a:endParaRPr lang="en-US" sz="1400" dirty="0"/>
          </a:p>
        </p:txBody>
      </p:sp>
      <p:sp>
        <p:nvSpPr>
          <p:cNvPr id="20" name="Text 18"/>
          <p:cNvSpPr/>
          <p:nvPr/>
        </p:nvSpPr>
        <p:spPr>
          <a:xfrm>
            <a:off x="6556248" y="3182112"/>
            <a:ext cx="1463040" cy="274320"/>
          </a:xfrm>
          <a:prstGeom prst="rect">
            <a:avLst/>
          </a:prstGeom>
          <a:noFill/>
          <a:ln/>
        </p:spPr>
        <p:txBody>
          <a:bodyPr wrap="square" lIns="0" tIns="0" rIns="0" bIns="0" rtlCol="0" anchor="ctr">
            <a:normAutofit/>
          </a:bodyPr>
          <a:lstStyle/>
          <a:p>
            <a:pPr algn="r" indent="0" marL="0">
              <a:buNone/>
            </a:pPr>
            <a:r>
              <a:rPr lang="en-US" sz="900" b="1" dirty="0">
                <a:solidFill>
                  <a:srgbClr val="72858D"/>
                </a:solidFill>
                <a:latin typeface="Aptos" pitchFamily="34" charset="0"/>
                <a:ea typeface="Aptos" pitchFamily="34" charset="-122"/>
                <a:cs typeface="Aptos" pitchFamily="34" charset="-120"/>
              </a:rPr>
              <a:t>either is enough</a:t>
            </a:r>
            <a:endParaRPr lang="en-US" sz="900" dirty="0"/>
          </a:p>
        </p:txBody>
      </p:sp>
      <p:sp>
        <p:nvSpPr>
          <p:cNvPr id="21" name="Text 19"/>
          <p:cNvSpPr/>
          <p:nvPr/>
        </p:nvSpPr>
        <p:spPr>
          <a:xfrm>
            <a:off x="5824728" y="3703320"/>
            <a:ext cx="2249424" cy="914400"/>
          </a:xfrm>
          <a:prstGeom prst="rect">
            <a:avLst/>
          </a:prstGeom>
          <a:noFill/>
          <a:ln/>
        </p:spPr>
        <p:txBody>
          <a:bodyPr wrap="square" lIns="0" tIns="0" rIns="0" bIns="0" rtlCol="0" anchor="t">
            <a:normAutofit/>
          </a:bodyPr>
          <a:lstStyle/>
          <a:p>
            <a:pPr indent="0" marL="0">
              <a:buNone/>
            </a:pPr>
            <a:r>
              <a:rPr lang="en-US" sz="1000" dirty="0">
                <a:solidFill>
                  <a:srgbClr val="203747"/>
                </a:solidFill>
                <a:latin typeface="Aptos" pitchFamily="34" charset="0"/>
                <a:ea typeface="Aptos" pitchFamily="34" charset="-122"/>
                <a:cs typeface="Aptos" pitchFamily="34" charset="-120"/>
              </a:rPr>
              <a:t>Utility power OR a generator → power need remains met if one is available.</a:t>
            </a:r>
            <a:endParaRPr lang="en-US" sz="1000" dirty="0"/>
          </a:p>
        </p:txBody>
      </p:sp>
      <p:sp>
        <p:nvSpPr>
          <p:cNvPr id="22" name="Shape 20"/>
          <p:cNvSpPr/>
          <p:nvPr/>
        </p:nvSpPr>
        <p:spPr>
          <a:xfrm>
            <a:off x="8503920" y="2907792"/>
            <a:ext cx="2633472" cy="2240280"/>
          </a:xfrm>
          <a:prstGeom prst="roundRect">
            <a:avLst>
              <a:gd name="adj" fmla="val 4898"/>
            </a:avLst>
          </a:prstGeom>
          <a:solidFill>
            <a:srgbClr val="F8F8F6"/>
          </a:solidFill>
          <a:ln w="8890">
            <a:solidFill>
              <a:srgbClr val="EEE9DC"/>
            </a:solidFill>
            <a:prstDash val="solid"/>
          </a:ln>
        </p:spPr>
      </p:sp>
      <p:sp>
        <p:nvSpPr>
          <p:cNvPr id="23" name="Text 21"/>
          <p:cNvSpPr/>
          <p:nvPr/>
        </p:nvSpPr>
        <p:spPr>
          <a:xfrm>
            <a:off x="8686800" y="3154680"/>
            <a:ext cx="1188720" cy="347472"/>
          </a:xfrm>
          <a:prstGeom prst="rect">
            <a:avLst/>
          </a:prstGeom>
          <a:noFill/>
          <a:ln/>
        </p:spPr>
        <p:txBody>
          <a:bodyPr wrap="square" lIns="0" tIns="0" rIns="0" bIns="0" rtlCol="0" anchor="ctr">
            <a:normAutofit/>
          </a:bodyPr>
          <a:lstStyle/>
          <a:p>
            <a:pPr indent="0" marL="0">
              <a:buNone/>
            </a:pPr>
            <a:r>
              <a:rPr lang="en-US" sz="1400" b="1" dirty="0">
                <a:solidFill>
                  <a:srgbClr val="B17B24"/>
                </a:solidFill>
                <a:latin typeface="Aptos" pitchFamily="34" charset="0"/>
                <a:ea typeface="Aptos" pitchFamily="34" charset="-122"/>
                <a:cs typeface="Aptos" pitchFamily="34" charset="-120"/>
              </a:rPr>
              <a:t>ALL</a:t>
            </a:r>
            <a:endParaRPr lang="en-US" sz="1400" dirty="0"/>
          </a:p>
        </p:txBody>
      </p:sp>
      <p:sp>
        <p:nvSpPr>
          <p:cNvPr id="24" name="Text 22"/>
          <p:cNvSpPr/>
          <p:nvPr/>
        </p:nvSpPr>
        <p:spPr>
          <a:xfrm>
            <a:off x="9418320" y="3182112"/>
            <a:ext cx="1463040" cy="274320"/>
          </a:xfrm>
          <a:prstGeom prst="rect">
            <a:avLst/>
          </a:prstGeom>
          <a:noFill/>
          <a:ln/>
        </p:spPr>
        <p:txBody>
          <a:bodyPr wrap="square" lIns="0" tIns="0" rIns="0" bIns="0" rtlCol="0" anchor="ctr">
            <a:normAutofit/>
          </a:bodyPr>
          <a:lstStyle/>
          <a:p>
            <a:pPr algn="r" indent="0" marL="0">
              <a:buNone/>
            </a:pPr>
            <a:r>
              <a:rPr lang="en-US" sz="900" b="1" dirty="0">
                <a:solidFill>
                  <a:srgbClr val="72858D"/>
                </a:solidFill>
                <a:latin typeface="Aptos" pitchFamily="34" charset="0"/>
                <a:ea typeface="Aptos" pitchFamily="34" charset="-122"/>
                <a:cs typeface="Aptos" pitchFamily="34" charset="-120"/>
              </a:rPr>
              <a:t>both are needed</a:t>
            </a:r>
            <a:endParaRPr lang="en-US" sz="900" dirty="0"/>
          </a:p>
        </p:txBody>
      </p:sp>
      <p:sp>
        <p:nvSpPr>
          <p:cNvPr id="25" name="Text 23"/>
          <p:cNvSpPr/>
          <p:nvPr/>
        </p:nvSpPr>
        <p:spPr>
          <a:xfrm>
            <a:off x="8686800" y="3703320"/>
            <a:ext cx="2249424" cy="914400"/>
          </a:xfrm>
          <a:prstGeom prst="rect">
            <a:avLst/>
          </a:prstGeom>
          <a:noFill/>
          <a:ln/>
        </p:spPr>
        <p:txBody>
          <a:bodyPr wrap="square" lIns="0" tIns="0" rIns="0" bIns="0" rtlCol="0" anchor="t">
            <a:normAutofit/>
          </a:bodyPr>
          <a:lstStyle/>
          <a:p>
            <a:pPr indent="0" marL="0">
              <a:buNone/>
            </a:pPr>
            <a:r>
              <a:rPr lang="en-US" sz="1000" dirty="0">
                <a:solidFill>
                  <a:srgbClr val="203747"/>
                </a:solidFill>
                <a:latin typeface="Aptos" pitchFamily="34" charset="0"/>
                <a:ea typeface="Aptos" pitchFamily="34" charset="-122"/>
                <a:cs typeface="Aptos" pitchFamily="34" charset="-120"/>
              </a:rPr>
              <a:t>Power AND network access → the need is unmet if either is unavailable.</a:t>
            </a:r>
            <a:endParaRPr lang="en-US" sz="1000" dirty="0"/>
          </a:p>
        </p:txBody>
      </p:sp>
      <p:sp>
        <p:nvSpPr>
          <p:cNvPr id="25" name="Slide Number Placeholder 0"/>
          <p:cNvSpPr>
            <a:spLocks noGrp="1"/>
          </p:cNvSpPr>
          <p:nvPr>
            <p:ph type="sldNum" sz="quarter" idx="4294967295"/>
          </p:nvPr>
        </p:nvSpPr>
        <p:spPr>
          <a:xfrm>
            <a:off x="11247120" y="6492240"/>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1838D"/>
                </a:solidFill>
                <a:latin typeface="Aptos"/>
                <a:ea typeface="Aptos"/>
                <a:cs typeface="Apto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292608"/>
            <a:ext cx="5943600" cy="182880"/>
          </a:xfrm>
          <a:prstGeom prst="rect">
            <a:avLst/>
          </a:prstGeom>
          <a:noFill/>
          <a:ln/>
        </p:spPr>
        <p:txBody>
          <a:bodyPr wrap="square" lIns="0" tIns="0" rIns="0" bIns="0" rtlCol="0" anchor="ctr">
            <a:normAutofit/>
          </a:bodyPr>
          <a:lstStyle/>
          <a:p>
            <a:pPr indent="0" marL="0">
              <a:buNone/>
            </a:pPr>
            <a:r>
              <a:rPr lang="en-US" sz="800" b="1" spc="120" kern="0" dirty="0">
                <a:solidFill>
                  <a:srgbClr val="5E80AA"/>
                </a:solidFill>
                <a:latin typeface="Aptos" pitchFamily="34" charset="0"/>
                <a:ea typeface="Aptos" pitchFamily="34" charset="-122"/>
                <a:cs typeface="Aptos" pitchFamily="34" charset="-120"/>
              </a:rPr>
              <a:t>EXERCISES</a:t>
            </a:r>
            <a:endParaRPr lang="en-US" sz="8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indent="0" marL="0">
              <a:buNone/>
            </a:pPr>
            <a:r>
              <a:rPr lang="en-US" sz="2500" b="1" dirty="0">
                <a:solidFill>
                  <a:srgbClr val="102638"/>
                </a:solidFill>
                <a:latin typeface="Aptos Display" pitchFamily="34" charset="0"/>
                <a:ea typeface="Aptos Display" pitchFamily="34" charset="-122"/>
                <a:cs typeface="Aptos Display" pitchFamily="34" charset="-120"/>
              </a:rPr>
              <a:t>Three fictional what-if exercises.</a:t>
            </a:r>
            <a:endParaRPr lang="en-US" sz="2500" dirty="0"/>
          </a:p>
        </p:txBody>
      </p:sp>
      <p:sp>
        <p:nvSpPr>
          <p:cNvPr id="4" name="Text 2"/>
          <p:cNvSpPr/>
          <p:nvPr/>
        </p:nvSpPr>
        <p:spPr>
          <a:xfrm>
            <a:off x="585216" y="1152144"/>
            <a:ext cx="10881360" cy="347472"/>
          </a:xfrm>
          <a:prstGeom prst="rect">
            <a:avLst/>
          </a:prstGeom>
          <a:noFill/>
          <a:ln/>
        </p:spPr>
        <p:txBody>
          <a:bodyPr wrap="square" lIns="0" tIns="0" rIns="0" bIns="0" rtlCol="0" anchor="t">
            <a:normAutofit/>
          </a:bodyPr>
          <a:lstStyle/>
          <a:p>
            <a:pPr indent="0" marL="0">
              <a:buNone/>
            </a:pPr>
            <a:r>
              <a:rPr lang="en-US" sz="1200" dirty="0">
                <a:solidFill>
                  <a:srgbClr val="72858D"/>
                </a:solidFill>
                <a:latin typeface="Aptos" pitchFamily="34" charset="0"/>
                <a:ea typeface="Aptos" pitchFamily="34" charset="-122"/>
                <a:cs typeface="Aptos" pitchFamily="34" charset="-120"/>
              </a:rPr>
              <a:t>The same calculation handles a single outage, simultaneous losses and an alternate route.</a:t>
            </a:r>
            <a:endParaRPr lang="en-US" sz="1200" dirty="0"/>
          </a:p>
        </p:txBody>
      </p:sp>
      <p:sp>
        <p:nvSpPr>
          <p:cNvPr id="5" name="Shape 3"/>
          <p:cNvSpPr/>
          <p:nvPr/>
        </p:nvSpPr>
        <p:spPr>
          <a:xfrm>
            <a:off x="566928" y="1618488"/>
            <a:ext cx="11064240" cy="0"/>
          </a:xfrm>
          <a:prstGeom prst="line">
            <a:avLst/>
          </a:prstGeom>
          <a:noFill/>
          <a:ln w="12700">
            <a:solidFill>
              <a:srgbClr val="E0E8EA"/>
            </a:solidFill>
            <a:prstDash val="solid"/>
          </a:ln>
        </p:spPr>
      </p:sp>
      <p:sp>
        <p:nvSpPr>
          <p:cNvPr id="6" name="Text 4"/>
          <p:cNvSpPr/>
          <p:nvPr/>
        </p:nvSpPr>
        <p:spPr>
          <a:xfrm>
            <a:off x="621792" y="1847088"/>
            <a:ext cx="4389120" cy="182880"/>
          </a:xfrm>
          <a:prstGeom prst="rect">
            <a:avLst/>
          </a:prstGeom>
          <a:noFill/>
          <a:ln/>
        </p:spPr>
        <p:txBody>
          <a:bodyPr wrap="square" lIns="0" tIns="0" rIns="0" bIns="0" rtlCol="0" anchor="ctr">
            <a:normAutofit/>
          </a:bodyPr>
          <a:lstStyle/>
          <a:p>
            <a:pPr indent="0" marL="0">
              <a:buNone/>
            </a:pPr>
            <a:r>
              <a:rPr lang="en-US" sz="800" b="1" spc="90" kern="0" dirty="0">
                <a:solidFill>
                  <a:srgbClr val="91A0A6"/>
                </a:solidFill>
                <a:latin typeface="Aptos" pitchFamily="34" charset="0"/>
                <a:ea typeface="Aptos" pitchFamily="34" charset="-122"/>
                <a:cs typeface="Aptos" pitchFamily="34" charset="-120"/>
              </a:rPr>
              <a:t>PLANNING INSIGHT</a:t>
            </a:r>
            <a:endParaRPr lang="en-US" sz="800" dirty="0"/>
          </a:p>
        </p:txBody>
      </p:sp>
      <p:sp>
        <p:nvSpPr>
          <p:cNvPr id="7" name="Shape 5"/>
          <p:cNvSpPr/>
          <p:nvPr/>
        </p:nvSpPr>
        <p:spPr>
          <a:xfrm>
            <a:off x="640080" y="2221992"/>
            <a:ext cx="82296" cy="82296"/>
          </a:xfrm>
          <a:prstGeom prst="ellipse">
            <a:avLst/>
          </a:prstGeom>
          <a:solidFill>
            <a:srgbClr val="5E80AA"/>
          </a:solidFill>
          <a:ln w="12700">
            <a:solidFill>
              <a:srgbClr val="5E80AA">
                <a:alpha val="0"/>
              </a:srgbClr>
            </a:solidFill>
            <a:prstDash val="solid"/>
          </a:ln>
        </p:spPr>
      </p:sp>
      <p:sp>
        <p:nvSpPr>
          <p:cNvPr id="8" name="Text 6"/>
          <p:cNvSpPr/>
          <p:nvPr/>
        </p:nvSpPr>
        <p:spPr>
          <a:xfrm>
            <a:off x="841248" y="2157984"/>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Substation Alpha loses power.</a:t>
            </a:r>
            <a:endParaRPr lang="en-US" sz="1300" dirty="0"/>
          </a:p>
        </p:txBody>
      </p:sp>
      <p:sp>
        <p:nvSpPr>
          <p:cNvPr id="9" name="Shape 7"/>
          <p:cNvSpPr/>
          <p:nvPr/>
        </p:nvSpPr>
        <p:spPr>
          <a:xfrm>
            <a:off x="640080" y="3118104"/>
            <a:ext cx="82296" cy="82296"/>
          </a:xfrm>
          <a:prstGeom prst="ellipse">
            <a:avLst/>
          </a:prstGeom>
          <a:solidFill>
            <a:srgbClr val="5E80AA"/>
          </a:solidFill>
          <a:ln w="12700">
            <a:solidFill>
              <a:srgbClr val="5E80AA">
                <a:alpha val="0"/>
              </a:srgbClr>
            </a:solidFill>
            <a:prstDash val="solid"/>
          </a:ln>
        </p:spPr>
      </p:sp>
      <p:sp>
        <p:nvSpPr>
          <p:cNvPr id="10" name="Text 8"/>
          <p:cNvSpPr/>
          <p:nvPr/>
        </p:nvSpPr>
        <p:spPr>
          <a:xfrm>
            <a:off x="841248" y="3054096"/>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East water pumping loses utility power and backup.</a:t>
            </a:r>
            <a:endParaRPr lang="en-US" sz="1300" dirty="0"/>
          </a:p>
        </p:txBody>
      </p:sp>
      <p:sp>
        <p:nvSpPr>
          <p:cNvPr id="11" name="Shape 9"/>
          <p:cNvSpPr/>
          <p:nvPr/>
        </p:nvSpPr>
        <p:spPr>
          <a:xfrm>
            <a:off x="640080" y="4014216"/>
            <a:ext cx="82296" cy="82296"/>
          </a:xfrm>
          <a:prstGeom prst="ellipse">
            <a:avLst/>
          </a:prstGeom>
          <a:solidFill>
            <a:srgbClr val="5E80AA"/>
          </a:solidFill>
          <a:ln w="12700">
            <a:solidFill>
              <a:srgbClr val="5E80AA">
                <a:alpha val="0"/>
              </a:srgbClr>
            </a:solidFill>
            <a:prstDash val="solid"/>
          </a:ln>
        </p:spPr>
      </p:sp>
      <p:sp>
        <p:nvSpPr>
          <p:cNvPr id="12" name="Text 10"/>
          <p:cNvSpPr/>
          <p:nvPr/>
        </p:nvSpPr>
        <p:spPr>
          <a:xfrm>
            <a:off x="841248" y="3950208"/>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Regional communications go down; radio remains separate.</a:t>
            </a:r>
            <a:endParaRPr lang="en-US" sz="1300" dirty="0"/>
          </a:p>
        </p:txBody>
      </p:sp>
      <p:sp>
        <p:nvSpPr>
          <p:cNvPr id="13" name="Shape 11"/>
          <p:cNvSpPr/>
          <p:nvPr/>
        </p:nvSpPr>
        <p:spPr>
          <a:xfrm>
            <a:off x="612648" y="5175504"/>
            <a:ext cx="4462272" cy="731520"/>
          </a:xfrm>
          <a:prstGeom prst="roundRect">
            <a:avLst>
              <a:gd name="adj" fmla="val 15000"/>
            </a:avLst>
          </a:prstGeom>
          <a:solidFill>
            <a:srgbClr val="EDF2F8"/>
          </a:solidFill>
          <a:ln w="8890">
            <a:solidFill>
              <a:srgbClr val="EDF2F8"/>
            </a:solidFill>
            <a:prstDash val="solid"/>
          </a:ln>
        </p:spPr>
      </p:sp>
      <p:sp>
        <p:nvSpPr>
          <p:cNvPr id="14" name="Text 12"/>
          <p:cNvSpPr/>
          <p:nvPr/>
        </p:nvSpPr>
        <p:spPr>
          <a:xfrm>
            <a:off x="786384" y="5312664"/>
            <a:ext cx="914400" cy="146304"/>
          </a:xfrm>
          <a:prstGeom prst="rect">
            <a:avLst/>
          </a:prstGeom>
          <a:noFill/>
          <a:ln/>
        </p:spPr>
        <p:txBody>
          <a:bodyPr wrap="square" lIns="0" tIns="0" rIns="0" bIns="0" rtlCol="0" anchor="ctr">
            <a:normAutofit/>
          </a:bodyPr>
          <a:lstStyle/>
          <a:p>
            <a:pPr indent="0" marL="0">
              <a:buNone/>
            </a:pPr>
            <a:r>
              <a:rPr lang="en-US" sz="750" b="1" spc="90" kern="0" dirty="0">
                <a:solidFill>
                  <a:srgbClr val="5E80AA"/>
                </a:solidFill>
                <a:latin typeface="Aptos" pitchFamily="34" charset="0"/>
                <a:ea typeface="Aptos" pitchFamily="34" charset="-122"/>
                <a:cs typeface="Aptos" pitchFamily="34" charset="-120"/>
              </a:rPr>
              <a:t>TAKEAWAY</a:t>
            </a:r>
            <a:endParaRPr lang="en-US" sz="750" dirty="0"/>
          </a:p>
        </p:txBody>
      </p:sp>
      <p:sp>
        <p:nvSpPr>
          <p:cNvPr id="15" name="Text 13"/>
          <p:cNvSpPr/>
          <p:nvPr/>
        </p:nvSpPr>
        <p:spPr>
          <a:xfrm>
            <a:off x="786384" y="5504688"/>
            <a:ext cx="4105656" cy="310896"/>
          </a:xfrm>
          <a:prstGeom prst="rect">
            <a:avLst/>
          </a:prstGeom>
          <a:noFill/>
          <a:ln/>
        </p:spPr>
        <p:txBody>
          <a:bodyPr wrap="square" lIns="0" tIns="0" rIns="0" bIns="0" rtlCol="0" anchor="t">
            <a:normAutofit/>
          </a:bodyPr>
          <a:lstStyle/>
          <a:p>
            <a:pPr indent="0" marL="0">
              <a:buNone/>
            </a:pPr>
            <a:r>
              <a:rPr lang="en-US" sz="1030" b="1" dirty="0">
                <a:solidFill>
                  <a:srgbClr val="203747"/>
                </a:solidFill>
                <a:latin typeface="Aptos" pitchFamily="34" charset="0"/>
                <a:ea typeface="Aptos" pitchFamily="34" charset="-122"/>
                <a:cs typeface="Aptos" pitchFamily="34" charset="-120"/>
              </a:rPr>
              <a:t>The exercise rules are repeatable and visible.</a:t>
            </a:r>
            <a:endParaRPr lang="en-US" sz="1030" dirty="0"/>
          </a:p>
        </p:txBody>
      </p:sp>
      <p:sp>
        <p:nvSpPr>
          <p:cNvPr id="16" name="Shape 14"/>
          <p:cNvSpPr/>
          <p:nvPr/>
        </p:nvSpPr>
        <p:spPr>
          <a:xfrm>
            <a:off x="5413248" y="1810512"/>
            <a:ext cx="6172200" cy="4096512"/>
          </a:xfrm>
          <a:prstGeom prst="roundRect">
            <a:avLst>
              <a:gd name="adj" fmla="val 2679"/>
            </a:avLst>
          </a:prstGeom>
          <a:solidFill>
            <a:srgbClr val="FFFFFF"/>
          </a:solidFill>
          <a:ln w="8890">
            <a:solidFill>
              <a:srgbClr val="E0E8EA"/>
            </a:solidFill>
            <a:prstDash val="solid"/>
          </a:ln>
        </p:spPr>
      </p:sp>
      <p:sp>
        <p:nvSpPr>
          <p:cNvPr id="17" name="Text 15"/>
          <p:cNvSpPr/>
          <p:nvPr/>
        </p:nvSpPr>
        <p:spPr>
          <a:xfrm>
            <a:off x="5687568" y="1993392"/>
            <a:ext cx="5577840" cy="274320"/>
          </a:xfrm>
          <a:prstGeom prst="rect">
            <a:avLst/>
          </a:prstGeom>
          <a:noFill/>
          <a:ln/>
        </p:spPr>
        <p:txBody>
          <a:bodyPr wrap="square" lIns="0" tIns="0" rIns="0" bIns="0" rtlCol="0" anchor="ctr">
            <a:normAutofit/>
          </a:bodyPr>
          <a:lstStyle/>
          <a:p>
            <a:pPr indent="0" marL="0">
              <a:buNone/>
            </a:pPr>
            <a:r>
              <a:rPr lang="en-US" sz="1400" b="1" dirty="0">
                <a:solidFill>
                  <a:srgbClr val="102638"/>
                </a:solidFill>
                <a:latin typeface="Aptos Display" pitchFamily="34" charset="0"/>
                <a:ea typeface="Aptos Display" pitchFamily="34" charset="-122"/>
                <a:cs typeface="Aptos Display" pitchFamily="34" charset="-120"/>
              </a:rPr>
              <a:t>The 43-item Northbank demo</a:t>
            </a:r>
            <a:endParaRPr lang="en-US" sz="1400" dirty="0"/>
          </a:p>
        </p:txBody>
      </p:sp>
      <p:sp>
        <p:nvSpPr>
          <p:cNvPr id="18" name="Shape 16"/>
          <p:cNvSpPr/>
          <p:nvPr/>
        </p:nvSpPr>
        <p:spPr>
          <a:xfrm>
            <a:off x="5641848" y="2788920"/>
            <a:ext cx="1734312" cy="1508760"/>
          </a:xfrm>
          <a:prstGeom prst="roundRect">
            <a:avLst>
              <a:gd name="adj" fmla="val 7273"/>
            </a:avLst>
          </a:prstGeom>
          <a:solidFill>
            <a:srgbClr val="EDF2F8"/>
          </a:solidFill>
          <a:ln w="8890">
            <a:solidFill>
              <a:srgbClr val="EDF2F8"/>
            </a:solidFill>
            <a:prstDash val="solid"/>
          </a:ln>
        </p:spPr>
      </p:sp>
      <p:sp>
        <p:nvSpPr>
          <p:cNvPr id="19" name="Shape 17"/>
          <p:cNvSpPr/>
          <p:nvPr/>
        </p:nvSpPr>
        <p:spPr>
          <a:xfrm>
            <a:off x="5641848" y="2788920"/>
            <a:ext cx="45720" cy="1508760"/>
          </a:xfrm>
          <a:prstGeom prst="rect">
            <a:avLst/>
          </a:prstGeom>
          <a:solidFill>
            <a:srgbClr val="5E80AA"/>
          </a:solidFill>
          <a:ln w="12700">
            <a:solidFill>
              <a:srgbClr val="5E80AA">
                <a:alpha val="0"/>
              </a:srgbClr>
            </a:solidFill>
            <a:prstDash val="solid"/>
          </a:ln>
        </p:spPr>
      </p:sp>
      <p:sp>
        <p:nvSpPr>
          <p:cNvPr id="20" name="Text 18"/>
          <p:cNvSpPr/>
          <p:nvPr/>
        </p:nvSpPr>
        <p:spPr>
          <a:xfrm>
            <a:off x="5806440" y="2944368"/>
            <a:ext cx="1423416" cy="228600"/>
          </a:xfrm>
          <a:prstGeom prst="rect">
            <a:avLst/>
          </a:prstGeom>
          <a:noFill/>
          <a:ln/>
        </p:spPr>
        <p:txBody>
          <a:bodyPr wrap="square" lIns="0" tIns="0" rIns="0" bIns="0" rtlCol="0" anchor="t">
            <a:normAutofit/>
          </a:bodyPr>
          <a:lstStyle/>
          <a:p>
            <a:pPr indent="0" marL="0">
              <a:buNone/>
            </a:pPr>
            <a:r>
              <a:rPr lang="en-US" sz="1000" b="1" dirty="0">
                <a:solidFill>
                  <a:srgbClr val="102638"/>
                </a:solidFill>
                <a:latin typeface="Aptos" pitchFamily="34" charset="0"/>
                <a:ea typeface="Aptos" pitchFamily="34" charset="-122"/>
                <a:cs typeface="Aptos" pitchFamily="34" charset="-120"/>
              </a:rPr>
              <a:t>Electricity</a:t>
            </a:r>
            <a:endParaRPr lang="en-US" sz="1000" dirty="0"/>
          </a:p>
        </p:txBody>
      </p:sp>
      <p:sp>
        <p:nvSpPr>
          <p:cNvPr id="21" name="Text 19"/>
          <p:cNvSpPr/>
          <p:nvPr/>
        </p:nvSpPr>
        <p:spPr>
          <a:xfrm>
            <a:off x="5806440" y="3291840"/>
            <a:ext cx="1423416" cy="886968"/>
          </a:xfrm>
          <a:prstGeom prst="rect">
            <a:avLst/>
          </a:prstGeom>
          <a:noFill/>
          <a:ln/>
        </p:spPr>
        <p:txBody>
          <a:bodyPr wrap="square" lIns="0" tIns="0" rIns="0" bIns="0" rtlCol="0" anchor="t">
            <a:normAutofit/>
          </a:bodyPr>
          <a:lstStyle/>
          <a:p>
            <a:pPr indent="0" marL="0">
              <a:buNone/>
            </a:pPr>
            <a:r>
              <a:rPr lang="en-US" sz="920" dirty="0">
                <a:solidFill>
                  <a:srgbClr val="72858D"/>
                </a:solidFill>
                <a:latin typeface="Aptos" pitchFamily="34" charset="0"/>
                <a:ea typeface="Aptos" pitchFamily="34" charset="-122"/>
                <a:cs typeface="Aptos" pitchFamily="34" charset="-120"/>
              </a:rPr>
              <a:t>Utility and backup generation</a:t>
            </a:r>
            <a:endParaRPr lang="en-US" sz="920" dirty="0"/>
          </a:p>
        </p:txBody>
      </p:sp>
      <p:sp>
        <p:nvSpPr>
          <p:cNvPr id="22" name="Shape 20"/>
          <p:cNvSpPr/>
          <p:nvPr/>
        </p:nvSpPr>
        <p:spPr>
          <a:xfrm>
            <a:off x="7632192" y="2788920"/>
            <a:ext cx="1734312" cy="1508760"/>
          </a:xfrm>
          <a:prstGeom prst="roundRect">
            <a:avLst>
              <a:gd name="adj" fmla="val 7273"/>
            </a:avLst>
          </a:prstGeom>
          <a:solidFill>
            <a:srgbClr val="F7FAFA"/>
          </a:solidFill>
          <a:ln w="8890">
            <a:solidFill>
              <a:srgbClr val="E0E8EA"/>
            </a:solidFill>
            <a:prstDash val="solid"/>
          </a:ln>
        </p:spPr>
      </p:sp>
      <p:sp>
        <p:nvSpPr>
          <p:cNvPr id="23" name="Shape 21"/>
          <p:cNvSpPr/>
          <p:nvPr/>
        </p:nvSpPr>
        <p:spPr>
          <a:xfrm>
            <a:off x="7632192" y="2788920"/>
            <a:ext cx="45720" cy="1508760"/>
          </a:xfrm>
          <a:prstGeom prst="rect">
            <a:avLst/>
          </a:prstGeom>
          <a:solidFill>
            <a:srgbClr val="5E80AA"/>
          </a:solidFill>
          <a:ln w="12700">
            <a:solidFill>
              <a:srgbClr val="5E80AA">
                <a:alpha val="0"/>
              </a:srgbClr>
            </a:solidFill>
            <a:prstDash val="solid"/>
          </a:ln>
        </p:spPr>
      </p:sp>
      <p:sp>
        <p:nvSpPr>
          <p:cNvPr id="24" name="Text 22"/>
          <p:cNvSpPr/>
          <p:nvPr/>
        </p:nvSpPr>
        <p:spPr>
          <a:xfrm>
            <a:off x="7796784" y="2944368"/>
            <a:ext cx="1423416" cy="228600"/>
          </a:xfrm>
          <a:prstGeom prst="rect">
            <a:avLst/>
          </a:prstGeom>
          <a:noFill/>
          <a:ln/>
        </p:spPr>
        <p:txBody>
          <a:bodyPr wrap="square" lIns="0" tIns="0" rIns="0" bIns="0" rtlCol="0" anchor="t">
            <a:normAutofit/>
          </a:bodyPr>
          <a:lstStyle/>
          <a:p>
            <a:pPr indent="0" marL="0">
              <a:buNone/>
            </a:pPr>
            <a:r>
              <a:rPr lang="en-US" sz="1000" b="1" dirty="0">
                <a:solidFill>
                  <a:srgbClr val="102638"/>
                </a:solidFill>
                <a:latin typeface="Aptos" pitchFamily="34" charset="0"/>
                <a:ea typeface="Aptos" pitchFamily="34" charset="-122"/>
                <a:cs typeface="Aptos" pitchFamily="34" charset="-120"/>
              </a:rPr>
              <a:t>Water</a:t>
            </a:r>
            <a:endParaRPr lang="en-US" sz="1000" dirty="0"/>
          </a:p>
        </p:txBody>
      </p:sp>
      <p:sp>
        <p:nvSpPr>
          <p:cNvPr id="25" name="Text 23"/>
          <p:cNvSpPr/>
          <p:nvPr/>
        </p:nvSpPr>
        <p:spPr>
          <a:xfrm>
            <a:off x="7796784" y="3291840"/>
            <a:ext cx="1423416" cy="886968"/>
          </a:xfrm>
          <a:prstGeom prst="rect">
            <a:avLst/>
          </a:prstGeom>
          <a:noFill/>
          <a:ln/>
        </p:spPr>
        <p:txBody>
          <a:bodyPr wrap="square" lIns="0" tIns="0" rIns="0" bIns="0" rtlCol="0" anchor="t">
            <a:normAutofit/>
          </a:bodyPr>
          <a:lstStyle/>
          <a:p>
            <a:pPr indent="0" marL="0">
              <a:buNone/>
            </a:pPr>
            <a:r>
              <a:rPr lang="en-US" sz="920" dirty="0">
                <a:solidFill>
                  <a:srgbClr val="72858D"/>
                </a:solidFill>
                <a:latin typeface="Aptos" pitchFamily="34" charset="0"/>
                <a:ea typeface="Aptos" pitchFamily="34" charset="-122"/>
                <a:cs typeface="Aptos" pitchFamily="34" charset="-120"/>
              </a:rPr>
              <a:t>Treatment, pumps and users</a:t>
            </a:r>
            <a:endParaRPr lang="en-US" sz="920" dirty="0"/>
          </a:p>
        </p:txBody>
      </p:sp>
      <p:sp>
        <p:nvSpPr>
          <p:cNvPr id="26" name="Shape 24"/>
          <p:cNvSpPr/>
          <p:nvPr/>
        </p:nvSpPr>
        <p:spPr>
          <a:xfrm>
            <a:off x="9622536" y="2788920"/>
            <a:ext cx="1734312" cy="1508760"/>
          </a:xfrm>
          <a:prstGeom prst="roundRect">
            <a:avLst>
              <a:gd name="adj" fmla="val 7273"/>
            </a:avLst>
          </a:prstGeom>
          <a:solidFill>
            <a:srgbClr val="F7FAFA"/>
          </a:solidFill>
          <a:ln w="8890">
            <a:solidFill>
              <a:srgbClr val="E0E8EA"/>
            </a:solidFill>
            <a:prstDash val="solid"/>
          </a:ln>
        </p:spPr>
      </p:sp>
      <p:sp>
        <p:nvSpPr>
          <p:cNvPr id="27" name="Shape 25"/>
          <p:cNvSpPr/>
          <p:nvPr/>
        </p:nvSpPr>
        <p:spPr>
          <a:xfrm>
            <a:off x="9622536" y="2788920"/>
            <a:ext cx="45720" cy="1508760"/>
          </a:xfrm>
          <a:prstGeom prst="rect">
            <a:avLst/>
          </a:prstGeom>
          <a:solidFill>
            <a:srgbClr val="5E80AA"/>
          </a:solidFill>
          <a:ln w="12700">
            <a:solidFill>
              <a:srgbClr val="5E80AA">
                <a:alpha val="0"/>
              </a:srgbClr>
            </a:solidFill>
            <a:prstDash val="solid"/>
          </a:ln>
        </p:spPr>
      </p:sp>
      <p:sp>
        <p:nvSpPr>
          <p:cNvPr id="28" name="Text 26"/>
          <p:cNvSpPr/>
          <p:nvPr/>
        </p:nvSpPr>
        <p:spPr>
          <a:xfrm>
            <a:off x="9787128" y="2944368"/>
            <a:ext cx="1423416" cy="228600"/>
          </a:xfrm>
          <a:prstGeom prst="rect">
            <a:avLst/>
          </a:prstGeom>
          <a:noFill/>
          <a:ln/>
        </p:spPr>
        <p:txBody>
          <a:bodyPr wrap="square" lIns="0" tIns="0" rIns="0" bIns="0" rtlCol="0" anchor="t">
            <a:normAutofit/>
          </a:bodyPr>
          <a:lstStyle/>
          <a:p>
            <a:pPr indent="0" marL="0">
              <a:buNone/>
            </a:pPr>
            <a:r>
              <a:rPr lang="en-US" sz="1000" b="1" dirty="0">
                <a:solidFill>
                  <a:srgbClr val="102638"/>
                </a:solidFill>
                <a:latin typeface="Aptos" pitchFamily="34" charset="0"/>
                <a:ea typeface="Aptos" pitchFamily="34" charset="-122"/>
                <a:cs typeface="Aptos" pitchFamily="34" charset="-120"/>
              </a:rPr>
              <a:t>Communications</a:t>
            </a:r>
            <a:endParaRPr lang="en-US" sz="1000" dirty="0"/>
          </a:p>
        </p:txBody>
      </p:sp>
      <p:sp>
        <p:nvSpPr>
          <p:cNvPr id="29" name="Text 27"/>
          <p:cNvSpPr/>
          <p:nvPr/>
        </p:nvSpPr>
        <p:spPr>
          <a:xfrm>
            <a:off x="9787128" y="3291840"/>
            <a:ext cx="1423416" cy="886968"/>
          </a:xfrm>
          <a:prstGeom prst="rect">
            <a:avLst/>
          </a:prstGeom>
          <a:noFill/>
          <a:ln/>
        </p:spPr>
        <p:txBody>
          <a:bodyPr wrap="square" lIns="0" tIns="0" rIns="0" bIns="0" rtlCol="0" anchor="t">
            <a:normAutofit/>
          </a:bodyPr>
          <a:lstStyle/>
          <a:p>
            <a:pPr indent="0" marL="0">
              <a:buNone/>
            </a:pPr>
            <a:r>
              <a:rPr lang="en-US" sz="920" dirty="0">
                <a:solidFill>
                  <a:srgbClr val="72858D"/>
                </a:solidFill>
                <a:latin typeface="Aptos" pitchFamily="34" charset="0"/>
                <a:ea typeface="Aptos" pitchFamily="34" charset="-122"/>
                <a:cs typeface="Aptos" pitchFamily="34" charset="-120"/>
              </a:rPr>
              <a:t>Telecom, fiber and radio</a:t>
            </a:r>
            <a:endParaRPr lang="en-US" sz="920" dirty="0"/>
          </a:p>
        </p:txBody>
      </p:sp>
      <p:sp>
        <p:nvSpPr>
          <p:cNvPr id="25" name="Slide Number Placeholder 0"/>
          <p:cNvSpPr>
            <a:spLocks noGrp="1"/>
          </p:cNvSpPr>
          <p:nvPr>
            <p:ph type="sldNum" sz="quarter" idx="4294967295"/>
          </p:nvPr>
        </p:nvSpPr>
        <p:spPr>
          <a:xfrm>
            <a:off x="11247120" y="6492240"/>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1838D"/>
                </a:solidFill>
                <a:latin typeface="Aptos"/>
                <a:ea typeface="Aptos"/>
                <a:cs typeface="Apto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292608"/>
            <a:ext cx="5943600" cy="182880"/>
          </a:xfrm>
          <a:prstGeom prst="rect">
            <a:avLst/>
          </a:prstGeom>
          <a:noFill/>
          <a:ln/>
        </p:spPr>
        <p:txBody>
          <a:bodyPr wrap="square" lIns="0" tIns="0" rIns="0" bIns="0" rtlCol="0" anchor="ctr">
            <a:normAutofit/>
          </a:bodyPr>
          <a:lstStyle/>
          <a:p>
            <a:pPr indent="0" marL="0">
              <a:buNone/>
            </a:pPr>
            <a:r>
              <a:rPr lang="en-US" sz="800" b="1" spc="120" kern="0" dirty="0">
                <a:solidFill>
                  <a:srgbClr val="C7543F"/>
                </a:solidFill>
                <a:latin typeface="Aptos" pitchFamily="34" charset="0"/>
                <a:ea typeface="Aptos" pitchFamily="34" charset="-122"/>
                <a:cs typeface="Aptos" pitchFamily="34" charset="-120"/>
              </a:rPr>
              <a:t>DEMO RESULT</a:t>
            </a:r>
            <a:endParaRPr lang="en-US" sz="8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indent="0" marL="0">
              <a:buNone/>
            </a:pPr>
            <a:r>
              <a:rPr lang="en-US" sz="2500" b="1" dirty="0">
                <a:solidFill>
                  <a:srgbClr val="102638"/>
                </a:solidFill>
                <a:latin typeface="Aptos Display" pitchFamily="34" charset="0"/>
                <a:ea typeface="Aptos Display" pitchFamily="34" charset="-122"/>
                <a:cs typeface="Aptos Display" pitchFamily="34" charset="-120"/>
              </a:rPr>
              <a:t>Alpha outage: what the demo records say.</a:t>
            </a:r>
            <a:endParaRPr lang="en-US" sz="2500" dirty="0"/>
          </a:p>
        </p:txBody>
      </p:sp>
      <p:sp>
        <p:nvSpPr>
          <p:cNvPr id="4" name="Text 2"/>
          <p:cNvSpPr/>
          <p:nvPr/>
        </p:nvSpPr>
        <p:spPr>
          <a:xfrm>
            <a:off x="585216" y="1152144"/>
            <a:ext cx="10881360" cy="347472"/>
          </a:xfrm>
          <a:prstGeom prst="rect">
            <a:avLst/>
          </a:prstGeom>
          <a:noFill/>
          <a:ln/>
        </p:spPr>
        <p:txBody>
          <a:bodyPr wrap="square" lIns="0" tIns="0" rIns="0" bIns="0" rtlCol="0" anchor="t">
            <a:normAutofit/>
          </a:bodyPr>
          <a:lstStyle/>
          <a:p>
            <a:pPr indent="0" marL="0">
              <a:buNone/>
            </a:pPr>
            <a:r>
              <a:rPr lang="en-US" sz="1200" dirty="0">
                <a:solidFill>
                  <a:srgbClr val="72858D"/>
                </a:solidFill>
                <a:latin typeface="Aptos" pitchFamily="34" charset="0"/>
                <a:ea typeface="Aptos" pitchFamily="34" charset="-122"/>
                <a:cs typeface="Aptos" pitchFamily="34" charset="-120"/>
              </a:rPr>
              <a:t>Some services remain available under their declared backup rules; other recorded paths are affected.</a:t>
            </a:r>
            <a:endParaRPr lang="en-US" sz="1200" dirty="0"/>
          </a:p>
        </p:txBody>
      </p:sp>
      <p:sp>
        <p:nvSpPr>
          <p:cNvPr id="5" name="Shape 3"/>
          <p:cNvSpPr/>
          <p:nvPr/>
        </p:nvSpPr>
        <p:spPr>
          <a:xfrm>
            <a:off x="566928" y="1618488"/>
            <a:ext cx="11064240" cy="0"/>
          </a:xfrm>
          <a:prstGeom prst="line">
            <a:avLst/>
          </a:prstGeom>
          <a:noFill/>
          <a:ln w="12700">
            <a:solidFill>
              <a:srgbClr val="E0E8EA"/>
            </a:solidFill>
            <a:prstDash val="solid"/>
          </a:ln>
        </p:spPr>
      </p:sp>
      <p:sp>
        <p:nvSpPr>
          <p:cNvPr id="6" name="Text 4"/>
          <p:cNvSpPr/>
          <p:nvPr/>
        </p:nvSpPr>
        <p:spPr>
          <a:xfrm>
            <a:off x="621792" y="1847088"/>
            <a:ext cx="4389120" cy="182880"/>
          </a:xfrm>
          <a:prstGeom prst="rect">
            <a:avLst/>
          </a:prstGeom>
          <a:noFill/>
          <a:ln/>
        </p:spPr>
        <p:txBody>
          <a:bodyPr wrap="square" lIns="0" tIns="0" rIns="0" bIns="0" rtlCol="0" anchor="ctr">
            <a:normAutofit/>
          </a:bodyPr>
          <a:lstStyle/>
          <a:p>
            <a:pPr indent="0" marL="0">
              <a:buNone/>
            </a:pPr>
            <a:r>
              <a:rPr lang="en-US" sz="800" b="1" spc="90" kern="0" dirty="0">
                <a:solidFill>
                  <a:srgbClr val="91A0A6"/>
                </a:solidFill>
                <a:latin typeface="Aptos" pitchFamily="34" charset="0"/>
                <a:ea typeface="Aptos" pitchFamily="34" charset="-122"/>
                <a:cs typeface="Aptos" pitchFamily="34" charset="-120"/>
              </a:rPr>
              <a:t>PLANNING INSIGHT</a:t>
            </a:r>
            <a:endParaRPr lang="en-US" sz="800" dirty="0"/>
          </a:p>
        </p:txBody>
      </p:sp>
      <p:sp>
        <p:nvSpPr>
          <p:cNvPr id="7" name="Shape 5"/>
          <p:cNvSpPr/>
          <p:nvPr/>
        </p:nvSpPr>
        <p:spPr>
          <a:xfrm>
            <a:off x="640080" y="2221992"/>
            <a:ext cx="82296" cy="82296"/>
          </a:xfrm>
          <a:prstGeom prst="ellipse">
            <a:avLst/>
          </a:prstGeom>
          <a:solidFill>
            <a:srgbClr val="C7543F"/>
          </a:solidFill>
          <a:ln w="12700">
            <a:solidFill>
              <a:srgbClr val="C7543F">
                <a:alpha val="0"/>
              </a:srgbClr>
            </a:solidFill>
            <a:prstDash val="solid"/>
          </a:ln>
        </p:spPr>
      </p:sp>
      <p:sp>
        <p:nvSpPr>
          <p:cNvPr id="8" name="Text 6"/>
          <p:cNvSpPr/>
          <p:nvPr/>
        </p:nvSpPr>
        <p:spPr>
          <a:xfrm>
            <a:off x="841248" y="2157984"/>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17 unavailable entries: the starting site plus 16 downstream results.</a:t>
            </a:r>
            <a:endParaRPr lang="en-US" sz="1300" dirty="0"/>
          </a:p>
        </p:txBody>
      </p:sp>
      <p:sp>
        <p:nvSpPr>
          <p:cNvPr id="9" name="Shape 7"/>
          <p:cNvSpPr/>
          <p:nvPr/>
        </p:nvSpPr>
        <p:spPr>
          <a:xfrm>
            <a:off x="640080" y="3118104"/>
            <a:ext cx="82296" cy="82296"/>
          </a:xfrm>
          <a:prstGeom prst="ellipse">
            <a:avLst/>
          </a:prstGeom>
          <a:solidFill>
            <a:srgbClr val="C7543F"/>
          </a:solidFill>
          <a:ln w="12700">
            <a:solidFill>
              <a:srgbClr val="C7543F">
                <a:alpha val="0"/>
              </a:srgbClr>
            </a:solidFill>
            <a:prstDash val="solid"/>
          </a:ln>
        </p:spPr>
      </p:sp>
      <p:sp>
        <p:nvSpPr>
          <p:cNvPr id="10" name="Text 8"/>
          <p:cNvSpPr/>
          <p:nvPr/>
        </p:nvSpPr>
        <p:spPr>
          <a:xfrm>
            <a:off x="841248" y="3054096"/>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Water treatment remains available through its declared solar backup.</a:t>
            </a:r>
            <a:endParaRPr lang="en-US" sz="1300" dirty="0"/>
          </a:p>
        </p:txBody>
      </p:sp>
      <p:sp>
        <p:nvSpPr>
          <p:cNvPr id="11" name="Shape 9"/>
          <p:cNvSpPr/>
          <p:nvPr/>
        </p:nvSpPr>
        <p:spPr>
          <a:xfrm>
            <a:off x="640080" y="4014216"/>
            <a:ext cx="82296" cy="82296"/>
          </a:xfrm>
          <a:prstGeom prst="ellipse">
            <a:avLst/>
          </a:prstGeom>
          <a:solidFill>
            <a:srgbClr val="C7543F"/>
          </a:solidFill>
          <a:ln w="12700">
            <a:solidFill>
              <a:srgbClr val="C7543F">
                <a:alpha val="0"/>
              </a:srgbClr>
            </a:solidFill>
            <a:prstDash val="solid"/>
          </a:ln>
        </p:spPr>
      </p:sp>
      <p:sp>
        <p:nvSpPr>
          <p:cNvPr id="12" name="Text 10"/>
          <p:cNvSpPr/>
          <p:nvPr/>
        </p:nvSpPr>
        <p:spPr>
          <a:xfrm>
            <a:off x="841248" y="3950208"/>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2 open paths need review; they are not counted as failures.</a:t>
            </a:r>
            <a:endParaRPr lang="en-US" sz="1300" dirty="0"/>
          </a:p>
        </p:txBody>
      </p:sp>
      <p:sp>
        <p:nvSpPr>
          <p:cNvPr id="13" name="Shape 11"/>
          <p:cNvSpPr/>
          <p:nvPr/>
        </p:nvSpPr>
        <p:spPr>
          <a:xfrm>
            <a:off x="612648" y="5175504"/>
            <a:ext cx="4462272" cy="731520"/>
          </a:xfrm>
          <a:prstGeom prst="roundRect">
            <a:avLst>
              <a:gd name="adj" fmla="val 15000"/>
            </a:avLst>
          </a:prstGeom>
          <a:solidFill>
            <a:srgbClr val="FFF0EB"/>
          </a:solidFill>
          <a:ln w="8890">
            <a:solidFill>
              <a:srgbClr val="FFF0EB"/>
            </a:solidFill>
            <a:prstDash val="solid"/>
          </a:ln>
        </p:spPr>
      </p:sp>
      <p:sp>
        <p:nvSpPr>
          <p:cNvPr id="14" name="Text 12"/>
          <p:cNvSpPr/>
          <p:nvPr/>
        </p:nvSpPr>
        <p:spPr>
          <a:xfrm>
            <a:off x="786384" y="5312664"/>
            <a:ext cx="914400" cy="146304"/>
          </a:xfrm>
          <a:prstGeom prst="rect">
            <a:avLst/>
          </a:prstGeom>
          <a:noFill/>
          <a:ln/>
        </p:spPr>
        <p:txBody>
          <a:bodyPr wrap="square" lIns="0" tIns="0" rIns="0" bIns="0" rtlCol="0" anchor="ctr">
            <a:normAutofit/>
          </a:bodyPr>
          <a:lstStyle/>
          <a:p>
            <a:pPr indent="0" marL="0">
              <a:buNone/>
            </a:pPr>
            <a:r>
              <a:rPr lang="en-US" sz="750" b="1" spc="90" kern="0" dirty="0">
                <a:solidFill>
                  <a:srgbClr val="C7543F"/>
                </a:solidFill>
                <a:latin typeface="Aptos" pitchFamily="34" charset="0"/>
                <a:ea typeface="Aptos" pitchFamily="34" charset="-122"/>
                <a:cs typeface="Aptos" pitchFamily="34" charset="-120"/>
              </a:rPr>
              <a:t>TAKEAWAY</a:t>
            </a:r>
            <a:endParaRPr lang="en-US" sz="750" dirty="0"/>
          </a:p>
        </p:txBody>
      </p:sp>
      <p:sp>
        <p:nvSpPr>
          <p:cNvPr id="15" name="Text 13"/>
          <p:cNvSpPr/>
          <p:nvPr/>
        </p:nvSpPr>
        <p:spPr>
          <a:xfrm>
            <a:off x="786384" y="5504688"/>
            <a:ext cx="4105656" cy="310896"/>
          </a:xfrm>
          <a:prstGeom prst="rect">
            <a:avLst/>
          </a:prstGeom>
          <a:noFill/>
          <a:ln/>
        </p:spPr>
        <p:txBody>
          <a:bodyPr wrap="square" lIns="0" tIns="0" rIns="0" bIns="0" rtlCol="0" anchor="t">
            <a:normAutofit/>
          </a:bodyPr>
          <a:lstStyle/>
          <a:p>
            <a:pPr indent="0" marL="0">
              <a:buNone/>
            </a:pPr>
            <a:r>
              <a:rPr lang="en-US" sz="1030" b="1" dirty="0">
                <a:solidFill>
                  <a:srgbClr val="203747"/>
                </a:solidFill>
                <a:latin typeface="Aptos" pitchFamily="34" charset="0"/>
                <a:ea typeface="Aptos" pitchFamily="34" charset="-122"/>
                <a:cs typeface="Aptos" pitchFamily="34" charset="-120"/>
              </a:rPr>
              <a:t>These are graph results, not predictions of real outages.</a:t>
            </a:r>
            <a:endParaRPr lang="en-US" sz="1030" dirty="0"/>
          </a:p>
        </p:txBody>
      </p:sp>
      <p:sp>
        <p:nvSpPr>
          <p:cNvPr id="16" name="Shape 14"/>
          <p:cNvSpPr/>
          <p:nvPr/>
        </p:nvSpPr>
        <p:spPr>
          <a:xfrm>
            <a:off x="5413248" y="1810512"/>
            <a:ext cx="6172200" cy="4096512"/>
          </a:xfrm>
          <a:prstGeom prst="roundRect">
            <a:avLst>
              <a:gd name="adj" fmla="val 2679"/>
            </a:avLst>
          </a:prstGeom>
          <a:solidFill>
            <a:srgbClr val="FFFFFF"/>
          </a:solidFill>
          <a:ln w="8890">
            <a:solidFill>
              <a:srgbClr val="E0E8EA"/>
            </a:solidFill>
            <a:prstDash val="solid"/>
          </a:ln>
        </p:spPr>
      </p:sp>
      <p:sp>
        <p:nvSpPr>
          <p:cNvPr id="17" name="Text 15"/>
          <p:cNvSpPr/>
          <p:nvPr/>
        </p:nvSpPr>
        <p:spPr>
          <a:xfrm>
            <a:off x="5687568" y="1993392"/>
            <a:ext cx="5577840" cy="274320"/>
          </a:xfrm>
          <a:prstGeom prst="rect">
            <a:avLst/>
          </a:prstGeom>
          <a:noFill/>
          <a:ln/>
        </p:spPr>
        <p:txBody>
          <a:bodyPr wrap="square" lIns="0" tIns="0" rIns="0" bIns="0" rtlCol="0" anchor="ctr">
            <a:normAutofit/>
          </a:bodyPr>
          <a:lstStyle/>
          <a:p>
            <a:pPr indent="0" marL="0">
              <a:buNone/>
            </a:pPr>
            <a:r>
              <a:rPr lang="en-US" sz="1400" b="1" dirty="0">
                <a:solidFill>
                  <a:srgbClr val="102638"/>
                </a:solidFill>
                <a:latin typeface="Aptos Display" pitchFamily="34" charset="0"/>
                <a:ea typeface="Aptos Display" pitchFamily="34" charset="-122"/>
                <a:cs typeface="Aptos Display" pitchFamily="34" charset="-120"/>
              </a:rPr>
              <a:t>One example path · fictional records</a:t>
            </a:r>
            <a:endParaRPr lang="en-US" sz="1400" dirty="0"/>
          </a:p>
        </p:txBody>
      </p:sp>
      <p:sp>
        <p:nvSpPr>
          <p:cNvPr id="18" name="Shape 16"/>
          <p:cNvSpPr/>
          <p:nvPr/>
        </p:nvSpPr>
        <p:spPr>
          <a:xfrm>
            <a:off x="5861304" y="2990088"/>
            <a:ext cx="0" cy="365760"/>
          </a:xfrm>
          <a:prstGeom prst="line">
            <a:avLst/>
          </a:prstGeom>
          <a:noFill/>
          <a:ln w="20320">
            <a:solidFill>
              <a:srgbClr val="C7543F"/>
            </a:solidFill>
            <a:prstDash val="solid"/>
            <a:headEnd type="none"/>
            <a:tailEnd type="triangle"/>
          </a:ln>
        </p:spPr>
      </p:sp>
      <p:sp>
        <p:nvSpPr>
          <p:cNvPr id="19" name="Shape 17"/>
          <p:cNvSpPr/>
          <p:nvPr/>
        </p:nvSpPr>
        <p:spPr>
          <a:xfrm>
            <a:off x="5641848" y="2743200"/>
            <a:ext cx="155448" cy="155448"/>
          </a:xfrm>
          <a:prstGeom prst="ellipse">
            <a:avLst/>
          </a:prstGeom>
          <a:solidFill>
            <a:srgbClr val="FFFFFF"/>
          </a:solidFill>
          <a:ln w="12700">
            <a:solidFill>
              <a:srgbClr val="C7543F"/>
            </a:solidFill>
            <a:prstDash val="solid"/>
          </a:ln>
        </p:spPr>
      </p:sp>
      <p:sp>
        <p:nvSpPr>
          <p:cNvPr id="20" name="Shape 18"/>
          <p:cNvSpPr/>
          <p:nvPr/>
        </p:nvSpPr>
        <p:spPr>
          <a:xfrm>
            <a:off x="6025896" y="2670048"/>
            <a:ext cx="5212080" cy="530352"/>
          </a:xfrm>
          <a:prstGeom prst="roundRect">
            <a:avLst>
              <a:gd name="adj" fmla="val 20690"/>
            </a:avLst>
          </a:prstGeom>
          <a:solidFill>
            <a:srgbClr val="F7FAFA"/>
          </a:solidFill>
          <a:ln w="8890">
            <a:solidFill>
              <a:srgbClr val="E0E8EA"/>
            </a:solidFill>
            <a:prstDash val="solid"/>
          </a:ln>
        </p:spPr>
      </p:sp>
      <p:sp>
        <p:nvSpPr>
          <p:cNvPr id="21" name="Text 19"/>
          <p:cNvSpPr/>
          <p:nvPr/>
        </p:nvSpPr>
        <p:spPr>
          <a:xfrm>
            <a:off x="6208776" y="2743200"/>
            <a:ext cx="1325880" cy="164592"/>
          </a:xfrm>
          <a:prstGeom prst="rect">
            <a:avLst/>
          </a:prstGeom>
          <a:noFill/>
          <a:ln/>
        </p:spPr>
        <p:txBody>
          <a:bodyPr wrap="square" lIns="0" tIns="0" rIns="0" bIns="0" rtlCol="0" anchor="ctr">
            <a:normAutofit/>
          </a:bodyPr>
          <a:lstStyle/>
          <a:p>
            <a:pPr indent="0" marL="0">
              <a:buNone/>
            </a:pPr>
            <a:r>
              <a:rPr lang="en-US" sz="800" b="1" spc="40" kern="0" dirty="0">
                <a:solidFill>
                  <a:srgbClr val="C7543F"/>
                </a:solidFill>
                <a:latin typeface="Aptos" pitchFamily="34" charset="0"/>
                <a:ea typeface="Aptos" pitchFamily="34" charset="-122"/>
                <a:cs typeface="Aptos" pitchFamily="34" charset="-120"/>
              </a:rPr>
              <a:t>Starting disruption</a:t>
            </a:r>
            <a:endParaRPr lang="en-US" sz="800" dirty="0"/>
          </a:p>
        </p:txBody>
      </p:sp>
      <p:sp>
        <p:nvSpPr>
          <p:cNvPr id="22" name="Text 20"/>
          <p:cNvSpPr/>
          <p:nvPr/>
        </p:nvSpPr>
        <p:spPr>
          <a:xfrm>
            <a:off x="7470648" y="2724912"/>
            <a:ext cx="3575304" cy="365760"/>
          </a:xfrm>
          <a:prstGeom prst="rect">
            <a:avLst/>
          </a:prstGeom>
          <a:noFill/>
          <a:ln/>
        </p:spPr>
        <p:txBody>
          <a:bodyPr wrap="square" lIns="0" tIns="0" rIns="0" bIns="0" rtlCol="0" anchor="ctr">
            <a:normAutofit/>
          </a:bodyPr>
          <a:lstStyle/>
          <a:p>
            <a:pPr indent="0" marL="0">
              <a:buNone/>
            </a:pPr>
            <a:r>
              <a:rPr lang="en-US" sz="950" dirty="0">
                <a:solidFill>
                  <a:srgbClr val="203747"/>
                </a:solidFill>
                <a:latin typeface="Aptos" pitchFamily="34" charset="0"/>
                <a:ea typeface="Aptos" pitchFamily="34" charset="-122"/>
                <a:cs typeface="Aptos" pitchFamily="34" charset="-120"/>
              </a:rPr>
              <a:t>Northbank Substation Alpha</a:t>
            </a:r>
            <a:endParaRPr lang="en-US" sz="950" dirty="0"/>
          </a:p>
        </p:txBody>
      </p:sp>
      <p:sp>
        <p:nvSpPr>
          <p:cNvPr id="23" name="Shape 21"/>
          <p:cNvSpPr/>
          <p:nvPr/>
        </p:nvSpPr>
        <p:spPr>
          <a:xfrm>
            <a:off x="5861304" y="3675888"/>
            <a:ext cx="0" cy="365760"/>
          </a:xfrm>
          <a:prstGeom prst="line">
            <a:avLst/>
          </a:prstGeom>
          <a:noFill/>
          <a:ln w="20320">
            <a:solidFill>
              <a:srgbClr val="C7543F"/>
            </a:solidFill>
            <a:prstDash val="solid"/>
            <a:headEnd type="none"/>
            <a:tailEnd type="triangle"/>
          </a:ln>
        </p:spPr>
      </p:sp>
      <p:sp>
        <p:nvSpPr>
          <p:cNvPr id="24" name="Shape 22"/>
          <p:cNvSpPr/>
          <p:nvPr/>
        </p:nvSpPr>
        <p:spPr>
          <a:xfrm>
            <a:off x="5641848" y="3429000"/>
            <a:ext cx="155448" cy="155448"/>
          </a:xfrm>
          <a:prstGeom prst="ellipse">
            <a:avLst/>
          </a:prstGeom>
          <a:solidFill>
            <a:srgbClr val="FFFFFF"/>
          </a:solidFill>
          <a:ln w="12700">
            <a:solidFill>
              <a:srgbClr val="C7543F"/>
            </a:solidFill>
            <a:prstDash val="solid"/>
          </a:ln>
        </p:spPr>
      </p:sp>
      <p:sp>
        <p:nvSpPr>
          <p:cNvPr id="25" name="Shape 23"/>
          <p:cNvSpPr/>
          <p:nvPr/>
        </p:nvSpPr>
        <p:spPr>
          <a:xfrm>
            <a:off x="6025896" y="3355848"/>
            <a:ext cx="5212080" cy="530352"/>
          </a:xfrm>
          <a:prstGeom prst="roundRect">
            <a:avLst>
              <a:gd name="adj" fmla="val 20690"/>
            </a:avLst>
          </a:prstGeom>
          <a:solidFill>
            <a:srgbClr val="F7FAFA"/>
          </a:solidFill>
          <a:ln w="8890">
            <a:solidFill>
              <a:srgbClr val="E0E8EA"/>
            </a:solidFill>
            <a:prstDash val="solid"/>
          </a:ln>
        </p:spPr>
      </p:sp>
      <p:sp>
        <p:nvSpPr>
          <p:cNvPr id="26" name="Text 24"/>
          <p:cNvSpPr/>
          <p:nvPr/>
        </p:nvSpPr>
        <p:spPr>
          <a:xfrm>
            <a:off x="6208776" y="3429000"/>
            <a:ext cx="1325880" cy="164592"/>
          </a:xfrm>
          <a:prstGeom prst="rect">
            <a:avLst/>
          </a:prstGeom>
          <a:noFill/>
          <a:ln/>
        </p:spPr>
        <p:txBody>
          <a:bodyPr wrap="square" lIns="0" tIns="0" rIns="0" bIns="0" rtlCol="0" anchor="ctr">
            <a:normAutofit/>
          </a:bodyPr>
          <a:lstStyle/>
          <a:p>
            <a:pPr indent="0" marL="0">
              <a:buNone/>
            </a:pPr>
            <a:r>
              <a:rPr lang="en-US" sz="800" b="1" spc="40" kern="0" dirty="0">
                <a:solidFill>
                  <a:srgbClr val="C7543F"/>
                </a:solidFill>
                <a:latin typeface="Aptos" pitchFamily="34" charset="0"/>
                <a:ea typeface="Aptos" pitchFamily="34" charset="-122"/>
                <a:cs typeface="Aptos" pitchFamily="34" charset="-120"/>
              </a:rPr>
              <a:t>Affected path</a:t>
            </a:r>
            <a:endParaRPr lang="en-US" sz="800" dirty="0"/>
          </a:p>
        </p:txBody>
      </p:sp>
      <p:sp>
        <p:nvSpPr>
          <p:cNvPr id="27" name="Text 25"/>
          <p:cNvSpPr/>
          <p:nvPr/>
        </p:nvSpPr>
        <p:spPr>
          <a:xfrm>
            <a:off x="7470648" y="3410712"/>
            <a:ext cx="3575304" cy="365760"/>
          </a:xfrm>
          <a:prstGeom prst="rect">
            <a:avLst/>
          </a:prstGeom>
          <a:noFill/>
          <a:ln/>
        </p:spPr>
        <p:txBody>
          <a:bodyPr wrap="square" lIns="0" tIns="0" rIns="0" bIns="0" rtlCol="0" anchor="ctr">
            <a:normAutofit/>
          </a:bodyPr>
          <a:lstStyle/>
          <a:p>
            <a:pPr indent="0" marL="0">
              <a:buNone/>
            </a:pPr>
            <a:r>
              <a:rPr lang="en-US" sz="950" dirty="0">
                <a:solidFill>
                  <a:srgbClr val="203747"/>
                </a:solidFill>
                <a:latin typeface="Aptos" pitchFamily="34" charset="0"/>
                <a:ea typeface="Aptos" pitchFamily="34" charset="-122"/>
                <a:cs typeface="Aptos" pitchFamily="34" charset="-120"/>
              </a:rPr>
              <a:t>Alpha → Data Center → Health Records</a:t>
            </a:r>
            <a:endParaRPr lang="en-US" sz="950" dirty="0"/>
          </a:p>
        </p:txBody>
      </p:sp>
      <p:sp>
        <p:nvSpPr>
          <p:cNvPr id="28" name="Shape 26"/>
          <p:cNvSpPr/>
          <p:nvPr/>
        </p:nvSpPr>
        <p:spPr>
          <a:xfrm>
            <a:off x="5861304" y="4361688"/>
            <a:ext cx="0" cy="365760"/>
          </a:xfrm>
          <a:prstGeom prst="line">
            <a:avLst/>
          </a:prstGeom>
          <a:noFill/>
          <a:ln w="20320">
            <a:solidFill>
              <a:srgbClr val="B17B24"/>
            </a:solidFill>
            <a:prstDash val="solid"/>
            <a:headEnd type="none"/>
            <a:tailEnd type="triangle"/>
          </a:ln>
        </p:spPr>
      </p:sp>
      <p:sp>
        <p:nvSpPr>
          <p:cNvPr id="29" name="Shape 27"/>
          <p:cNvSpPr/>
          <p:nvPr/>
        </p:nvSpPr>
        <p:spPr>
          <a:xfrm>
            <a:off x="5641848" y="4114800"/>
            <a:ext cx="155448" cy="155448"/>
          </a:xfrm>
          <a:prstGeom prst="ellipse">
            <a:avLst/>
          </a:prstGeom>
          <a:solidFill>
            <a:srgbClr val="FFFFFF"/>
          </a:solidFill>
          <a:ln w="12700">
            <a:solidFill>
              <a:srgbClr val="C7543F"/>
            </a:solidFill>
            <a:prstDash val="solid"/>
          </a:ln>
        </p:spPr>
      </p:sp>
      <p:sp>
        <p:nvSpPr>
          <p:cNvPr id="30" name="Shape 28"/>
          <p:cNvSpPr/>
          <p:nvPr/>
        </p:nvSpPr>
        <p:spPr>
          <a:xfrm>
            <a:off x="6025896" y="4041648"/>
            <a:ext cx="5212080" cy="530352"/>
          </a:xfrm>
          <a:prstGeom prst="roundRect">
            <a:avLst>
              <a:gd name="adj" fmla="val 20690"/>
            </a:avLst>
          </a:prstGeom>
          <a:solidFill>
            <a:srgbClr val="F7FAFA"/>
          </a:solidFill>
          <a:ln w="8890">
            <a:solidFill>
              <a:srgbClr val="E0E8EA"/>
            </a:solidFill>
            <a:prstDash val="solid"/>
          </a:ln>
        </p:spPr>
      </p:sp>
      <p:sp>
        <p:nvSpPr>
          <p:cNvPr id="31" name="Text 29"/>
          <p:cNvSpPr/>
          <p:nvPr/>
        </p:nvSpPr>
        <p:spPr>
          <a:xfrm>
            <a:off x="6208776" y="4114800"/>
            <a:ext cx="1325880" cy="164592"/>
          </a:xfrm>
          <a:prstGeom prst="rect">
            <a:avLst/>
          </a:prstGeom>
          <a:noFill/>
          <a:ln/>
        </p:spPr>
        <p:txBody>
          <a:bodyPr wrap="square" lIns="0" tIns="0" rIns="0" bIns="0" rtlCol="0" anchor="ctr">
            <a:normAutofit/>
          </a:bodyPr>
          <a:lstStyle/>
          <a:p>
            <a:pPr indent="0" marL="0">
              <a:buNone/>
            </a:pPr>
            <a:r>
              <a:rPr lang="en-US" sz="800" b="1" spc="40" kern="0" dirty="0">
                <a:solidFill>
                  <a:srgbClr val="C7543F"/>
                </a:solidFill>
                <a:latin typeface="Aptos" pitchFamily="34" charset="0"/>
                <a:ea typeface="Aptos" pitchFamily="34" charset="-122"/>
                <a:cs typeface="Aptos" pitchFamily="34" charset="-120"/>
              </a:rPr>
              <a:t>Affected service</a:t>
            </a:r>
            <a:endParaRPr lang="en-US" sz="800" dirty="0"/>
          </a:p>
        </p:txBody>
      </p:sp>
      <p:sp>
        <p:nvSpPr>
          <p:cNvPr id="32" name="Text 30"/>
          <p:cNvSpPr/>
          <p:nvPr/>
        </p:nvSpPr>
        <p:spPr>
          <a:xfrm>
            <a:off x="7470648" y="4096512"/>
            <a:ext cx="3575304" cy="365760"/>
          </a:xfrm>
          <a:prstGeom prst="rect">
            <a:avLst/>
          </a:prstGeom>
          <a:noFill/>
          <a:ln/>
        </p:spPr>
        <p:txBody>
          <a:bodyPr wrap="square" lIns="0" tIns="0" rIns="0" bIns="0" rtlCol="0" anchor="ctr">
            <a:normAutofit/>
          </a:bodyPr>
          <a:lstStyle/>
          <a:p>
            <a:pPr indent="0" marL="0">
              <a:buNone/>
            </a:pPr>
            <a:r>
              <a:rPr lang="en-US" sz="950" dirty="0">
                <a:solidFill>
                  <a:srgbClr val="203747"/>
                </a:solidFill>
                <a:latin typeface="Aptos" pitchFamily="34" charset="0"/>
                <a:ea typeface="Aptos" pitchFamily="34" charset="-122"/>
                <a:cs typeface="Aptos" pitchFamily="34" charset="-120"/>
              </a:rPr>
              <a:t>Northbank General Hospital</a:t>
            </a:r>
            <a:endParaRPr lang="en-US" sz="950" dirty="0"/>
          </a:p>
        </p:txBody>
      </p:sp>
      <p:sp>
        <p:nvSpPr>
          <p:cNvPr id="33" name="Shape 31"/>
          <p:cNvSpPr/>
          <p:nvPr/>
        </p:nvSpPr>
        <p:spPr>
          <a:xfrm>
            <a:off x="5641848" y="4800600"/>
            <a:ext cx="155448" cy="155448"/>
          </a:xfrm>
          <a:prstGeom prst="ellipse">
            <a:avLst/>
          </a:prstGeom>
          <a:solidFill>
            <a:srgbClr val="FFF4DC"/>
          </a:solidFill>
          <a:ln w="12700">
            <a:solidFill>
              <a:srgbClr val="B17B24"/>
            </a:solidFill>
            <a:prstDash val="solid"/>
          </a:ln>
        </p:spPr>
      </p:sp>
      <p:sp>
        <p:nvSpPr>
          <p:cNvPr id="34" name="Shape 32"/>
          <p:cNvSpPr/>
          <p:nvPr/>
        </p:nvSpPr>
        <p:spPr>
          <a:xfrm>
            <a:off x="6025896" y="4727448"/>
            <a:ext cx="5212080" cy="530352"/>
          </a:xfrm>
          <a:prstGeom prst="roundRect">
            <a:avLst>
              <a:gd name="adj" fmla="val 20690"/>
            </a:avLst>
          </a:prstGeom>
          <a:solidFill>
            <a:srgbClr val="FFF4DC"/>
          </a:solidFill>
          <a:ln w="8890">
            <a:solidFill>
              <a:srgbClr val="EDDBB5"/>
            </a:solidFill>
            <a:prstDash val="solid"/>
          </a:ln>
        </p:spPr>
      </p:sp>
      <p:sp>
        <p:nvSpPr>
          <p:cNvPr id="35" name="Text 33"/>
          <p:cNvSpPr/>
          <p:nvPr/>
        </p:nvSpPr>
        <p:spPr>
          <a:xfrm>
            <a:off x="6208776" y="4800600"/>
            <a:ext cx="1325880" cy="164592"/>
          </a:xfrm>
          <a:prstGeom prst="rect">
            <a:avLst/>
          </a:prstGeom>
          <a:noFill/>
          <a:ln/>
        </p:spPr>
        <p:txBody>
          <a:bodyPr wrap="square" lIns="0" tIns="0" rIns="0" bIns="0" rtlCol="0" anchor="ctr">
            <a:normAutofit/>
          </a:bodyPr>
          <a:lstStyle/>
          <a:p>
            <a:pPr indent="0" marL="0">
              <a:buNone/>
            </a:pPr>
            <a:r>
              <a:rPr lang="en-US" sz="800" b="1" spc="40" kern="0" dirty="0">
                <a:solidFill>
                  <a:srgbClr val="B17B24"/>
                </a:solidFill>
                <a:latin typeface="Aptos" pitchFamily="34" charset="0"/>
                <a:ea typeface="Aptos" pitchFamily="34" charset="-122"/>
                <a:cs typeface="Aptos" pitchFamily="34" charset="-120"/>
              </a:rPr>
              <a:t>Owner review</a:t>
            </a:r>
            <a:endParaRPr lang="en-US" sz="800" dirty="0"/>
          </a:p>
        </p:txBody>
      </p:sp>
      <p:sp>
        <p:nvSpPr>
          <p:cNvPr id="36" name="Text 34"/>
          <p:cNvSpPr/>
          <p:nvPr/>
        </p:nvSpPr>
        <p:spPr>
          <a:xfrm>
            <a:off x="7470648" y="4782312"/>
            <a:ext cx="3575304" cy="365760"/>
          </a:xfrm>
          <a:prstGeom prst="rect">
            <a:avLst/>
          </a:prstGeom>
          <a:noFill/>
          <a:ln/>
        </p:spPr>
        <p:txBody>
          <a:bodyPr wrap="square" lIns="0" tIns="0" rIns="0" bIns="0" rtlCol="0" anchor="ctr">
            <a:normAutofit/>
          </a:bodyPr>
          <a:lstStyle/>
          <a:p>
            <a:pPr indent="0" marL="0">
              <a:buNone/>
            </a:pPr>
            <a:r>
              <a:rPr lang="en-US" sz="950" dirty="0">
                <a:solidFill>
                  <a:srgbClr val="203747"/>
                </a:solidFill>
                <a:latin typeface="Aptos" pitchFamily="34" charset="0"/>
                <a:ea typeface="Aptos" pitchFamily="34" charset="-122"/>
                <a:cs typeface="Aptos" pitchFamily="34" charset="-120"/>
              </a:rPr>
              <a:t>Shelter and archive questions</a:t>
            </a:r>
            <a:endParaRPr lang="en-US" sz="950" dirty="0"/>
          </a:p>
        </p:txBody>
      </p:sp>
      <p:sp>
        <p:nvSpPr>
          <p:cNvPr id="25" name="Slide Number Placeholder 0"/>
          <p:cNvSpPr>
            <a:spLocks noGrp="1"/>
          </p:cNvSpPr>
          <p:nvPr>
            <p:ph type="sldNum" sz="quarter" idx="4294967295"/>
          </p:nvPr>
        </p:nvSpPr>
        <p:spPr>
          <a:xfrm>
            <a:off x="11247120" y="6492240"/>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1838D"/>
                </a:solidFill>
                <a:latin typeface="Aptos"/>
                <a:ea typeface="Aptos"/>
                <a:cs typeface="Apto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292608"/>
            <a:ext cx="5943600" cy="182880"/>
          </a:xfrm>
          <a:prstGeom prst="rect">
            <a:avLst/>
          </a:prstGeom>
          <a:noFill/>
          <a:ln/>
        </p:spPr>
        <p:txBody>
          <a:bodyPr wrap="square" lIns="0" tIns="0" rIns="0" bIns="0" rtlCol="0" anchor="ctr">
            <a:normAutofit/>
          </a:bodyPr>
          <a:lstStyle/>
          <a:p>
            <a:pPr indent="0" marL="0">
              <a:buNone/>
            </a:pPr>
            <a:r>
              <a:rPr lang="en-US" sz="800" b="1" spc="120" kern="0" dirty="0">
                <a:solidFill>
                  <a:srgbClr val="5E80AA"/>
                </a:solidFill>
                <a:latin typeface="Aptos" pitchFamily="34" charset="0"/>
                <a:ea typeface="Aptos" pitchFamily="34" charset="-122"/>
                <a:cs typeface="Aptos" pitchFamily="34" charset="-120"/>
              </a:rPr>
              <a:t>AI ASSISTANCE</a:t>
            </a:r>
            <a:endParaRPr lang="en-US" sz="8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indent="0" marL="0">
              <a:buNone/>
            </a:pPr>
            <a:r>
              <a:rPr lang="en-US" sz="2500" b="1" dirty="0">
                <a:solidFill>
                  <a:srgbClr val="102638"/>
                </a:solidFill>
                <a:latin typeface="Aptos Display" pitchFamily="34" charset="0"/>
                <a:ea typeface="Aptos Display" pitchFamily="34" charset="-122"/>
                <a:cs typeface="Aptos Display" pitchFamily="34" charset="-120"/>
              </a:rPr>
              <a:t>AI can suggest links from plan text.</a:t>
            </a:r>
            <a:endParaRPr lang="en-US" sz="2500" dirty="0"/>
          </a:p>
        </p:txBody>
      </p:sp>
      <p:sp>
        <p:nvSpPr>
          <p:cNvPr id="4" name="Text 2"/>
          <p:cNvSpPr/>
          <p:nvPr/>
        </p:nvSpPr>
        <p:spPr>
          <a:xfrm>
            <a:off x="585216" y="1152144"/>
            <a:ext cx="10881360" cy="347472"/>
          </a:xfrm>
          <a:prstGeom prst="rect">
            <a:avLst/>
          </a:prstGeom>
          <a:noFill/>
          <a:ln/>
        </p:spPr>
        <p:txBody>
          <a:bodyPr wrap="square" lIns="0" tIns="0" rIns="0" bIns="0" rtlCol="0" anchor="t">
            <a:normAutofit/>
          </a:bodyPr>
          <a:lstStyle/>
          <a:p>
            <a:pPr indent="0" marL="0">
              <a:buNone/>
            </a:pPr>
            <a:r>
              <a:rPr lang="en-US" sz="1200" dirty="0">
                <a:solidFill>
                  <a:srgbClr val="72858D"/>
                </a:solidFill>
                <a:latin typeface="Aptos" pitchFamily="34" charset="0"/>
                <a:ea typeface="Aptos" pitchFamily="34" charset="-122"/>
                <a:cs typeface="Aptos" pitchFamily="34" charset="-120"/>
              </a:rPr>
              <a:t>A local model can find a possible relationship and attach the sentence that supports it.</a:t>
            </a:r>
            <a:endParaRPr lang="en-US" sz="1200" dirty="0"/>
          </a:p>
        </p:txBody>
      </p:sp>
      <p:sp>
        <p:nvSpPr>
          <p:cNvPr id="5" name="Shape 3"/>
          <p:cNvSpPr/>
          <p:nvPr/>
        </p:nvSpPr>
        <p:spPr>
          <a:xfrm>
            <a:off x="566928" y="1618488"/>
            <a:ext cx="11064240" cy="0"/>
          </a:xfrm>
          <a:prstGeom prst="line">
            <a:avLst/>
          </a:prstGeom>
          <a:noFill/>
          <a:ln w="12700">
            <a:solidFill>
              <a:srgbClr val="E0E8EA"/>
            </a:solidFill>
            <a:prstDash val="solid"/>
          </a:ln>
        </p:spPr>
      </p:sp>
      <p:sp>
        <p:nvSpPr>
          <p:cNvPr id="6" name="Text 4"/>
          <p:cNvSpPr/>
          <p:nvPr/>
        </p:nvSpPr>
        <p:spPr>
          <a:xfrm>
            <a:off x="621792" y="1847088"/>
            <a:ext cx="4389120" cy="182880"/>
          </a:xfrm>
          <a:prstGeom prst="rect">
            <a:avLst/>
          </a:prstGeom>
          <a:noFill/>
          <a:ln/>
        </p:spPr>
        <p:txBody>
          <a:bodyPr wrap="square" lIns="0" tIns="0" rIns="0" bIns="0" rtlCol="0" anchor="ctr">
            <a:normAutofit/>
          </a:bodyPr>
          <a:lstStyle/>
          <a:p>
            <a:pPr indent="0" marL="0">
              <a:buNone/>
            </a:pPr>
            <a:r>
              <a:rPr lang="en-US" sz="800" b="1" spc="90" kern="0" dirty="0">
                <a:solidFill>
                  <a:srgbClr val="91A0A6"/>
                </a:solidFill>
                <a:latin typeface="Aptos" pitchFamily="34" charset="0"/>
                <a:ea typeface="Aptos" pitchFamily="34" charset="-122"/>
                <a:cs typeface="Aptos" pitchFamily="34" charset="-120"/>
              </a:rPr>
              <a:t>PLANNING INSIGHT</a:t>
            </a:r>
            <a:endParaRPr lang="en-US" sz="800" dirty="0"/>
          </a:p>
        </p:txBody>
      </p:sp>
      <p:sp>
        <p:nvSpPr>
          <p:cNvPr id="7" name="Shape 5"/>
          <p:cNvSpPr/>
          <p:nvPr/>
        </p:nvSpPr>
        <p:spPr>
          <a:xfrm>
            <a:off x="640080" y="2221992"/>
            <a:ext cx="82296" cy="82296"/>
          </a:xfrm>
          <a:prstGeom prst="ellipse">
            <a:avLst/>
          </a:prstGeom>
          <a:solidFill>
            <a:srgbClr val="5E80AA"/>
          </a:solidFill>
          <a:ln w="12700">
            <a:solidFill>
              <a:srgbClr val="5E80AA">
                <a:alpha val="0"/>
              </a:srgbClr>
            </a:solidFill>
            <a:prstDash val="solid"/>
          </a:ln>
        </p:spPr>
      </p:sp>
      <p:sp>
        <p:nvSpPr>
          <p:cNvPr id="8" name="Text 6"/>
          <p:cNvSpPr/>
          <p:nvPr/>
        </p:nvSpPr>
        <p:spPr>
          <a:xfrm>
            <a:off x="841248" y="2157984"/>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Upload fictional plan text in a supported file format.</a:t>
            </a:r>
            <a:endParaRPr lang="en-US" sz="1300" dirty="0"/>
          </a:p>
        </p:txBody>
      </p:sp>
      <p:sp>
        <p:nvSpPr>
          <p:cNvPr id="9" name="Shape 7"/>
          <p:cNvSpPr/>
          <p:nvPr/>
        </p:nvSpPr>
        <p:spPr>
          <a:xfrm>
            <a:off x="640080" y="3118104"/>
            <a:ext cx="82296" cy="82296"/>
          </a:xfrm>
          <a:prstGeom prst="ellipse">
            <a:avLst/>
          </a:prstGeom>
          <a:solidFill>
            <a:srgbClr val="5E80AA"/>
          </a:solidFill>
          <a:ln w="12700">
            <a:solidFill>
              <a:srgbClr val="5E80AA">
                <a:alpha val="0"/>
              </a:srgbClr>
            </a:solidFill>
            <a:prstDash val="solid"/>
          </a:ln>
        </p:spPr>
      </p:sp>
      <p:sp>
        <p:nvSpPr>
          <p:cNvPr id="10" name="Text 8"/>
          <p:cNvSpPr/>
          <p:nvPr/>
        </p:nvSpPr>
        <p:spPr>
          <a:xfrm>
            <a:off x="841248" y="3054096"/>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Match names to services already in the graph.</a:t>
            </a:r>
            <a:endParaRPr lang="en-US" sz="1300" dirty="0"/>
          </a:p>
        </p:txBody>
      </p:sp>
      <p:sp>
        <p:nvSpPr>
          <p:cNvPr id="11" name="Shape 9"/>
          <p:cNvSpPr/>
          <p:nvPr/>
        </p:nvSpPr>
        <p:spPr>
          <a:xfrm>
            <a:off x="640080" y="4014216"/>
            <a:ext cx="82296" cy="82296"/>
          </a:xfrm>
          <a:prstGeom prst="ellipse">
            <a:avLst/>
          </a:prstGeom>
          <a:solidFill>
            <a:srgbClr val="5E80AA"/>
          </a:solidFill>
          <a:ln w="12700">
            <a:solidFill>
              <a:srgbClr val="5E80AA">
                <a:alpha val="0"/>
              </a:srgbClr>
            </a:solidFill>
            <a:prstDash val="solid"/>
          </a:ln>
        </p:spPr>
      </p:sp>
      <p:sp>
        <p:nvSpPr>
          <p:cNvPr id="12" name="Text 10"/>
          <p:cNvSpPr/>
          <p:nvPr/>
        </p:nvSpPr>
        <p:spPr>
          <a:xfrm>
            <a:off x="841248" y="3950208"/>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Send every suggestion to an owner for review.</a:t>
            </a:r>
            <a:endParaRPr lang="en-US" sz="1300" dirty="0"/>
          </a:p>
        </p:txBody>
      </p:sp>
      <p:sp>
        <p:nvSpPr>
          <p:cNvPr id="13" name="Shape 11"/>
          <p:cNvSpPr/>
          <p:nvPr/>
        </p:nvSpPr>
        <p:spPr>
          <a:xfrm>
            <a:off x="612648" y="5175504"/>
            <a:ext cx="4462272" cy="731520"/>
          </a:xfrm>
          <a:prstGeom prst="roundRect">
            <a:avLst>
              <a:gd name="adj" fmla="val 15000"/>
            </a:avLst>
          </a:prstGeom>
          <a:solidFill>
            <a:srgbClr val="EDF2F8"/>
          </a:solidFill>
          <a:ln w="8890">
            <a:solidFill>
              <a:srgbClr val="EDF2F8"/>
            </a:solidFill>
            <a:prstDash val="solid"/>
          </a:ln>
        </p:spPr>
      </p:sp>
      <p:sp>
        <p:nvSpPr>
          <p:cNvPr id="14" name="Text 12"/>
          <p:cNvSpPr/>
          <p:nvPr/>
        </p:nvSpPr>
        <p:spPr>
          <a:xfrm>
            <a:off x="786384" y="5312664"/>
            <a:ext cx="914400" cy="146304"/>
          </a:xfrm>
          <a:prstGeom prst="rect">
            <a:avLst/>
          </a:prstGeom>
          <a:noFill/>
          <a:ln/>
        </p:spPr>
        <p:txBody>
          <a:bodyPr wrap="square" lIns="0" tIns="0" rIns="0" bIns="0" rtlCol="0" anchor="ctr">
            <a:normAutofit/>
          </a:bodyPr>
          <a:lstStyle/>
          <a:p>
            <a:pPr indent="0" marL="0">
              <a:buNone/>
            </a:pPr>
            <a:r>
              <a:rPr lang="en-US" sz="750" b="1" spc="90" kern="0" dirty="0">
                <a:solidFill>
                  <a:srgbClr val="5E80AA"/>
                </a:solidFill>
                <a:latin typeface="Aptos" pitchFamily="34" charset="0"/>
                <a:ea typeface="Aptos" pitchFamily="34" charset="-122"/>
                <a:cs typeface="Aptos" pitchFamily="34" charset="-120"/>
              </a:rPr>
              <a:t>TAKEAWAY</a:t>
            </a:r>
            <a:endParaRPr lang="en-US" sz="750" dirty="0"/>
          </a:p>
        </p:txBody>
      </p:sp>
      <p:sp>
        <p:nvSpPr>
          <p:cNvPr id="15" name="Text 13"/>
          <p:cNvSpPr/>
          <p:nvPr/>
        </p:nvSpPr>
        <p:spPr>
          <a:xfrm>
            <a:off x="786384" y="5504688"/>
            <a:ext cx="4105656" cy="310896"/>
          </a:xfrm>
          <a:prstGeom prst="rect">
            <a:avLst/>
          </a:prstGeom>
          <a:noFill/>
          <a:ln/>
        </p:spPr>
        <p:txBody>
          <a:bodyPr wrap="square" lIns="0" tIns="0" rIns="0" bIns="0" rtlCol="0" anchor="t">
            <a:normAutofit/>
          </a:bodyPr>
          <a:lstStyle/>
          <a:p>
            <a:pPr indent="0" marL="0">
              <a:buNone/>
            </a:pPr>
            <a:r>
              <a:rPr lang="en-US" sz="1030" b="1" dirty="0">
                <a:solidFill>
                  <a:srgbClr val="203747"/>
                </a:solidFill>
                <a:latin typeface="Aptos" pitchFamily="34" charset="0"/>
                <a:ea typeface="Aptos" pitchFamily="34" charset="-122"/>
                <a:cs typeface="Aptos" pitchFamily="34" charset="-120"/>
              </a:rPr>
              <a:t>No cloud AI is required, and AI cannot verify the link.</a:t>
            </a:r>
            <a:endParaRPr lang="en-US" sz="1030" dirty="0"/>
          </a:p>
        </p:txBody>
      </p:sp>
      <p:sp>
        <p:nvSpPr>
          <p:cNvPr id="16" name="Shape 14"/>
          <p:cNvSpPr/>
          <p:nvPr/>
        </p:nvSpPr>
        <p:spPr>
          <a:xfrm>
            <a:off x="5413248" y="1810512"/>
            <a:ext cx="6172200" cy="4096512"/>
          </a:xfrm>
          <a:prstGeom prst="roundRect">
            <a:avLst>
              <a:gd name="adj" fmla="val 2679"/>
            </a:avLst>
          </a:prstGeom>
          <a:solidFill>
            <a:srgbClr val="FFFFFF"/>
          </a:solidFill>
          <a:ln w="8890">
            <a:solidFill>
              <a:srgbClr val="E0E8EA"/>
            </a:solidFill>
            <a:prstDash val="solid"/>
          </a:ln>
        </p:spPr>
      </p:sp>
      <p:sp>
        <p:nvSpPr>
          <p:cNvPr id="17" name="Text 15"/>
          <p:cNvSpPr/>
          <p:nvPr/>
        </p:nvSpPr>
        <p:spPr>
          <a:xfrm>
            <a:off x="5687568" y="1993392"/>
            <a:ext cx="5577840" cy="274320"/>
          </a:xfrm>
          <a:prstGeom prst="rect">
            <a:avLst/>
          </a:prstGeom>
          <a:noFill/>
          <a:ln/>
        </p:spPr>
        <p:txBody>
          <a:bodyPr wrap="square" lIns="0" tIns="0" rIns="0" bIns="0" rtlCol="0" anchor="ctr">
            <a:normAutofit/>
          </a:bodyPr>
          <a:lstStyle/>
          <a:p>
            <a:pPr indent="0" marL="0">
              <a:buNone/>
            </a:pPr>
            <a:r>
              <a:rPr lang="en-US" sz="1400" b="1" dirty="0">
                <a:solidFill>
                  <a:srgbClr val="102638"/>
                </a:solidFill>
                <a:latin typeface="Aptos Display" pitchFamily="34" charset="0"/>
                <a:ea typeface="Aptos Display" pitchFamily="34" charset="-122"/>
                <a:cs typeface="Aptos Display" pitchFamily="34" charset="-120"/>
              </a:rPr>
              <a:t>A suggestion stays a suggestion</a:t>
            </a:r>
            <a:endParaRPr lang="en-US" sz="1400" dirty="0"/>
          </a:p>
        </p:txBody>
      </p:sp>
      <p:sp>
        <p:nvSpPr>
          <p:cNvPr id="18" name="Shape 16"/>
          <p:cNvSpPr/>
          <p:nvPr/>
        </p:nvSpPr>
        <p:spPr>
          <a:xfrm>
            <a:off x="5641848" y="3200400"/>
            <a:ext cx="1168146" cy="1170432"/>
          </a:xfrm>
          <a:prstGeom prst="roundRect">
            <a:avLst>
              <a:gd name="adj" fmla="val 9393"/>
            </a:avLst>
          </a:prstGeom>
          <a:solidFill>
            <a:srgbClr val="EDF2F8"/>
          </a:solidFill>
          <a:ln w="8890">
            <a:solidFill>
              <a:srgbClr val="EDF2F8"/>
            </a:solidFill>
            <a:prstDash val="solid"/>
          </a:ln>
        </p:spPr>
      </p:sp>
      <p:sp>
        <p:nvSpPr>
          <p:cNvPr id="19" name="Shape 17"/>
          <p:cNvSpPr/>
          <p:nvPr/>
        </p:nvSpPr>
        <p:spPr>
          <a:xfrm>
            <a:off x="5769864" y="3346704"/>
            <a:ext cx="228600" cy="228600"/>
          </a:xfrm>
          <a:prstGeom prst="ellipse">
            <a:avLst/>
          </a:prstGeom>
          <a:solidFill>
            <a:srgbClr val="5E80AA"/>
          </a:solidFill>
          <a:ln w="12700">
            <a:solidFill>
              <a:srgbClr val="5E80AA">
                <a:alpha val="0"/>
              </a:srgbClr>
            </a:solidFill>
            <a:prstDash val="solid"/>
          </a:ln>
        </p:spPr>
      </p:sp>
      <p:sp>
        <p:nvSpPr>
          <p:cNvPr id="20" name="Text 18"/>
          <p:cNvSpPr/>
          <p:nvPr/>
        </p:nvSpPr>
        <p:spPr>
          <a:xfrm>
            <a:off x="5769864" y="3675888"/>
            <a:ext cx="948690" cy="274320"/>
          </a:xfrm>
          <a:prstGeom prst="rect">
            <a:avLst/>
          </a:prstGeom>
          <a:noFill/>
          <a:ln/>
        </p:spPr>
        <p:txBody>
          <a:bodyPr wrap="square" lIns="0" tIns="0" rIns="0" bIns="0" rtlCol="0" anchor="ctr">
            <a:normAutofit/>
          </a:bodyPr>
          <a:lstStyle/>
          <a:p>
            <a:pPr indent="0" marL="0">
              <a:buNone/>
            </a:pPr>
            <a:r>
              <a:rPr lang="en-US" sz="1100" b="1" dirty="0">
                <a:solidFill>
                  <a:srgbClr val="102638"/>
                </a:solidFill>
                <a:latin typeface="Aptos" pitchFamily="34" charset="0"/>
                <a:ea typeface="Aptos" pitchFamily="34" charset="-122"/>
                <a:cs typeface="Aptos" pitchFamily="34" charset="-120"/>
              </a:rPr>
              <a:t>Plan text</a:t>
            </a:r>
            <a:endParaRPr lang="en-US" sz="1100" dirty="0"/>
          </a:p>
        </p:txBody>
      </p:sp>
      <p:sp>
        <p:nvSpPr>
          <p:cNvPr id="21" name="Text 19"/>
          <p:cNvSpPr/>
          <p:nvPr/>
        </p:nvSpPr>
        <p:spPr>
          <a:xfrm>
            <a:off x="5769864" y="3968496"/>
            <a:ext cx="948690" cy="292608"/>
          </a:xfrm>
          <a:prstGeom prst="rect">
            <a:avLst/>
          </a:prstGeom>
          <a:noFill/>
          <a:ln/>
        </p:spPr>
        <p:txBody>
          <a:bodyPr wrap="square" lIns="0" tIns="0" rIns="0" bIns="0" rtlCol="0" anchor="t">
            <a:normAutofit/>
          </a:bodyPr>
          <a:lstStyle/>
          <a:p>
            <a:pPr indent="0" marL="0">
              <a:buNone/>
            </a:pPr>
            <a:r>
              <a:rPr lang="en-US" sz="830" dirty="0">
                <a:solidFill>
                  <a:srgbClr val="72858D"/>
                </a:solidFill>
                <a:latin typeface="Aptos" pitchFamily="34" charset="0"/>
                <a:ea typeface="Aptos" pitchFamily="34" charset="-122"/>
                <a:cs typeface="Aptos" pitchFamily="34" charset="-120"/>
              </a:rPr>
              <a:t>Source sentence</a:t>
            </a:r>
            <a:endParaRPr lang="en-US" sz="830" dirty="0"/>
          </a:p>
        </p:txBody>
      </p:sp>
      <p:sp>
        <p:nvSpPr>
          <p:cNvPr id="22" name="Text 20"/>
          <p:cNvSpPr/>
          <p:nvPr/>
        </p:nvSpPr>
        <p:spPr>
          <a:xfrm>
            <a:off x="6823710" y="3630168"/>
            <a:ext cx="182880" cy="256032"/>
          </a:xfrm>
          <a:prstGeom prst="rect">
            <a:avLst/>
          </a:prstGeom>
          <a:noFill/>
          <a:ln/>
        </p:spPr>
        <p:txBody>
          <a:bodyPr wrap="square" lIns="0" tIns="0" rIns="0" bIns="0" rtlCol="0" anchor="ctr">
            <a:normAutofit/>
          </a:bodyPr>
          <a:lstStyle/>
          <a:p>
            <a:pPr algn="ctr" indent="0" marL="0">
              <a:buNone/>
            </a:pPr>
            <a:r>
              <a:rPr lang="en-US" sz="1900" b="1" dirty="0">
                <a:solidFill>
                  <a:srgbClr val="5E80AA"/>
                </a:solidFill>
                <a:latin typeface="Aptos" pitchFamily="34" charset="0"/>
                <a:ea typeface="Aptos" pitchFamily="34" charset="-122"/>
                <a:cs typeface="Aptos" pitchFamily="34" charset="-120"/>
              </a:rPr>
              <a:t>›</a:t>
            </a:r>
            <a:endParaRPr lang="en-US" sz="1900" dirty="0"/>
          </a:p>
        </p:txBody>
      </p:sp>
      <p:sp>
        <p:nvSpPr>
          <p:cNvPr id="23" name="Shape 21"/>
          <p:cNvSpPr/>
          <p:nvPr/>
        </p:nvSpPr>
        <p:spPr>
          <a:xfrm>
            <a:off x="7157466" y="3200400"/>
            <a:ext cx="1168146" cy="1170432"/>
          </a:xfrm>
          <a:prstGeom prst="roundRect">
            <a:avLst>
              <a:gd name="adj" fmla="val 9393"/>
            </a:avLst>
          </a:prstGeom>
          <a:solidFill>
            <a:srgbClr val="F7FAFA"/>
          </a:solidFill>
          <a:ln w="8890">
            <a:solidFill>
              <a:srgbClr val="E0E8EA"/>
            </a:solidFill>
            <a:prstDash val="solid"/>
          </a:ln>
        </p:spPr>
      </p:sp>
      <p:sp>
        <p:nvSpPr>
          <p:cNvPr id="24" name="Shape 22"/>
          <p:cNvSpPr/>
          <p:nvPr/>
        </p:nvSpPr>
        <p:spPr>
          <a:xfrm>
            <a:off x="7285482" y="3346704"/>
            <a:ext cx="228600" cy="228600"/>
          </a:xfrm>
          <a:prstGeom prst="ellipse">
            <a:avLst/>
          </a:prstGeom>
          <a:solidFill>
            <a:srgbClr val="5E80AA"/>
          </a:solidFill>
          <a:ln w="12700">
            <a:solidFill>
              <a:srgbClr val="5E80AA">
                <a:alpha val="0"/>
              </a:srgbClr>
            </a:solidFill>
            <a:prstDash val="solid"/>
          </a:ln>
        </p:spPr>
      </p:sp>
      <p:sp>
        <p:nvSpPr>
          <p:cNvPr id="25" name="Text 23"/>
          <p:cNvSpPr/>
          <p:nvPr/>
        </p:nvSpPr>
        <p:spPr>
          <a:xfrm>
            <a:off x="7285482" y="3675888"/>
            <a:ext cx="948690" cy="274320"/>
          </a:xfrm>
          <a:prstGeom prst="rect">
            <a:avLst/>
          </a:prstGeom>
          <a:noFill/>
          <a:ln/>
        </p:spPr>
        <p:txBody>
          <a:bodyPr wrap="square" lIns="0" tIns="0" rIns="0" bIns="0" rtlCol="0" anchor="ctr">
            <a:normAutofit/>
          </a:bodyPr>
          <a:lstStyle/>
          <a:p>
            <a:pPr indent="0" marL="0">
              <a:buNone/>
            </a:pPr>
            <a:r>
              <a:rPr lang="en-US" sz="1100" b="1" dirty="0">
                <a:solidFill>
                  <a:srgbClr val="102638"/>
                </a:solidFill>
                <a:latin typeface="Aptos" pitchFamily="34" charset="0"/>
                <a:ea typeface="Aptos" pitchFamily="34" charset="-122"/>
                <a:cs typeface="Aptos" pitchFamily="34" charset="-120"/>
              </a:rPr>
              <a:t>Optional local AI</a:t>
            </a:r>
            <a:endParaRPr lang="en-US" sz="1100" dirty="0"/>
          </a:p>
        </p:txBody>
      </p:sp>
      <p:sp>
        <p:nvSpPr>
          <p:cNvPr id="26" name="Text 24"/>
          <p:cNvSpPr/>
          <p:nvPr/>
        </p:nvSpPr>
        <p:spPr>
          <a:xfrm>
            <a:off x="7285482" y="3968496"/>
            <a:ext cx="948690" cy="292608"/>
          </a:xfrm>
          <a:prstGeom prst="rect">
            <a:avLst/>
          </a:prstGeom>
          <a:noFill/>
          <a:ln/>
        </p:spPr>
        <p:txBody>
          <a:bodyPr wrap="square" lIns="0" tIns="0" rIns="0" bIns="0" rtlCol="0" anchor="t">
            <a:normAutofit/>
          </a:bodyPr>
          <a:lstStyle/>
          <a:p>
            <a:pPr indent="0" marL="0">
              <a:buNone/>
            </a:pPr>
            <a:r>
              <a:rPr lang="en-US" sz="830" dirty="0">
                <a:solidFill>
                  <a:srgbClr val="72858D"/>
                </a:solidFill>
                <a:latin typeface="Aptos" pitchFamily="34" charset="0"/>
                <a:ea typeface="Aptos" pitchFamily="34" charset="-122"/>
                <a:cs typeface="Aptos" pitchFamily="34" charset="-120"/>
              </a:rPr>
              <a:t>Find a possible link</a:t>
            </a:r>
            <a:endParaRPr lang="en-US" sz="830" dirty="0"/>
          </a:p>
        </p:txBody>
      </p:sp>
      <p:sp>
        <p:nvSpPr>
          <p:cNvPr id="27" name="Text 25"/>
          <p:cNvSpPr/>
          <p:nvPr/>
        </p:nvSpPr>
        <p:spPr>
          <a:xfrm>
            <a:off x="8339328" y="3630168"/>
            <a:ext cx="182880" cy="256032"/>
          </a:xfrm>
          <a:prstGeom prst="rect">
            <a:avLst/>
          </a:prstGeom>
          <a:noFill/>
          <a:ln/>
        </p:spPr>
        <p:txBody>
          <a:bodyPr wrap="square" lIns="0" tIns="0" rIns="0" bIns="0" rtlCol="0" anchor="ctr">
            <a:normAutofit/>
          </a:bodyPr>
          <a:lstStyle/>
          <a:p>
            <a:pPr algn="ctr" indent="0" marL="0">
              <a:buNone/>
            </a:pPr>
            <a:r>
              <a:rPr lang="en-US" sz="1900" b="1" dirty="0">
                <a:solidFill>
                  <a:srgbClr val="5E80AA"/>
                </a:solidFill>
                <a:latin typeface="Aptos" pitchFamily="34" charset="0"/>
                <a:ea typeface="Aptos" pitchFamily="34" charset="-122"/>
                <a:cs typeface="Aptos" pitchFamily="34" charset="-120"/>
              </a:rPr>
              <a:t>›</a:t>
            </a:r>
            <a:endParaRPr lang="en-US" sz="1900" dirty="0"/>
          </a:p>
        </p:txBody>
      </p:sp>
      <p:sp>
        <p:nvSpPr>
          <p:cNvPr id="28" name="Shape 26"/>
          <p:cNvSpPr/>
          <p:nvPr/>
        </p:nvSpPr>
        <p:spPr>
          <a:xfrm>
            <a:off x="8673084" y="3200400"/>
            <a:ext cx="1168146" cy="1170432"/>
          </a:xfrm>
          <a:prstGeom prst="roundRect">
            <a:avLst>
              <a:gd name="adj" fmla="val 9393"/>
            </a:avLst>
          </a:prstGeom>
          <a:solidFill>
            <a:srgbClr val="F7FAFA"/>
          </a:solidFill>
          <a:ln w="8890">
            <a:solidFill>
              <a:srgbClr val="E0E8EA"/>
            </a:solidFill>
            <a:prstDash val="solid"/>
          </a:ln>
        </p:spPr>
      </p:sp>
      <p:sp>
        <p:nvSpPr>
          <p:cNvPr id="29" name="Shape 27"/>
          <p:cNvSpPr/>
          <p:nvPr/>
        </p:nvSpPr>
        <p:spPr>
          <a:xfrm>
            <a:off x="8801100" y="3346704"/>
            <a:ext cx="228600" cy="228600"/>
          </a:xfrm>
          <a:prstGeom prst="ellipse">
            <a:avLst/>
          </a:prstGeom>
          <a:solidFill>
            <a:srgbClr val="5E80AA"/>
          </a:solidFill>
          <a:ln w="12700">
            <a:solidFill>
              <a:srgbClr val="5E80AA">
                <a:alpha val="0"/>
              </a:srgbClr>
            </a:solidFill>
            <a:prstDash val="solid"/>
          </a:ln>
        </p:spPr>
      </p:sp>
      <p:sp>
        <p:nvSpPr>
          <p:cNvPr id="30" name="Text 28"/>
          <p:cNvSpPr/>
          <p:nvPr/>
        </p:nvSpPr>
        <p:spPr>
          <a:xfrm>
            <a:off x="8801100" y="3675888"/>
            <a:ext cx="948690" cy="274320"/>
          </a:xfrm>
          <a:prstGeom prst="rect">
            <a:avLst/>
          </a:prstGeom>
          <a:noFill/>
          <a:ln/>
        </p:spPr>
        <p:txBody>
          <a:bodyPr wrap="square" lIns="0" tIns="0" rIns="0" bIns="0" rtlCol="0" anchor="ctr">
            <a:normAutofit/>
          </a:bodyPr>
          <a:lstStyle/>
          <a:p>
            <a:pPr indent="0" marL="0">
              <a:buNone/>
            </a:pPr>
            <a:r>
              <a:rPr lang="en-US" sz="1100" b="1" dirty="0">
                <a:solidFill>
                  <a:srgbClr val="102638"/>
                </a:solidFill>
                <a:latin typeface="Aptos" pitchFamily="34" charset="0"/>
                <a:ea typeface="Aptos" pitchFamily="34" charset="-122"/>
                <a:cs typeface="Aptos" pitchFamily="34" charset="-120"/>
              </a:rPr>
              <a:t>Proposed link</a:t>
            </a:r>
            <a:endParaRPr lang="en-US" sz="1100" dirty="0"/>
          </a:p>
        </p:txBody>
      </p:sp>
      <p:sp>
        <p:nvSpPr>
          <p:cNvPr id="31" name="Text 29"/>
          <p:cNvSpPr/>
          <p:nvPr/>
        </p:nvSpPr>
        <p:spPr>
          <a:xfrm>
            <a:off x="8801100" y="3968496"/>
            <a:ext cx="948690" cy="292608"/>
          </a:xfrm>
          <a:prstGeom prst="rect">
            <a:avLst/>
          </a:prstGeom>
          <a:noFill/>
          <a:ln/>
        </p:spPr>
        <p:txBody>
          <a:bodyPr wrap="square" lIns="0" tIns="0" rIns="0" bIns="0" rtlCol="0" anchor="t">
            <a:normAutofit/>
          </a:bodyPr>
          <a:lstStyle/>
          <a:p>
            <a:pPr indent="0" marL="0">
              <a:buNone/>
            </a:pPr>
            <a:r>
              <a:rPr lang="en-US" sz="830" dirty="0">
                <a:solidFill>
                  <a:srgbClr val="72858D"/>
                </a:solidFill>
                <a:latin typeface="Aptos" pitchFamily="34" charset="0"/>
                <a:ea typeface="Aptos" pitchFamily="34" charset="-122"/>
                <a:cs typeface="Aptos" pitchFamily="34" charset="-120"/>
              </a:rPr>
              <a:t>Waits for review</a:t>
            </a:r>
            <a:endParaRPr lang="en-US" sz="830" dirty="0"/>
          </a:p>
        </p:txBody>
      </p:sp>
      <p:sp>
        <p:nvSpPr>
          <p:cNvPr id="32" name="Text 30"/>
          <p:cNvSpPr/>
          <p:nvPr/>
        </p:nvSpPr>
        <p:spPr>
          <a:xfrm>
            <a:off x="9854946" y="3630168"/>
            <a:ext cx="182880" cy="256032"/>
          </a:xfrm>
          <a:prstGeom prst="rect">
            <a:avLst/>
          </a:prstGeom>
          <a:noFill/>
          <a:ln/>
        </p:spPr>
        <p:txBody>
          <a:bodyPr wrap="square" lIns="0" tIns="0" rIns="0" bIns="0" rtlCol="0" anchor="ctr">
            <a:normAutofit/>
          </a:bodyPr>
          <a:lstStyle/>
          <a:p>
            <a:pPr algn="ctr" indent="0" marL="0">
              <a:buNone/>
            </a:pPr>
            <a:r>
              <a:rPr lang="en-US" sz="1900" b="1" dirty="0">
                <a:solidFill>
                  <a:srgbClr val="5E80AA"/>
                </a:solidFill>
                <a:latin typeface="Aptos" pitchFamily="34" charset="0"/>
                <a:ea typeface="Aptos" pitchFamily="34" charset="-122"/>
                <a:cs typeface="Aptos" pitchFamily="34" charset="-120"/>
              </a:rPr>
              <a:t>›</a:t>
            </a:r>
            <a:endParaRPr lang="en-US" sz="1900" dirty="0"/>
          </a:p>
        </p:txBody>
      </p:sp>
      <p:sp>
        <p:nvSpPr>
          <p:cNvPr id="33" name="Shape 31"/>
          <p:cNvSpPr/>
          <p:nvPr/>
        </p:nvSpPr>
        <p:spPr>
          <a:xfrm>
            <a:off x="10188702" y="3200400"/>
            <a:ext cx="1168146" cy="1170432"/>
          </a:xfrm>
          <a:prstGeom prst="roundRect">
            <a:avLst>
              <a:gd name="adj" fmla="val 9393"/>
            </a:avLst>
          </a:prstGeom>
          <a:solidFill>
            <a:srgbClr val="F7FAFA"/>
          </a:solidFill>
          <a:ln w="8890">
            <a:solidFill>
              <a:srgbClr val="E0E8EA"/>
            </a:solidFill>
            <a:prstDash val="solid"/>
          </a:ln>
        </p:spPr>
      </p:sp>
      <p:sp>
        <p:nvSpPr>
          <p:cNvPr id="34" name="Shape 32"/>
          <p:cNvSpPr/>
          <p:nvPr/>
        </p:nvSpPr>
        <p:spPr>
          <a:xfrm>
            <a:off x="10316718" y="3346704"/>
            <a:ext cx="228600" cy="228600"/>
          </a:xfrm>
          <a:prstGeom prst="ellipse">
            <a:avLst/>
          </a:prstGeom>
          <a:solidFill>
            <a:srgbClr val="5E80AA"/>
          </a:solidFill>
          <a:ln w="12700">
            <a:solidFill>
              <a:srgbClr val="5E80AA">
                <a:alpha val="0"/>
              </a:srgbClr>
            </a:solidFill>
            <a:prstDash val="solid"/>
          </a:ln>
        </p:spPr>
      </p:sp>
      <p:sp>
        <p:nvSpPr>
          <p:cNvPr id="35" name="Text 33"/>
          <p:cNvSpPr/>
          <p:nvPr/>
        </p:nvSpPr>
        <p:spPr>
          <a:xfrm>
            <a:off x="10316718" y="3675888"/>
            <a:ext cx="948690" cy="274320"/>
          </a:xfrm>
          <a:prstGeom prst="rect">
            <a:avLst/>
          </a:prstGeom>
          <a:noFill/>
          <a:ln/>
        </p:spPr>
        <p:txBody>
          <a:bodyPr wrap="square" lIns="0" tIns="0" rIns="0" bIns="0" rtlCol="0" anchor="ctr">
            <a:normAutofit/>
          </a:bodyPr>
          <a:lstStyle/>
          <a:p>
            <a:pPr indent="0" marL="0">
              <a:buNone/>
            </a:pPr>
            <a:r>
              <a:rPr lang="en-US" sz="1100" b="1" dirty="0">
                <a:solidFill>
                  <a:srgbClr val="102638"/>
                </a:solidFill>
                <a:latin typeface="Aptos" pitchFamily="34" charset="0"/>
                <a:ea typeface="Aptos" pitchFamily="34" charset="-122"/>
                <a:cs typeface="Aptos" pitchFamily="34" charset="-120"/>
              </a:rPr>
              <a:t>Service owner</a:t>
            </a:r>
            <a:endParaRPr lang="en-US" sz="1100" dirty="0"/>
          </a:p>
        </p:txBody>
      </p:sp>
      <p:sp>
        <p:nvSpPr>
          <p:cNvPr id="36" name="Text 34"/>
          <p:cNvSpPr/>
          <p:nvPr/>
        </p:nvSpPr>
        <p:spPr>
          <a:xfrm>
            <a:off x="10316718" y="3968496"/>
            <a:ext cx="948690" cy="292608"/>
          </a:xfrm>
          <a:prstGeom prst="rect">
            <a:avLst/>
          </a:prstGeom>
          <a:noFill/>
          <a:ln/>
        </p:spPr>
        <p:txBody>
          <a:bodyPr wrap="square" lIns="0" tIns="0" rIns="0" bIns="0" rtlCol="0" anchor="t">
            <a:normAutofit/>
          </a:bodyPr>
          <a:lstStyle/>
          <a:p>
            <a:pPr indent="0" marL="0">
              <a:buNone/>
            </a:pPr>
            <a:r>
              <a:rPr lang="en-US" sz="830" dirty="0">
                <a:solidFill>
                  <a:srgbClr val="72858D"/>
                </a:solidFill>
                <a:latin typeface="Aptos" pitchFamily="34" charset="0"/>
                <a:ea typeface="Aptos" pitchFamily="34" charset="-122"/>
                <a:cs typeface="Aptos" pitchFamily="34" charset="-120"/>
              </a:rPr>
              <a:t>Verify, edit or reject</a:t>
            </a:r>
            <a:endParaRPr lang="en-US" sz="830" dirty="0"/>
          </a:p>
        </p:txBody>
      </p:sp>
      <p:sp>
        <p:nvSpPr>
          <p:cNvPr id="25" name="Slide Number Placeholder 0"/>
          <p:cNvSpPr>
            <a:spLocks noGrp="1"/>
          </p:cNvSpPr>
          <p:nvPr>
            <p:ph type="sldNum" sz="quarter" idx="4294967295"/>
          </p:nvPr>
        </p:nvSpPr>
        <p:spPr>
          <a:xfrm>
            <a:off x="11247120" y="6492240"/>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1838D"/>
                </a:solidFill>
                <a:latin typeface="Aptos"/>
                <a:ea typeface="Aptos"/>
                <a:cs typeface="Apto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292608"/>
            <a:ext cx="5943600" cy="182880"/>
          </a:xfrm>
          <a:prstGeom prst="rect">
            <a:avLst/>
          </a:prstGeom>
          <a:noFill/>
          <a:ln/>
        </p:spPr>
        <p:txBody>
          <a:bodyPr wrap="square" lIns="0" tIns="0" rIns="0" bIns="0" rtlCol="0" anchor="ctr">
            <a:normAutofit/>
          </a:bodyPr>
          <a:lstStyle/>
          <a:p>
            <a:pPr indent="0" marL="0">
              <a:buNone/>
            </a:pPr>
            <a:r>
              <a:rPr lang="en-US" sz="800" b="1" spc="120" kern="0" dirty="0">
                <a:solidFill>
                  <a:srgbClr val="087F8C"/>
                </a:solidFill>
                <a:latin typeface="Aptos" pitchFamily="34" charset="0"/>
                <a:ea typeface="Aptos" pitchFamily="34" charset="-122"/>
                <a:cs typeface="Aptos" pitchFamily="34" charset="-120"/>
              </a:rPr>
              <a:t>GOVERNANCE</a:t>
            </a:r>
            <a:endParaRPr lang="en-US" sz="8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indent="0" marL="0">
              <a:buNone/>
            </a:pPr>
            <a:r>
              <a:rPr lang="en-US" sz="2500" b="1" dirty="0">
                <a:solidFill>
                  <a:srgbClr val="102638"/>
                </a:solidFill>
                <a:latin typeface="Aptos Display" pitchFamily="34" charset="0"/>
                <a:ea typeface="Aptos Display" pitchFamily="34" charset="-122"/>
                <a:cs typeface="Aptos Display" pitchFamily="34" charset="-120"/>
              </a:rPr>
              <a:t>People remain responsible for decisions.</a:t>
            </a:r>
            <a:endParaRPr lang="en-US" sz="2500" dirty="0"/>
          </a:p>
        </p:txBody>
      </p:sp>
      <p:sp>
        <p:nvSpPr>
          <p:cNvPr id="4" name="Text 2"/>
          <p:cNvSpPr/>
          <p:nvPr/>
        </p:nvSpPr>
        <p:spPr>
          <a:xfrm>
            <a:off x="585216" y="1152144"/>
            <a:ext cx="10881360" cy="347472"/>
          </a:xfrm>
          <a:prstGeom prst="rect">
            <a:avLst/>
          </a:prstGeom>
          <a:noFill/>
          <a:ln/>
        </p:spPr>
        <p:txBody>
          <a:bodyPr wrap="square" lIns="0" tIns="0" rIns="0" bIns="0" rtlCol="0" anchor="t">
            <a:normAutofit/>
          </a:bodyPr>
          <a:lstStyle/>
          <a:p>
            <a:pPr indent="0" marL="0">
              <a:buNone/>
            </a:pPr>
            <a:r>
              <a:rPr lang="en-US" sz="1200" dirty="0">
                <a:solidFill>
                  <a:srgbClr val="72858D"/>
                </a:solidFill>
                <a:latin typeface="Aptos" pitchFamily="34" charset="0"/>
                <a:ea typeface="Aptos" pitchFamily="34" charset="-122"/>
                <a:cs typeface="Aptos" pitchFamily="34" charset="-120"/>
              </a:rPr>
              <a:t>AI text can inform a review; an accountable service owner decides what is accepted.</a:t>
            </a:r>
            <a:endParaRPr lang="en-US" sz="1200" dirty="0"/>
          </a:p>
        </p:txBody>
      </p:sp>
      <p:sp>
        <p:nvSpPr>
          <p:cNvPr id="5" name="Shape 3"/>
          <p:cNvSpPr/>
          <p:nvPr/>
        </p:nvSpPr>
        <p:spPr>
          <a:xfrm>
            <a:off x="566928" y="1618488"/>
            <a:ext cx="11064240" cy="0"/>
          </a:xfrm>
          <a:prstGeom prst="line">
            <a:avLst/>
          </a:prstGeom>
          <a:noFill/>
          <a:ln w="12700">
            <a:solidFill>
              <a:srgbClr val="E0E8EA"/>
            </a:solidFill>
            <a:prstDash val="solid"/>
          </a:ln>
        </p:spPr>
      </p:sp>
      <p:sp>
        <p:nvSpPr>
          <p:cNvPr id="6" name="Text 4"/>
          <p:cNvSpPr/>
          <p:nvPr/>
        </p:nvSpPr>
        <p:spPr>
          <a:xfrm>
            <a:off x="621792" y="1847088"/>
            <a:ext cx="4389120" cy="182880"/>
          </a:xfrm>
          <a:prstGeom prst="rect">
            <a:avLst/>
          </a:prstGeom>
          <a:noFill/>
          <a:ln/>
        </p:spPr>
        <p:txBody>
          <a:bodyPr wrap="square" lIns="0" tIns="0" rIns="0" bIns="0" rtlCol="0" anchor="ctr">
            <a:normAutofit/>
          </a:bodyPr>
          <a:lstStyle/>
          <a:p>
            <a:pPr indent="0" marL="0">
              <a:buNone/>
            </a:pPr>
            <a:r>
              <a:rPr lang="en-US" sz="800" b="1" spc="90" kern="0" dirty="0">
                <a:solidFill>
                  <a:srgbClr val="91A0A6"/>
                </a:solidFill>
                <a:latin typeface="Aptos" pitchFamily="34" charset="0"/>
                <a:ea typeface="Aptos" pitchFamily="34" charset="-122"/>
                <a:cs typeface="Aptos" pitchFamily="34" charset="-120"/>
              </a:rPr>
              <a:t>PLANNING INSIGHT</a:t>
            </a:r>
            <a:endParaRPr lang="en-US" sz="800" dirty="0"/>
          </a:p>
        </p:txBody>
      </p:sp>
      <p:sp>
        <p:nvSpPr>
          <p:cNvPr id="7" name="Shape 5"/>
          <p:cNvSpPr/>
          <p:nvPr/>
        </p:nvSpPr>
        <p:spPr>
          <a:xfrm>
            <a:off x="640080" y="2221992"/>
            <a:ext cx="82296" cy="82296"/>
          </a:xfrm>
          <a:prstGeom prst="ellipse">
            <a:avLst/>
          </a:prstGeom>
          <a:solidFill>
            <a:srgbClr val="087F8C"/>
          </a:solidFill>
          <a:ln w="12700">
            <a:solidFill>
              <a:srgbClr val="087F8C">
                <a:alpha val="0"/>
              </a:srgbClr>
            </a:solidFill>
            <a:prstDash val="solid"/>
          </a:ln>
        </p:spPr>
      </p:sp>
      <p:sp>
        <p:nvSpPr>
          <p:cNvPr id="8" name="Text 6"/>
          <p:cNvSpPr/>
          <p:nvPr/>
        </p:nvSpPr>
        <p:spPr>
          <a:xfrm>
            <a:off x="841248" y="2157984"/>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Only verified links affect the calculated status.</a:t>
            </a:r>
            <a:endParaRPr lang="en-US" sz="1300" dirty="0"/>
          </a:p>
        </p:txBody>
      </p:sp>
      <p:sp>
        <p:nvSpPr>
          <p:cNvPr id="9" name="Shape 7"/>
          <p:cNvSpPr/>
          <p:nvPr/>
        </p:nvSpPr>
        <p:spPr>
          <a:xfrm>
            <a:off x="640080" y="3118104"/>
            <a:ext cx="82296" cy="82296"/>
          </a:xfrm>
          <a:prstGeom prst="ellipse">
            <a:avLst/>
          </a:prstGeom>
          <a:solidFill>
            <a:srgbClr val="087F8C"/>
          </a:solidFill>
          <a:ln w="12700">
            <a:solidFill>
              <a:srgbClr val="087F8C">
                <a:alpha val="0"/>
              </a:srgbClr>
            </a:solidFill>
            <a:prstDash val="solid"/>
          </a:ln>
        </p:spPr>
      </p:sp>
      <p:sp>
        <p:nvSpPr>
          <p:cNvPr id="10" name="Text 8"/>
          <p:cNvSpPr/>
          <p:nvPr/>
        </p:nvSpPr>
        <p:spPr>
          <a:xfrm>
            <a:off x="841248" y="3054096"/>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An assessment cites records and does not change service status.</a:t>
            </a:r>
            <a:endParaRPr lang="en-US" sz="1300" dirty="0"/>
          </a:p>
        </p:txBody>
      </p:sp>
      <p:sp>
        <p:nvSpPr>
          <p:cNvPr id="11" name="Shape 9"/>
          <p:cNvSpPr/>
          <p:nvPr/>
        </p:nvSpPr>
        <p:spPr>
          <a:xfrm>
            <a:off x="640080" y="4014216"/>
            <a:ext cx="82296" cy="82296"/>
          </a:xfrm>
          <a:prstGeom prst="ellipse">
            <a:avLst/>
          </a:prstGeom>
          <a:solidFill>
            <a:srgbClr val="087F8C"/>
          </a:solidFill>
          <a:ln w="12700">
            <a:solidFill>
              <a:srgbClr val="087F8C">
                <a:alpha val="0"/>
              </a:srgbClr>
            </a:solidFill>
            <a:prstDash val="solid"/>
          </a:ln>
        </p:spPr>
      </p:sp>
      <p:sp>
        <p:nvSpPr>
          <p:cNvPr id="12" name="Text 10"/>
          <p:cNvSpPr/>
          <p:nvPr/>
        </p:nvSpPr>
        <p:spPr>
          <a:xfrm>
            <a:off x="841248" y="3950208"/>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Review and scenario actions are recorded in the local audit log.</a:t>
            </a:r>
            <a:endParaRPr lang="en-US" sz="1300" dirty="0"/>
          </a:p>
        </p:txBody>
      </p:sp>
      <p:sp>
        <p:nvSpPr>
          <p:cNvPr id="13" name="Shape 11"/>
          <p:cNvSpPr/>
          <p:nvPr/>
        </p:nvSpPr>
        <p:spPr>
          <a:xfrm>
            <a:off x="612648" y="5175504"/>
            <a:ext cx="4462272" cy="731520"/>
          </a:xfrm>
          <a:prstGeom prst="roundRect">
            <a:avLst>
              <a:gd name="adj" fmla="val 15000"/>
            </a:avLst>
          </a:prstGeom>
          <a:solidFill>
            <a:srgbClr val="E5F4F2"/>
          </a:solidFill>
          <a:ln w="8890">
            <a:solidFill>
              <a:srgbClr val="E5F4F2"/>
            </a:solidFill>
            <a:prstDash val="solid"/>
          </a:ln>
        </p:spPr>
      </p:sp>
      <p:sp>
        <p:nvSpPr>
          <p:cNvPr id="14" name="Text 12"/>
          <p:cNvSpPr/>
          <p:nvPr/>
        </p:nvSpPr>
        <p:spPr>
          <a:xfrm>
            <a:off x="786384" y="5312664"/>
            <a:ext cx="914400" cy="146304"/>
          </a:xfrm>
          <a:prstGeom prst="rect">
            <a:avLst/>
          </a:prstGeom>
          <a:noFill/>
          <a:ln/>
        </p:spPr>
        <p:txBody>
          <a:bodyPr wrap="square" lIns="0" tIns="0" rIns="0" bIns="0" rtlCol="0" anchor="ctr">
            <a:normAutofit/>
          </a:bodyPr>
          <a:lstStyle/>
          <a:p>
            <a:pPr indent="0" marL="0">
              <a:buNone/>
            </a:pPr>
            <a:r>
              <a:rPr lang="en-US" sz="750" b="1" spc="90" kern="0" dirty="0">
                <a:solidFill>
                  <a:srgbClr val="087F8C"/>
                </a:solidFill>
                <a:latin typeface="Aptos" pitchFamily="34" charset="0"/>
                <a:ea typeface="Aptos" pitchFamily="34" charset="-122"/>
                <a:cs typeface="Aptos" pitchFamily="34" charset="-120"/>
              </a:rPr>
              <a:t>TAKEAWAY</a:t>
            </a:r>
            <a:endParaRPr lang="en-US" sz="750" dirty="0"/>
          </a:p>
        </p:txBody>
      </p:sp>
      <p:sp>
        <p:nvSpPr>
          <p:cNvPr id="15" name="Text 13"/>
          <p:cNvSpPr/>
          <p:nvPr/>
        </p:nvSpPr>
        <p:spPr>
          <a:xfrm>
            <a:off x="786384" y="5504688"/>
            <a:ext cx="4105656" cy="310896"/>
          </a:xfrm>
          <a:prstGeom prst="rect">
            <a:avLst/>
          </a:prstGeom>
          <a:noFill/>
          <a:ln/>
        </p:spPr>
        <p:txBody>
          <a:bodyPr wrap="square" lIns="0" tIns="0" rIns="0" bIns="0" rtlCol="0" anchor="t">
            <a:normAutofit/>
          </a:bodyPr>
          <a:lstStyle/>
          <a:p>
            <a:pPr indent="0" marL="0">
              <a:buNone/>
            </a:pPr>
            <a:r>
              <a:rPr lang="en-US" sz="1030" b="1" dirty="0">
                <a:solidFill>
                  <a:srgbClr val="203747"/>
                </a:solidFill>
                <a:latin typeface="Aptos" pitchFamily="34" charset="0"/>
                <a:ea typeface="Aptos" pitchFamily="34" charset="-122"/>
                <a:cs typeface="Aptos" pitchFamily="34" charset="-120"/>
              </a:rPr>
              <a:t>The prototype is local demo software, not production security.</a:t>
            </a:r>
            <a:endParaRPr lang="en-US" sz="1030" dirty="0"/>
          </a:p>
        </p:txBody>
      </p:sp>
      <p:sp>
        <p:nvSpPr>
          <p:cNvPr id="16" name="Shape 14"/>
          <p:cNvSpPr/>
          <p:nvPr/>
        </p:nvSpPr>
        <p:spPr>
          <a:xfrm>
            <a:off x="5413248" y="1810512"/>
            <a:ext cx="6172200" cy="4096512"/>
          </a:xfrm>
          <a:prstGeom prst="roundRect">
            <a:avLst>
              <a:gd name="adj" fmla="val 2679"/>
            </a:avLst>
          </a:prstGeom>
          <a:solidFill>
            <a:srgbClr val="FFFFFF"/>
          </a:solidFill>
          <a:ln w="8890">
            <a:solidFill>
              <a:srgbClr val="E0E8EA"/>
            </a:solidFill>
            <a:prstDash val="solid"/>
          </a:ln>
        </p:spPr>
      </p:sp>
      <p:sp>
        <p:nvSpPr>
          <p:cNvPr id="17" name="Text 15"/>
          <p:cNvSpPr/>
          <p:nvPr/>
        </p:nvSpPr>
        <p:spPr>
          <a:xfrm>
            <a:off x="5687568" y="1993392"/>
            <a:ext cx="5577840" cy="274320"/>
          </a:xfrm>
          <a:prstGeom prst="rect">
            <a:avLst/>
          </a:prstGeom>
          <a:noFill/>
          <a:ln/>
        </p:spPr>
        <p:txBody>
          <a:bodyPr wrap="square" lIns="0" tIns="0" rIns="0" bIns="0" rtlCol="0" anchor="ctr">
            <a:normAutofit/>
          </a:bodyPr>
          <a:lstStyle/>
          <a:p>
            <a:pPr indent="0" marL="0">
              <a:buNone/>
            </a:pPr>
            <a:r>
              <a:rPr lang="en-US" sz="1400" b="1" dirty="0">
                <a:solidFill>
                  <a:srgbClr val="102638"/>
                </a:solidFill>
                <a:latin typeface="Aptos Display" pitchFamily="34" charset="0"/>
                <a:ea typeface="Aptos Display" pitchFamily="34" charset="-122"/>
                <a:cs typeface="Aptos Display" pitchFamily="34" charset="-120"/>
              </a:rPr>
              <a:t>Prototype safeguards</a:t>
            </a:r>
            <a:endParaRPr lang="en-US" sz="1400" dirty="0"/>
          </a:p>
        </p:txBody>
      </p:sp>
      <p:sp>
        <p:nvSpPr>
          <p:cNvPr id="18" name="Shape 16"/>
          <p:cNvSpPr/>
          <p:nvPr/>
        </p:nvSpPr>
        <p:spPr>
          <a:xfrm>
            <a:off x="5641848" y="2788920"/>
            <a:ext cx="1734312" cy="1508760"/>
          </a:xfrm>
          <a:prstGeom prst="roundRect">
            <a:avLst>
              <a:gd name="adj" fmla="val 7273"/>
            </a:avLst>
          </a:prstGeom>
          <a:solidFill>
            <a:srgbClr val="E5F4F2"/>
          </a:solidFill>
          <a:ln w="8890">
            <a:solidFill>
              <a:srgbClr val="E5F4F2"/>
            </a:solidFill>
            <a:prstDash val="solid"/>
          </a:ln>
        </p:spPr>
      </p:sp>
      <p:sp>
        <p:nvSpPr>
          <p:cNvPr id="19" name="Shape 17"/>
          <p:cNvSpPr/>
          <p:nvPr/>
        </p:nvSpPr>
        <p:spPr>
          <a:xfrm>
            <a:off x="5641848" y="2788920"/>
            <a:ext cx="45720" cy="1508760"/>
          </a:xfrm>
          <a:prstGeom prst="rect">
            <a:avLst/>
          </a:prstGeom>
          <a:solidFill>
            <a:srgbClr val="087F8C"/>
          </a:solidFill>
          <a:ln w="12700">
            <a:solidFill>
              <a:srgbClr val="087F8C">
                <a:alpha val="0"/>
              </a:srgbClr>
            </a:solidFill>
            <a:prstDash val="solid"/>
          </a:ln>
        </p:spPr>
      </p:sp>
      <p:sp>
        <p:nvSpPr>
          <p:cNvPr id="20" name="Text 18"/>
          <p:cNvSpPr/>
          <p:nvPr/>
        </p:nvSpPr>
        <p:spPr>
          <a:xfrm>
            <a:off x="5806440" y="2944368"/>
            <a:ext cx="1423416" cy="228600"/>
          </a:xfrm>
          <a:prstGeom prst="rect">
            <a:avLst/>
          </a:prstGeom>
          <a:noFill/>
          <a:ln/>
        </p:spPr>
        <p:txBody>
          <a:bodyPr wrap="square" lIns="0" tIns="0" rIns="0" bIns="0" rtlCol="0" anchor="t">
            <a:normAutofit/>
          </a:bodyPr>
          <a:lstStyle/>
          <a:p>
            <a:pPr indent="0" marL="0">
              <a:buNone/>
            </a:pPr>
            <a:r>
              <a:rPr lang="en-US" sz="1000" b="1" dirty="0">
                <a:solidFill>
                  <a:srgbClr val="102638"/>
                </a:solidFill>
                <a:latin typeface="Aptos" pitchFamily="34" charset="0"/>
                <a:ea typeface="Aptos" pitchFamily="34" charset="-122"/>
                <a:cs typeface="Aptos" pitchFamily="34" charset="-120"/>
              </a:rPr>
              <a:t>Evidence</a:t>
            </a:r>
            <a:endParaRPr lang="en-US" sz="1000" dirty="0"/>
          </a:p>
        </p:txBody>
      </p:sp>
      <p:sp>
        <p:nvSpPr>
          <p:cNvPr id="21" name="Text 19"/>
          <p:cNvSpPr/>
          <p:nvPr/>
        </p:nvSpPr>
        <p:spPr>
          <a:xfrm>
            <a:off x="5806440" y="3291840"/>
            <a:ext cx="1423416" cy="886968"/>
          </a:xfrm>
          <a:prstGeom prst="rect">
            <a:avLst/>
          </a:prstGeom>
          <a:noFill/>
          <a:ln/>
        </p:spPr>
        <p:txBody>
          <a:bodyPr wrap="square" lIns="0" tIns="0" rIns="0" bIns="0" rtlCol="0" anchor="t">
            <a:normAutofit/>
          </a:bodyPr>
          <a:lstStyle/>
          <a:p>
            <a:pPr indent="0" marL="0">
              <a:buNone/>
            </a:pPr>
            <a:r>
              <a:rPr lang="en-US" sz="920" dirty="0">
                <a:solidFill>
                  <a:srgbClr val="72858D"/>
                </a:solidFill>
                <a:latin typeface="Aptos" pitchFamily="34" charset="0"/>
                <a:ea typeface="Aptos" pitchFamily="34" charset="-122"/>
                <a:cs typeface="Aptos" pitchFamily="34" charset="-120"/>
              </a:rPr>
              <a:t>Keep source quote and reference</a:t>
            </a:r>
            <a:endParaRPr lang="en-US" sz="920" dirty="0"/>
          </a:p>
        </p:txBody>
      </p:sp>
      <p:sp>
        <p:nvSpPr>
          <p:cNvPr id="22" name="Shape 20"/>
          <p:cNvSpPr/>
          <p:nvPr/>
        </p:nvSpPr>
        <p:spPr>
          <a:xfrm>
            <a:off x="7632192" y="2788920"/>
            <a:ext cx="1734312" cy="1508760"/>
          </a:xfrm>
          <a:prstGeom prst="roundRect">
            <a:avLst>
              <a:gd name="adj" fmla="val 7273"/>
            </a:avLst>
          </a:prstGeom>
          <a:solidFill>
            <a:srgbClr val="F7FAFA"/>
          </a:solidFill>
          <a:ln w="8890">
            <a:solidFill>
              <a:srgbClr val="E0E8EA"/>
            </a:solidFill>
            <a:prstDash val="solid"/>
          </a:ln>
        </p:spPr>
      </p:sp>
      <p:sp>
        <p:nvSpPr>
          <p:cNvPr id="23" name="Shape 21"/>
          <p:cNvSpPr/>
          <p:nvPr/>
        </p:nvSpPr>
        <p:spPr>
          <a:xfrm>
            <a:off x="7632192" y="2788920"/>
            <a:ext cx="45720" cy="1508760"/>
          </a:xfrm>
          <a:prstGeom prst="rect">
            <a:avLst/>
          </a:prstGeom>
          <a:solidFill>
            <a:srgbClr val="087F8C"/>
          </a:solidFill>
          <a:ln w="12700">
            <a:solidFill>
              <a:srgbClr val="087F8C">
                <a:alpha val="0"/>
              </a:srgbClr>
            </a:solidFill>
            <a:prstDash val="solid"/>
          </a:ln>
        </p:spPr>
      </p:sp>
      <p:sp>
        <p:nvSpPr>
          <p:cNvPr id="24" name="Text 22"/>
          <p:cNvSpPr/>
          <p:nvPr/>
        </p:nvSpPr>
        <p:spPr>
          <a:xfrm>
            <a:off x="7796784" y="2944368"/>
            <a:ext cx="1423416" cy="228600"/>
          </a:xfrm>
          <a:prstGeom prst="rect">
            <a:avLst/>
          </a:prstGeom>
          <a:noFill/>
          <a:ln/>
        </p:spPr>
        <p:txBody>
          <a:bodyPr wrap="square" lIns="0" tIns="0" rIns="0" bIns="0" rtlCol="0" anchor="t">
            <a:normAutofit/>
          </a:bodyPr>
          <a:lstStyle/>
          <a:p>
            <a:pPr indent="0" marL="0">
              <a:buNone/>
            </a:pPr>
            <a:r>
              <a:rPr lang="en-US" sz="1000" b="1" dirty="0">
                <a:solidFill>
                  <a:srgbClr val="102638"/>
                </a:solidFill>
                <a:latin typeface="Aptos" pitchFamily="34" charset="0"/>
                <a:ea typeface="Aptos" pitchFamily="34" charset="-122"/>
                <a:cs typeface="Aptos" pitchFamily="34" charset="-120"/>
              </a:rPr>
              <a:t>Human review</a:t>
            </a:r>
            <a:endParaRPr lang="en-US" sz="1000" dirty="0"/>
          </a:p>
        </p:txBody>
      </p:sp>
      <p:sp>
        <p:nvSpPr>
          <p:cNvPr id="25" name="Text 23"/>
          <p:cNvSpPr/>
          <p:nvPr/>
        </p:nvSpPr>
        <p:spPr>
          <a:xfrm>
            <a:off x="7796784" y="3291840"/>
            <a:ext cx="1423416" cy="886968"/>
          </a:xfrm>
          <a:prstGeom prst="rect">
            <a:avLst/>
          </a:prstGeom>
          <a:noFill/>
          <a:ln/>
        </p:spPr>
        <p:txBody>
          <a:bodyPr wrap="square" lIns="0" tIns="0" rIns="0" bIns="0" rtlCol="0" anchor="t">
            <a:normAutofit/>
          </a:bodyPr>
          <a:lstStyle/>
          <a:p>
            <a:pPr indent="0" marL="0">
              <a:buNone/>
            </a:pPr>
            <a:r>
              <a:rPr lang="en-US" sz="920" dirty="0">
                <a:solidFill>
                  <a:srgbClr val="72858D"/>
                </a:solidFill>
                <a:latin typeface="Aptos" pitchFamily="34" charset="0"/>
                <a:ea typeface="Aptos" pitchFamily="34" charset="-122"/>
                <a:cs typeface="Aptos" pitchFamily="34" charset="-120"/>
              </a:rPr>
              <a:t>Owner accepts or declines</a:t>
            </a:r>
            <a:endParaRPr lang="en-US" sz="920" dirty="0"/>
          </a:p>
        </p:txBody>
      </p:sp>
      <p:sp>
        <p:nvSpPr>
          <p:cNvPr id="26" name="Shape 24"/>
          <p:cNvSpPr/>
          <p:nvPr/>
        </p:nvSpPr>
        <p:spPr>
          <a:xfrm>
            <a:off x="9622536" y="2788920"/>
            <a:ext cx="1734312" cy="1508760"/>
          </a:xfrm>
          <a:prstGeom prst="roundRect">
            <a:avLst>
              <a:gd name="adj" fmla="val 7273"/>
            </a:avLst>
          </a:prstGeom>
          <a:solidFill>
            <a:srgbClr val="F7FAFA"/>
          </a:solidFill>
          <a:ln w="8890">
            <a:solidFill>
              <a:srgbClr val="E0E8EA"/>
            </a:solidFill>
            <a:prstDash val="solid"/>
          </a:ln>
        </p:spPr>
      </p:sp>
      <p:sp>
        <p:nvSpPr>
          <p:cNvPr id="27" name="Shape 25"/>
          <p:cNvSpPr/>
          <p:nvPr/>
        </p:nvSpPr>
        <p:spPr>
          <a:xfrm>
            <a:off x="9622536" y="2788920"/>
            <a:ext cx="45720" cy="1508760"/>
          </a:xfrm>
          <a:prstGeom prst="rect">
            <a:avLst/>
          </a:prstGeom>
          <a:solidFill>
            <a:srgbClr val="087F8C"/>
          </a:solidFill>
          <a:ln w="12700">
            <a:solidFill>
              <a:srgbClr val="087F8C">
                <a:alpha val="0"/>
              </a:srgbClr>
            </a:solidFill>
            <a:prstDash val="solid"/>
          </a:ln>
        </p:spPr>
      </p:sp>
      <p:sp>
        <p:nvSpPr>
          <p:cNvPr id="28" name="Text 26"/>
          <p:cNvSpPr/>
          <p:nvPr/>
        </p:nvSpPr>
        <p:spPr>
          <a:xfrm>
            <a:off x="9787128" y="2944368"/>
            <a:ext cx="1423416" cy="228600"/>
          </a:xfrm>
          <a:prstGeom prst="rect">
            <a:avLst/>
          </a:prstGeom>
          <a:noFill/>
          <a:ln/>
        </p:spPr>
        <p:txBody>
          <a:bodyPr wrap="square" lIns="0" tIns="0" rIns="0" bIns="0" rtlCol="0" anchor="t">
            <a:normAutofit/>
          </a:bodyPr>
          <a:lstStyle/>
          <a:p>
            <a:pPr indent="0" marL="0">
              <a:buNone/>
            </a:pPr>
            <a:r>
              <a:rPr lang="en-US" sz="1000" b="1" dirty="0">
                <a:solidFill>
                  <a:srgbClr val="102638"/>
                </a:solidFill>
                <a:latin typeface="Aptos" pitchFamily="34" charset="0"/>
                <a:ea typeface="Aptos" pitchFamily="34" charset="-122"/>
                <a:cs typeface="Aptos" pitchFamily="34" charset="-120"/>
              </a:rPr>
              <a:t>Unknowns</a:t>
            </a:r>
            <a:endParaRPr lang="en-US" sz="1000" dirty="0"/>
          </a:p>
        </p:txBody>
      </p:sp>
      <p:sp>
        <p:nvSpPr>
          <p:cNvPr id="29" name="Text 27"/>
          <p:cNvSpPr/>
          <p:nvPr/>
        </p:nvSpPr>
        <p:spPr>
          <a:xfrm>
            <a:off x="9787128" y="3291840"/>
            <a:ext cx="1423416" cy="886968"/>
          </a:xfrm>
          <a:prstGeom prst="rect">
            <a:avLst/>
          </a:prstGeom>
          <a:noFill/>
          <a:ln/>
        </p:spPr>
        <p:txBody>
          <a:bodyPr wrap="square" lIns="0" tIns="0" rIns="0" bIns="0" rtlCol="0" anchor="t">
            <a:normAutofit/>
          </a:bodyPr>
          <a:lstStyle/>
          <a:p>
            <a:pPr indent="0" marL="0">
              <a:buNone/>
            </a:pPr>
            <a:r>
              <a:rPr lang="en-US" sz="920" dirty="0">
                <a:solidFill>
                  <a:srgbClr val="72858D"/>
                </a:solidFill>
                <a:latin typeface="Aptos" pitchFamily="34" charset="0"/>
                <a:ea typeface="Aptos" pitchFamily="34" charset="-122"/>
                <a:cs typeface="Aptos" pitchFamily="34" charset="-120"/>
              </a:rPr>
              <a:t>Do not invent missing values</a:t>
            </a:r>
            <a:endParaRPr lang="en-US" sz="920" dirty="0"/>
          </a:p>
        </p:txBody>
      </p:sp>
      <p:sp>
        <p:nvSpPr>
          <p:cNvPr id="25" name="Slide Number Placeholder 0"/>
          <p:cNvSpPr>
            <a:spLocks noGrp="1"/>
          </p:cNvSpPr>
          <p:nvPr>
            <p:ph type="sldNum" sz="quarter" idx="4294967295"/>
          </p:nvPr>
        </p:nvSpPr>
        <p:spPr>
          <a:xfrm>
            <a:off x="11247120" y="6492240"/>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1838D"/>
                </a:solidFill>
                <a:latin typeface="Aptos"/>
                <a:ea typeface="Aptos"/>
                <a:cs typeface="Apto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292608"/>
            <a:ext cx="5943600" cy="182880"/>
          </a:xfrm>
          <a:prstGeom prst="rect">
            <a:avLst/>
          </a:prstGeom>
          <a:noFill/>
          <a:ln/>
        </p:spPr>
        <p:txBody>
          <a:bodyPr wrap="square" lIns="0" tIns="0" rIns="0" bIns="0" rtlCol="0" anchor="ctr">
            <a:normAutofit/>
          </a:bodyPr>
          <a:lstStyle/>
          <a:p>
            <a:pPr indent="0" marL="0">
              <a:buNone/>
            </a:pPr>
            <a:r>
              <a:rPr lang="en-US" sz="800" b="1" spc="120" kern="0" dirty="0">
                <a:solidFill>
                  <a:srgbClr val="5E80AA"/>
                </a:solidFill>
                <a:latin typeface="Aptos" pitchFamily="34" charset="0"/>
                <a:ea typeface="Aptos" pitchFamily="34" charset="-122"/>
                <a:cs typeface="Aptos" pitchFamily="34" charset="-120"/>
              </a:rPr>
              <a:t>MARKET POSITION</a:t>
            </a:r>
            <a:endParaRPr lang="en-US" sz="8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indent="0" marL="0">
              <a:buNone/>
            </a:pPr>
            <a:r>
              <a:rPr lang="en-US" sz="2500" b="1" dirty="0">
                <a:solidFill>
                  <a:srgbClr val="102638"/>
                </a:solidFill>
                <a:latin typeface="Aptos Display" pitchFamily="34" charset="0"/>
                <a:ea typeface="Aptos Display" pitchFamily="34" charset="-122"/>
                <a:cs typeface="Aptos Display" pitchFamily="34" charset="-120"/>
              </a:rPr>
              <a:t>Work alongside existing resilience platforms.</a:t>
            </a:r>
            <a:endParaRPr lang="en-US" sz="2500" dirty="0"/>
          </a:p>
        </p:txBody>
      </p:sp>
      <p:sp>
        <p:nvSpPr>
          <p:cNvPr id="4" name="Text 2"/>
          <p:cNvSpPr/>
          <p:nvPr/>
        </p:nvSpPr>
        <p:spPr>
          <a:xfrm>
            <a:off x="585216" y="1152144"/>
            <a:ext cx="10881360" cy="347472"/>
          </a:xfrm>
          <a:prstGeom prst="rect">
            <a:avLst/>
          </a:prstGeom>
          <a:noFill/>
          <a:ln/>
        </p:spPr>
        <p:txBody>
          <a:bodyPr wrap="square" lIns="0" tIns="0" rIns="0" bIns="0" rtlCol="0" anchor="t">
            <a:normAutofit/>
          </a:bodyPr>
          <a:lstStyle/>
          <a:p>
            <a:pPr indent="0" marL="0">
              <a:buNone/>
            </a:pPr>
            <a:r>
              <a:rPr lang="en-US" sz="1200" dirty="0">
                <a:solidFill>
                  <a:srgbClr val="72858D"/>
                </a:solidFill>
                <a:latin typeface="Aptos" pitchFamily="34" charset="0"/>
                <a:ea typeface="Aptos" pitchFamily="34" charset="-122"/>
                <a:cs typeface="Aptos" pitchFamily="34" charset="-120"/>
              </a:rPr>
              <a:t>The product idea is transparent, editable evidence and repeatable dependency exercises.</a:t>
            </a:r>
            <a:endParaRPr lang="en-US" sz="1200" dirty="0"/>
          </a:p>
        </p:txBody>
      </p:sp>
      <p:sp>
        <p:nvSpPr>
          <p:cNvPr id="5" name="Shape 3"/>
          <p:cNvSpPr/>
          <p:nvPr/>
        </p:nvSpPr>
        <p:spPr>
          <a:xfrm>
            <a:off x="566928" y="1618488"/>
            <a:ext cx="11064240" cy="0"/>
          </a:xfrm>
          <a:prstGeom prst="line">
            <a:avLst/>
          </a:prstGeom>
          <a:noFill/>
          <a:ln w="12700">
            <a:solidFill>
              <a:srgbClr val="E0E8EA"/>
            </a:solidFill>
            <a:prstDash val="solid"/>
          </a:ln>
        </p:spPr>
      </p:sp>
      <p:sp>
        <p:nvSpPr>
          <p:cNvPr id="6" name="Text 4"/>
          <p:cNvSpPr/>
          <p:nvPr/>
        </p:nvSpPr>
        <p:spPr>
          <a:xfrm>
            <a:off x="621792" y="1847088"/>
            <a:ext cx="4389120" cy="182880"/>
          </a:xfrm>
          <a:prstGeom prst="rect">
            <a:avLst/>
          </a:prstGeom>
          <a:noFill/>
          <a:ln/>
        </p:spPr>
        <p:txBody>
          <a:bodyPr wrap="square" lIns="0" tIns="0" rIns="0" bIns="0" rtlCol="0" anchor="ctr">
            <a:normAutofit/>
          </a:bodyPr>
          <a:lstStyle/>
          <a:p>
            <a:pPr indent="0" marL="0">
              <a:buNone/>
            </a:pPr>
            <a:r>
              <a:rPr lang="en-US" sz="800" b="1" spc="90" kern="0" dirty="0">
                <a:solidFill>
                  <a:srgbClr val="91A0A6"/>
                </a:solidFill>
                <a:latin typeface="Aptos" pitchFamily="34" charset="0"/>
                <a:ea typeface="Aptos" pitchFamily="34" charset="-122"/>
                <a:cs typeface="Aptos" pitchFamily="34" charset="-120"/>
              </a:rPr>
              <a:t>PLANNING INSIGHT</a:t>
            </a:r>
            <a:endParaRPr lang="en-US" sz="800" dirty="0"/>
          </a:p>
        </p:txBody>
      </p:sp>
      <p:sp>
        <p:nvSpPr>
          <p:cNvPr id="7" name="Shape 5"/>
          <p:cNvSpPr/>
          <p:nvPr/>
        </p:nvSpPr>
        <p:spPr>
          <a:xfrm>
            <a:off x="640080" y="2221992"/>
            <a:ext cx="82296" cy="82296"/>
          </a:xfrm>
          <a:prstGeom prst="ellipse">
            <a:avLst/>
          </a:prstGeom>
          <a:solidFill>
            <a:srgbClr val="5E80AA"/>
          </a:solidFill>
          <a:ln w="12700">
            <a:solidFill>
              <a:srgbClr val="5E80AA">
                <a:alpha val="0"/>
              </a:srgbClr>
            </a:solidFill>
            <a:prstDash val="solid"/>
          </a:ln>
        </p:spPr>
      </p:sp>
      <p:sp>
        <p:nvSpPr>
          <p:cNvPr id="8" name="Text 6"/>
          <p:cNvSpPr/>
          <p:nvPr/>
        </p:nvSpPr>
        <p:spPr>
          <a:xfrm>
            <a:off x="841248" y="2157984"/>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Dependency maps and crisis dashboards already exist.</a:t>
            </a:r>
            <a:endParaRPr lang="en-US" sz="1300" dirty="0"/>
          </a:p>
        </p:txBody>
      </p:sp>
      <p:sp>
        <p:nvSpPr>
          <p:cNvPr id="9" name="Shape 7"/>
          <p:cNvSpPr/>
          <p:nvPr/>
        </p:nvSpPr>
        <p:spPr>
          <a:xfrm>
            <a:off x="640080" y="3118104"/>
            <a:ext cx="82296" cy="82296"/>
          </a:xfrm>
          <a:prstGeom prst="ellipse">
            <a:avLst/>
          </a:prstGeom>
          <a:solidFill>
            <a:srgbClr val="5E80AA"/>
          </a:solidFill>
          <a:ln w="12700">
            <a:solidFill>
              <a:srgbClr val="5E80AA">
                <a:alpha val="0"/>
              </a:srgbClr>
            </a:solidFill>
            <a:prstDash val="solid"/>
          </a:ln>
        </p:spPr>
      </p:sp>
      <p:sp>
        <p:nvSpPr>
          <p:cNvPr id="10" name="Text 8"/>
          <p:cNvSpPr/>
          <p:nvPr/>
        </p:nvSpPr>
        <p:spPr>
          <a:xfrm>
            <a:off x="841248" y="3054096"/>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Everbridge Bridge publicly describes dependency mapping and continuity workflows.</a:t>
            </a:r>
            <a:endParaRPr lang="en-US" sz="1300" dirty="0"/>
          </a:p>
        </p:txBody>
      </p:sp>
      <p:sp>
        <p:nvSpPr>
          <p:cNvPr id="11" name="Shape 9"/>
          <p:cNvSpPr/>
          <p:nvPr/>
        </p:nvSpPr>
        <p:spPr>
          <a:xfrm>
            <a:off x="640080" y="4014216"/>
            <a:ext cx="82296" cy="82296"/>
          </a:xfrm>
          <a:prstGeom prst="ellipse">
            <a:avLst/>
          </a:prstGeom>
          <a:solidFill>
            <a:srgbClr val="5E80AA"/>
          </a:solidFill>
          <a:ln w="12700">
            <a:solidFill>
              <a:srgbClr val="5E80AA">
                <a:alpha val="0"/>
              </a:srgbClr>
            </a:solidFill>
            <a:prstDash val="solid"/>
          </a:ln>
        </p:spPr>
      </p:sp>
      <p:sp>
        <p:nvSpPr>
          <p:cNvPr id="12" name="Text 10"/>
          <p:cNvSpPr/>
          <p:nvPr/>
        </p:nvSpPr>
        <p:spPr>
          <a:xfrm>
            <a:off x="841248" y="3950208"/>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Test the evidence-review workflow with buyers before claiming a gap.</a:t>
            </a:r>
            <a:endParaRPr lang="en-US" sz="1300" dirty="0"/>
          </a:p>
        </p:txBody>
      </p:sp>
      <p:sp>
        <p:nvSpPr>
          <p:cNvPr id="13" name="Shape 11"/>
          <p:cNvSpPr/>
          <p:nvPr/>
        </p:nvSpPr>
        <p:spPr>
          <a:xfrm>
            <a:off x="612648" y="5175504"/>
            <a:ext cx="4462272" cy="731520"/>
          </a:xfrm>
          <a:prstGeom prst="roundRect">
            <a:avLst>
              <a:gd name="adj" fmla="val 15000"/>
            </a:avLst>
          </a:prstGeom>
          <a:solidFill>
            <a:srgbClr val="EDF2F8"/>
          </a:solidFill>
          <a:ln w="8890">
            <a:solidFill>
              <a:srgbClr val="EDF2F8"/>
            </a:solidFill>
            <a:prstDash val="solid"/>
          </a:ln>
        </p:spPr>
      </p:sp>
      <p:sp>
        <p:nvSpPr>
          <p:cNvPr id="14" name="Text 12"/>
          <p:cNvSpPr/>
          <p:nvPr/>
        </p:nvSpPr>
        <p:spPr>
          <a:xfrm>
            <a:off x="786384" y="5312664"/>
            <a:ext cx="914400" cy="146304"/>
          </a:xfrm>
          <a:prstGeom prst="rect">
            <a:avLst/>
          </a:prstGeom>
          <a:noFill/>
          <a:ln/>
        </p:spPr>
        <p:txBody>
          <a:bodyPr wrap="square" lIns="0" tIns="0" rIns="0" bIns="0" rtlCol="0" anchor="ctr">
            <a:normAutofit/>
          </a:bodyPr>
          <a:lstStyle/>
          <a:p>
            <a:pPr indent="0" marL="0">
              <a:buNone/>
            </a:pPr>
            <a:r>
              <a:rPr lang="en-US" sz="750" b="1" spc="90" kern="0" dirty="0">
                <a:solidFill>
                  <a:srgbClr val="5E80AA"/>
                </a:solidFill>
                <a:latin typeface="Aptos" pitchFamily="34" charset="0"/>
                <a:ea typeface="Aptos" pitchFamily="34" charset="-122"/>
                <a:cs typeface="Aptos" pitchFamily="34" charset="-120"/>
              </a:rPr>
              <a:t>TAKEAWAY</a:t>
            </a:r>
            <a:endParaRPr lang="en-US" sz="750" dirty="0"/>
          </a:p>
        </p:txBody>
      </p:sp>
      <p:sp>
        <p:nvSpPr>
          <p:cNvPr id="15" name="Text 13"/>
          <p:cNvSpPr/>
          <p:nvPr/>
        </p:nvSpPr>
        <p:spPr>
          <a:xfrm>
            <a:off x="786384" y="5504688"/>
            <a:ext cx="4105656" cy="310896"/>
          </a:xfrm>
          <a:prstGeom prst="rect">
            <a:avLst/>
          </a:prstGeom>
          <a:noFill/>
          <a:ln/>
        </p:spPr>
        <p:txBody>
          <a:bodyPr wrap="square" lIns="0" tIns="0" rIns="0" bIns="0" rtlCol="0" anchor="t">
            <a:normAutofit/>
          </a:bodyPr>
          <a:lstStyle/>
          <a:p>
            <a:pPr indent="0" marL="0">
              <a:buNone/>
            </a:pPr>
            <a:r>
              <a:rPr lang="en-US" sz="1030" b="1" dirty="0">
                <a:solidFill>
                  <a:srgbClr val="203747"/>
                </a:solidFill>
                <a:latin typeface="Aptos" pitchFamily="34" charset="0"/>
                <a:ea typeface="Aptos" pitchFamily="34" charset="-122"/>
                <a:cs typeface="Aptos" pitchFamily="34" charset="-120"/>
              </a:rPr>
              <a:t>Differentiation and buyer fit remain hypotheses to validate.</a:t>
            </a:r>
            <a:endParaRPr lang="en-US" sz="1030" dirty="0"/>
          </a:p>
        </p:txBody>
      </p:sp>
      <p:sp>
        <p:nvSpPr>
          <p:cNvPr id="16" name="Shape 14"/>
          <p:cNvSpPr/>
          <p:nvPr/>
        </p:nvSpPr>
        <p:spPr>
          <a:xfrm>
            <a:off x="5413248" y="1810512"/>
            <a:ext cx="6172200" cy="4096512"/>
          </a:xfrm>
          <a:prstGeom prst="roundRect">
            <a:avLst>
              <a:gd name="adj" fmla="val 2679"/>
            </a:avLst>
          </a:prstGeom>
          <a:solidFill>
            <a:srgbClr val="FFFFFF"/>
          </a:solidFill>
          <a:ln w="8890">
            <a:solidFill>
              <a:srgbClr val="E0E8EA"/>
            </a:solidFill>
            <a:prstDash val="solid"/>
          </a:ln>
        </p:spPr>
      </p:sp>
      <p:sp>
        <p:nvSpPr>
          <p:cNvPr id="17" name="Text 15"/>
          <p:cNvSpPr/>
          <p:nvPr/>
        </p:nvSpPr>
        <p:spPr>
          <a:xfrm>
            <a:off x="5687568" y="1993392"/>
            <a:ext cx="5577840" cy="274320"/>
          </a:xfrm>
          <a:prstGeom prst="rect">
            <a:avLst/>
          </a:prstGeom>
          <a:noFill/>
          <a:ln/>
        </p:spPr>
        <p:txBody>
          <a:bodyPr wrap="square" lIns="0" tIns="0" rIns="0" bIns="0" rtlCol="0" anchor="ctr">
            <a:normAutofit/>
          </a:bodyPr>
          <a:lstStyle/>
          <a:p>
            <a:pPr indent="0" marL="0">
              <a:buNone/>
            </a:pPr>
            <a:r>
              <a:rPr lang="en-US" sz="1400" b="1" dirty="0">
                <a:solidFill>
                  <a:srgbClr val="102638"/>
                </a:solidFill>
                <a:latin typeface="Aptos Display" pitchFamily="34" charset="0"/>
                <a:ea typeface="Aptos Display" pitchFamily="34" charset="-122"/>
                <a:cs typeface="Aptos Display" pitchFamily="34" charset="-120"/>
              </a:rPr>
              <a:t>An early positioning hypothesis</a:t>
            </a:r>
            <a:endParaRPr lang="en-US" sz="1400" dirty="0"/>
          </a:p>
        </p:txBody>
      </p:sp>
      <p:sp>
        <p:nvSpPr>
          <p:cNvPr id="18" name="Shape 16"/>
          <p:cNvSpPr/>
          <p:nvPr/>
        </p:nvSpPr>
        <p:spPr>
          <a:xfrm>
            <a:off x="5779008" y="2962656"/>
            <a:ext cx="5440680" cy="987552"/>
          </a:xfrm>
          <a:prstGeom prst="roundRect">
            <a:avLst>
              <a:gd name="adj" fmla="val 11111"/>
            </a:avLst>
          </a:prstGeom>
          <a:solidFill>
            <a:srgbClr val="E5F4F2"/>
          </a:solidFill>
          <a:ln w="8890">
            <a:solidFill>
              <a:srgbClr val="D3E9E4"/>
            </a:solidFill>
            <a:prstDash val="solid"/>
          </a:ln>
        </p:spPr>
      </p:sp>
      <p:sp>
        <p:nvSpPr>
          <p:cNvPr id="19" name="Text 17"/>
          <p:cNvSpPr/>
          <p:nvPr/>
        </p:nvSpPr>
        <p:spPr>
          <a:xfrm>
            <a:off x="5989320" y="3108960"/>
            <a:ext cx="4983480" cy="210312"/>
          </a:xfrm>
          <a:prstGeom prst="rect">
            <a:avLst/>
          </a:prstGeom>
          <a:noFill/>
          <a:ln/>
        </p:spPr>
        <p:txBody>
          <a:bodyPr wrap="square" lIns="0" tIns="0" rIns="0" bIns="0" rtlCol="0" anchor="ctr">
            <a:normAutofit/>
          </a:bodyPr>
          <a:lstStyle/>
          <a:p>
            <a:pPr indent="0" marL="0">
              <a:buNone/>
            </a:pPr>
            <a:r>
              <a:rPr lang="en-US" sz="1000" b="1" dirty="0">
                <a:solidFill>
                  <a:srgbClr val="087F8C"/>
                </a:solidFill>
                <a:latin typeface="Aptos" pitchFamily="34" charset="0"/>
                <a:ea typeface="Aptos" pitchFamily="34" charset="-122"/>
                <a:cs typeface="Aptos" pitchFamily="34" charset="-120"/>
              </a:rPr>
              <a:t>ContinuityMap prototype</a:t>
            </a:r>
            <a:endParaRPr lang="en-US" sz="1000" dirty="0"/>
          </a:p>
        </p:txBody>
      </p:sp>
      <p:sp>
        <p:nvSpPr>
          <p:cNvPr id="20" name="Text 18"/>
          <p:cNvSpPr/>
          <p:nvPr/>
        </p:nvSpPr>
        <p:spPr>
          <a:xfrm>
            <a:off x="5989320" y="3401568"/>
            <a:ext cx="4983480" cy="347472"/>
          </a:xfrm>
          <a:prstGeom prst="rect">
            <a:avLst/>
          </a:prstGeom>
          <a:noFill/>
          <a:ln/>
        </p:spPr>
        <p:txBody>
          <a:bodyPr wrap="square" lIns="0" tIns="0" rIns="0" bIns="0" rtlCol="0" anchor="ctr">
            <a:normAutofit/>
          </a:bodyPr>
          <a:lstStyle/>
          <a:p>
            <a:pPr indent="0" marL="0">
              <a:buNone/>
            </a:pPr>
            <a:r>
              <a:rPr lang="en-US" sz="940" dirty="0">
                <a:solidFill>
                  <a:srgbClr val="203747"/>
                </a:solidFill>
                <a:latin typeface="Aptos" pitchFamily="34" charset="0"/>
                <a:ea typeface="Aptos" pitchFamily="34" charset="-122"/>
                <a:cs typeface="Aptos" pitchFamily="34" charset="-120"/>
              </a:rPr>
              <a:t>Local demo · inspectable evidence · human review · repeatable graph exercise</a:t>
            </a:r>
            <a:endParaRPr lang="en-US" sz="940" dirty="0"/>
          </a:p>
        </p:txBody>
      </p:sp>
      <p:sp>
        <p:nvSpPr>
          <p:cNvPr id="21" name="Shape 19"/>
          <p:cNvSpPr/>
          <p:nvPr/>
        </p:nvSpPr>
        <p:spPr>
          <a:xfrm>
            <a:off x="5779008" y="4197096"/>
            <a:ext cx="5440680" cy="987552"/>
          </a:xfrm>
          <a:prstGeom prst="roundRect">
            <a:avLst>
              <a:gd name="adj" fmla="val 11111"/>
            </a:avLst>
          </a:prstGeom>
          <a:solidFill>
            <a:srgbClr val="EDF2F8"/>
          </a:solidFill>
          <a:ln w="8890">
            <a:solidFill>
              <a:srgbClr val="DFE7F0"/>
            </a:solidFill>
            <a:prstDash val="solid"/>
          </a:ln>
        </p:spPr>
      </p:sp>
      <p:sp>
        <p:nvSpPr>
          <p:cNvPr id="22" name="Text 20"/>
          <p:cNvSpPr/>
          <p:nvPr/>
        </p:nvSpPr>
        <p:spPr>
          <a:xfrm>
            <a:off x="5989320" y="4343400"/>
            <a:ext cx="4983480" cy="210312"/>
          </a:xfrm>
          <a:prstGeom prst="rect">
            <a:avLst/>
          </a:prstGeom>
          <a:noFill/>
          <a:ln/>
        </p:spPr>
        <p:txBody>
          <a:bodyPr wrap="square" lIns="0" tIns="0" rIns="0" bIns="0" rtlCol="0" anchor="ctr">
            <a:normAutofit/>
          </a:bodyPr>
          <a:lstStyle/>
          <a:p>
            <a:pPr indent="0" marL="0">
              <a:buNone/>
            </a:pPr>
            <a:r>
              <a:rPr lang="en-US" sz="1000" b="1" dirty="0">
                <a:solidFill>
                  <a:srgbClr val="5E80AA"/>
                </a:solidFill>
                <a:latin typeface="Aptos" pitchFamily="34" charset="0"/>
                <a:ea typeface="Aptos" pitchFamily="34" charset="-122"/>
                <a:cs typeface="Aptos" pitchFamily="34" charset="-120"/>
              </a:rPr>
              <a:t>Everbridge Bridge · public description</a:t>
            </a:r>
            <a:endParaRPr lang="en-US" sz="1000" dirty="0"/>
          </a:p>
        </p:txBody>
      </p:sp>
      <p:sp>
        <p:nvSpPr>
          <p:cNvPr id="23" name="Text 21"/>
          <p:cNvSpPr/>
          <p:nvPr/>
        </p:nvSpPr>
        <p:spPr>
          <a:xfrm>
            <a:off x="5989320" y="4636008"/>
            <a:ext cx="4983480" cy="347472"/>
          </a:xfrm>
          <a:prstGeom prst="rect">
            <a:avLst/>
          </a:prstGeom>
          <a:noFill/>
          <a:ln/>
        </p:spPr>
        <p:txBody>
          <a:bodyPr wrap="square" lIns="0" tIns="0" rIns="0" bIns="0" rtlCol="0" anchor="ctr">
            <a:normAutofit/>
          </a:bodyPr>
          <a:lstStyle/>
          <a:p>
            <a:pPr indent="0" marL="0">
              <a:buNone/>
            </a:pPr>
            <a:r>
              <a:rPr lang="en-US" sz="940" dirty="0">
                <a:solidFill>
                  <a:srgbClr val="203747"/>
                </a:solidFill>
                <a:latin typeface="Aptos" pitchFamily="34" charset="0"/>
                <a:ea typeface="Aptos" pitchFamily="34" charset="-122"/>
                <a:cs typeface="Aptos" pitchFamily="34" charset="-120"/>
              </a:rPr>
              <a:t>Continuity plans · dependency mapping · impact tolerance · response workflow</a:t>
            </a:r>
            <a:endParaRPr lang="en-US" sz="940" dirty="0"/>
          </a:p>
        </p:txBody>
      </p:sp>
      <p:sp>
        <p:nvSpPr>
          <p:cNvPr id="25" name="Slide Number Placeholder 0"/>
          <p:cNvSpPr>
            <a:spLocks noGrp="1"/>
          </p:cNvSpPr>
          <p:nvPr>
            <p:ph type="sldNum" sz="quarter" idx="4294967295"/>
          </p:nvPr>
        </p:nvSpPr>
        <p:spPr>
          <a:xfrm>
            <a:off x="11247120" y="6492240"/>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1838D"/>
                </a:solidFill>
                <a:latin typeface="Aptos"/>
                <a:ea typeface="Aptos"/>
                <a:cs typeface="Apto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292608"/>
            <a:ext cx="5943600" cy="182880"/>
          </a:xfrm>
          <a:prstGeom prst="rect">
            <a:avLst/>
          </a:prstGeom>
          <a:noFill/>
          <a:ln/>
        </p:spPr>
        <p:txBody>
          <a:bodyPr wrap="square" lIns="0" tIns="0" rIns="0" bIns="0" rtlCol="0" anchor="ctr">
            <a:normAutofit/>
          </a:bodyPr>
          <a:lstStyle/>
          <a:p>
            <a:pPr indent="0" marL="0">
              <a:buNone/>
            </a:pPr>
            <a:r>
              <a:rPr lang="en-US" sz="800" b="1" spc="120" kern="0" dirty="0">
                <a:solidFill>
                  <a:srgbClr val="087F8C"/>
                </a:solidFill>
                <a:latin typeface="Aptos" pitchFamily="34" charset="0"/>
                <a:ea typeface="Aptos" pitchFamily="34" charset="-122"/>
                <a:cs typeface="Aptos" pitchFamily="34" charset="-120"/>
              </a:rPr>
              <a:t>COMMERCIAL MODEL</a:t>
            </a:r>
            <a:endParaRPr lang="en-US" sz="8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indent="0" marL="0">
              <a:buNone/>
            </a:pPr>
            <a:r>
              <a:rPr lang="en-US" sz="2500" b="1" dirty="0">
                <a:solidFill>
                  <a:srgbClr val="102638"/>
                </a:solidFill>
                <a:latin typeface="Aptos Display" pitchFamily="34" charset="0"/>
                <a:ea typeface="Aptos Display" pitchFamily="34" charset="-122"/>
                <a:cs typeface="Aptos Display" pitchFamily="34" charset="-120"/>
              </a:rPr>
              <a:t>Illustrative pricing, with assumptions visible.</a:t>
            </a:r>
            <a:endParaRPr lang="en-US" sz="2500" dirty="0"/>
          </a:p>
        </p:txBody>
      </p:sp>
      <p:sp>
        <p:nvSpPr>
          <p:cNvPr id="4" name="Text 2"/>
          <p:cNvSpPr/>
          <p:nvPr/>
        </p:nvSpPr>
        <p:spPr>
          <a:xfrm>
            <a:off x="585216" y="1152144"/>
            <a:ext cx="10881360" cy="347472"/>
          </a:xfrm>
          <a:prstGeom prst="rect">
            <a:avLst/>
          </a:prstGeom>
          <a:noFill/>
          <a:ln/>
        </p:spPr>
        <p:txBody>
          <a:bodyPr wrap="square" lIns="0" tIns="0" rIns="0" bIns="0" rtlCol="0" anchor="t">
            <a:normAutofit/>
          </a:bodyPr>
          <a:lstStyle/>
          <a:p>
            <a:pPr indent="0" marL="0">
              <a:buNone/>
            </a:pPr>
            <a:r>
              <a:rPr lang="en-US" sz="1200" dirty="0">
                <a:solidFill>
                  <a:srgbClr val="72858D"/>
                </a:solidFill>
                <a:latin typeface="Aptos" pitchFamily="34" charset="0"/>
                <a:ea typeface="Aptos" pitchFamily="34" charset="-122"/>
                <a:cs typeface="Aptos" pitchFamily="34" charset="-120"/>
              </a:rPr>
              <a:t>One example: annual subscription plus site fees and an onboarding project.</a:t>
            </a:r>
            <a:endParaRPr lang="en-US" sz="1200" dirty="0"/>
          </a:p>
        </p:txBody>
      </p:sp>
      <p:sp>
        <p:nvSpPr>
          <p:cNvPr id="5" name="Shape 3"/>
          <p:cNvSpPr/>
          <p:nvPr/>
        </p:nvSpPr>
        <p:spPr>
          <a:xfrm>
            <a:off x="566928" y="1618488"/>
            <a:ext cx="11064240" cy="0"/>
          </a:xfrm>
          <a:prstGeom prst="line">
            <a:avLst/>
          </a:prstGeom>
          <a:noFill/>
          <a:ln w="12700">
            <a:solidFill>
              <a:srgbClr val="E0E8EA"/>
            </a:solidFill>
            <a:prstDash val="solid"/>
          </a:ln>
        </p:spPr>
      </p:sp>
      <p:sp>
        <p:nvSpPr>
          <p:cNvPr id="6" name="Text 4"/>
          <p:cNvSpPr/>
          <p:nvPr/>
        </p:nvSpPr>
        <p:spPr>
          <a:xfrm>
            <a:off x="621792" y="1847088"/>
            <a:ext cx="4389120" cy="182880"/>
          </a:xfrm>
          <a:prstGeom prst="rect">
            <a:avLst/>
          </a:prstGeom>
          <a:noFill/>
          <a:ln/>
        </p:spPr>
        <p:txBody>
          <a:bodyPr wrap="square" lIns="0" tIns="0" rIns="0" bIns="0" rtlCol="0" anchor="ctr">
            <a:normAutofit/>
          </a:bodyPr>
          <a:lstStyle/>
          <a:p>
            <a:pPr indent="0" marL="0">
              <a:buNone/>
            </a:pPr>
            <a:r>
              <a:rPr lang="en-US" sz="800" b="1" spc="90" kern="0" dirty="0">
                <a:solidFill>
                  <a:srgbClr val="91A0A6"/>
                </a:solidFill>
                <a:latin typeface="Aptos" pitchFamily="34" charset="0"/>
                <a:ea typeface="Aptos" pitchFamily="34" charset="-122"/>
                <a:cs typeface="Aptos" pitchFamily="34" charset="-120"/>
              </a:rPr>
              <a:t>PLANNING INSIGHT</a:t>
            </a:r>
            <a:endParaRPr lang="en-US" sz="800" dirty="0"/>
          </a:p>
        </p:txBody>
      </p:sp>
      <p:sp>
        <p:nvSpPr>
          <p:cNvPr id="7" name="Shape 5"/>
          <p:cNvSpPr/>
          <p:nvPr/>
        </p:nvSpPr>
        <p:spPr>
          <a:xfrm>
            <a:off x="640080" y="2221992"/>
            <a:ext cx="82296" cy="82296"/>
          </a:xfrm>
          <a:prstGeom prst="ellipse">
            <a:avLst/>
          </a:prstGeom>
          <a:solidFill>
            <a:srgbClr val="087F8C"/>
          </a:solidFill>
          <a:ln w="12700">
            <a:solidFill>
              <a:srgbClr val="087F8C">
                <a:alpha val="0"/>
              </a:srgbClr>
            </a:solidFill>
            <a:prstDash val="solid"/>
          </a:ln>
        </p:spPr>
      </p:sp>
      <p:sp>
        <p:nvSpPr>
          <p:cNvPr id="8" name="Text 6"/>
          <p:cNvSpPr/>
          <p:nvPr/>
        </p:nvSpPr>
        <p:spPr>
          <a:xfrm>
            <a:off x="841248" y="2157984"/>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$65k base + 3 × $9k/site = $92k annual recurring revenue.</a:t>
            </a:r>
            <a:endParaRPr lang="en-US" sz="1300" dirty="0"/>
          </a:p>
        </p:txBody>
      </p:sp>
      <p:sp>
        <p:nvSpPr>
          <p:cNvPr id="9" name="Shape 7"/>
          <p:cNvSpPr/>
          <p:nvPr/>
        </p:nvSpPr>
        <p:spPr>
          <a:xfrm>
            <a:off x="640080" y="3118104"/>
            <a:ext cx="82296" cy="82296"/>
          </a:xfrm>
          <a:prstGeom prst="ellipse">
            <a:avLst/>
          </a:prstGeom>
          <a:solidFill>
            <a:srgbClr val="087F8C"/>
          </a:solidFill>
          <a:ln w="12700">
            <a:solidFill>
              <a:srgbClr val="087F8C">
                <a:alpha val="0"/>
              </a:srgbClr>
            </a:solidFill>
            <a:prstDash val="solid"/>
          </a:ln>
        </p:spPr>
      </p:sp>
      <p:sp>
        <p:nvSpPr>
          <p:cNvPr id="10" name="Text 8"/>
          <p:cNvSpPr/>
          <p:nvPr/>
        </p:nvSpPr>
        <p:spPr>
          <a:xfrm>
            <a:off x="841248" y="3054096"/>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$28k onboarding makes first-year revenue $120k.</a:t>
            </a:r>
            <a:endParaRPr lang="en-US" sz="1300" dirty="0"/>
          </a:p>
        </p:txBody>
      </p:sp>
      <p:sp>
        <p:nvSpPr>
          <p:cNvPr id="11" name="Shape 9"/>
          <p:cNvSpPr/>
          <p:nvPr/>
        </p:nvSpPr>
        <p:spPr>
          <a:xfrm>
            <a:off x="640080" y="4014216"/>
            <a:ext cx="82296" cy="82296"/>
          </a:xfrm>
          <a:prstGeom prst="ellipse">
            <a:avLst/>
          </a:prstGeom>
          <a:solidFill>
            <a:srgbClr val="087F8C"/>
          </a:solidFill>
          <a:ln w="12700">
            <a:solidFill>
              <a:srgbClr val="087F8C">
                <a:alpha val="0"/>
              </a:srgbClr>
            </a:solidFill>
            <a:prstDash val="solid"/>
          </a:ln>
        </p:spPr>
      </p:sp>
      <p:sp>
        <p:nvSpPr>
          <p:cNvPr id="12" name="Text 10"/>
          <p:cNvSpPr/>
          <p:nvPr/>
        </p:nvSpPr>
        <p:spPr>
          <a:xfrm>
            <a:off x="841248" y="3950208"/>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$30k direct cost leaves $90k gross profit (75%) in year one.</a:t>
            </a:r>
            <a:endParaRPr lang="en-US" sz="1300" dirty="0"/>
          </a:p>
        </p:txBody>
      </p:sp>
      <p:sp>
        <p:nvSpPr>
          <p:cNvPr id="13" name="Shape 11"/>
          <p:cNvSpPr/>
          <p:nvPr/>
        </p:nvSpPr>
        <p:spPr>
          <a:xfrm>
            <a:off x="612648" y="5175504"/>
            <a:ext cx="4462272" cy="731520"/>
          </a:xfrm>
          <a:prstGeom prst="roundRect">
            <a:avLst>
              <a:gd name="adj" fmla="val 15000"/>
            </a:avLst>
          </a:prstGeom>
          <a:solidFill>
            <a:srgbClr val="E5F4F2"/>
          </a:solidFill>
          <a:ln w="8890">
            <a:solidFill>
              <a:srgbClr val="E5F4F2"/>
            </a:solidFill>
            <a:prstDash val="solid"/>
          </a:ln>
        </p:spPr>
      </p:sp>
      <p:sp>
        <p:nvSpPr>
          <p:cNvPr id="14" name="Text 12"/>
          <p:cNvSpPr/>
          <p:nvPr/>
        </p:nvSpPr>
        <p:spPr>
          <a:xfrm>
            <a:off x="786384" y="5312664"/>
            <a:ext cx="914400" cy="146304"/>
          </a:xfrm>
          <a:prstGeom prst="rect">
            <a:avLst/>
          </a:prstGeom>
          <a:noFill/>
          <a:ln/>
        </p:spPr>
        <p:txBody>
          <a:bodyPr wrap="square" lIns="0" tIns="0" rIns="0" bIns="0" rtlCol="0" anchor="ctr">
            <a:normAutofit/>
          </a:bodyPr>
          <a:lstStyle/>
          <a:p>
            <a:pPr indent="0" marL="0">
              <a:buNone/>
            </a:pPr>
            <a:r>
              <a:rPr lang="en-US" sz="750" b="1" spc="90" kern="0" dirty="0">
                <a:solidFill>
                  <a:srgbClr val="087F8C"/>
                </a:solidFill>
                <a:latin typeface="Aptos" pitchFamily="34" charset="0"/>
                <a:ea typeface="Aptos" pitchFamily="34" charset="-122"/>
                <a:cs typeface="Aptos" pitchFamily="34" charset="-120"/>
              </a:rPr>
              <a:t>TAKEAWAY</a:t>
            </a:r>
            <a:endParaRPr lang="en-US" sz="750" dirty="0"/>
          </a:p>
        </p:txBody>
      </p:sp>
      <p:sp>
        <p:nvSpPr>
          <p:cNvPr id="15" name="Text 13"/>
          <p:cNvSpPr/>
          <p:nvPr/>
        </p:nvSpPr>
        <p:spPr>
          <a:xfrm>
            <a:off x="786384" y="5504688"/>
            <a:ext cx="4105656" cy="310896"/>
          </a:xfrm>
          <a:prstGeom prst="rect">
            <a:avLst/>
          </a:prstGeom>
          <a:noFill/>
          <a:ln/>
        </p:spPr>
        <p:txBody>
          <a:bodyPr wrap="square" lIns="0" tIns="0" rIns="0" bIns="0" rtlCol="0" anchor="t">
            <a:normAutofit/>
          </a:bodyPr>
          <a:lstStyle/>
          <a:p>
            <a:pPr indent="0" marL="0">
              <a:buNone/>
            </a:pPr>
            <a:r>
              <a:rPr lang="en-US" sz="1030" b="1" dirty="0">
                <a:solidFill>
                  <a:srgbClr val="203747"/>
                </a:solidFill>
                <a:latin typeface="Aptos" pitchFamily="34" charset="0"/>
                <a:ea typeface="Aptos" pitchFamily="34" charset="-122"/>
                <a:cs typeface="Aptos" pitchFamily="34" charset="-120"/>
              </a:rPr>
              <a:t>Gross profit excludes engineering, sales, tax and company overhead.</a:t>
            </a:r>
            <a:endParaRPr lang="en-US" sz="1030" dirty="0"/>
          </a:p>
        </p:txBody>
      </p:sp>
      <p:sp>
        <p:nvSpPr>
          <p:cNvPr id="16" name="Shape 14"/>
          <p:cNvSpPr/>
          <p:nvPr/>
        </p:nvSpPr>
        <p:spPr>
          <a:xfrm>
            <a:off x="5413248" y="1810512"/>
            <a:ext cx="6172200" cy="4096512"/>
          </a:xfrm>
          <a:prstGeom prst="roundRect">
            <a:avLst>
              <a:gd name="adj" fmla="val 2679"/>
            </a:avLst>
          </a:prstGeom>
          <a:solidFill>
            <a:srgbClr val="FFFFFF"/>
          </a:solidFill>
          <a:ln w="8890">
            <a:solidFill>
              <a:srgbClr val="E0E8EA"/>
            </a:solidFill>
            <a:prstDash val="solid"/>
          </a:ln>
        </p:spPr>
      </p:sp>
      <p:sp>
        <p:nvSpPr>
          <p:cNvPr id="17" name="Text 15"/>
          <p:cNvSpPr/>
          <p:nvPr/>
        </p:nvSpPr>
        <p:spPr>
          <a:xfrm>
            <a:off x="5687568" y="1993392"/>
            <a:ext cx="5577840" cy="274320"/>
          </a:xfrm>
          <a:prstGeom prst="rect">
            <a:avLst/>
          </a:prstGeom>
          <a:noFill/>
          <a:ln/>
        </p:spPr>
        <p:txBody>
          <a:bodyPr wrap="square" lIns="0" tIns="0" rIns="0" bIns="0" rtlCol="0" anchor="ctr">
            <a:normAutofit/>
          </a:bodyPr>
          <a:lstStyle/>
          <a:p>
            <a:pPr indent="0" marL="0">
              <a:buNone/>
            </a:pPr>
            <a:r>
              <a:rPr lang="en-US" sz="1400" b="1" dirty="0">
                <a:solidFill>
                  <a:srgbClr val="102638"/>
                </a:solidFill>
                <a:latin typeface="Aptos Display" pitchFamily="34" charset="0"/>
                <a:ea typeface="Aptos Display" pitchFamily="34" charset="-122"/>
                <a:cs typeface="Aptos Display" pitchFamily="34" charset="-120"/>
              </a:rPr>
              <a:t>Illustrative first-year gross profit · USD</a:t>
            </a:r>
            <a:endParaRPr lang="en-US" sz="1400" dirty="0"/>
          </a:p>
        </p:txBody>
      </p:sp>
      <p:sp>
        <p:nvSpPr>
          <p:cNvPr id="18" name="Text 16"/>
          <p:cNvSpPr/>
          <p:nvPr/>
        </p:nvSpPr>
        <p:spPr>
          <a:xfrm>
            <a:off x="5751576" y="2670048"/>
            <a:ext cx="1371600" cy="155448"/>
          </a:xfrm>
          <a:prstGeom prst="rect">
            <a:avLst/>
          </a:prstGeom>
          <a:noFill/>
          <a:ln/>
        </p:spPr>
        <p:txBody>
          <a:bodyPr wrap="square" lIns="0" tIns="0" rIns="0" bIns="0" rtlCol="0" anchor="ctr">
            <a:normAutofit/>
          </a:bodyPr>
          <a:lstStyle/>
          <a:p>
            <a:pPr indent="0" marL="0">
              <a:buNone/>
            </a:pPr>
            <a:r>
              <a:rPr lang="en-US" sz="750" b="1" spc="70" kern="0" dirty="0">
                <a:solidFill>
                  <a:srgbClr val="72858D"/>
                </a:solidFill>
                <a:latin typeface="Aptos" pitchFamily="34" charset="0"/>
                <a:ea typeface="Aptos" pitchFamily="34" charset="-122"/>
                <a:cs typeface="Aptos" pitchFamily="34" charset="-120"/>
              </a:rPr>
              <a:t>ORGANIZATIONS</a:t>
            </a:r>
            <a:endParaRPr lang="en-US" sz="750" dirty="0"/>
          </a:p>
        </p:txBody>
      </p:sp>
      <p:sp>
        <p:nvSpPr>
          <p:cNvPr id="19" name="Text 17"/>
          <p:cNvSpPr/>
          <p:nvPr/>
        </p:nvSpPr>
        <p:spPr>
          <a:xfrm>
            <a:off x="8019288" y="2670048"/>
            <a:ext cx="3200400" cy="155448"/>
          </a:xfrm>
          <a:prstGeom prst="rect">
            <a:avLst/>
          </a:prstGeom>
          <a:noFill/>
          <a:ln/>
        </p:spPr>
        <p:txBody>
          <a:bodyPr wrap="square" lIns="0" tIns="0" rIns="0" bIns="0" rtlCol="0" anchor="ctr">
            <a:normAutofit/>
          </a:bodyPr>
          <a:lstStyle/>
          <a:p>
            <a:pPr indent="0" marL="0">
              <a:buNone/>
            </a:pPr>
            <a:r>
              <a:rPr lang="en-US" sz="750" b="1" spc="55" kern="0" dirty="0">
                <a:solidFill>
                  <a:srgbClr val="72858D"/>
                </a:solidFill>
                <a:latin typeface="Aptos" pitchFamily="34" charset="0"/>
                <a:ea typeface="Aptos" pitchFamily="34" charset="-122"/>
                <a:cs typeface="Aptos" pitchFamily="34" charset="-120"/>
              </a:rPr>
              <a:t>YEAR-ONE REVENUE / GROSS PROFIT</a:t>
            </a:r>
            <a:endParaRPr lang="en-US" sz="750" dirty="0"/>
          </a:p>
        </p:txBody>
      </p:sp>
      <p:sp>
        <p:nvSpPr>
          <p:cNvPr id="20" name="Shape 18"/>
          <p:cNvSpPr/>
          <p:nvPr/>
        </p:nvSpPr>
        <p:spPr>
          <a:xfrm>
            <a:off x="5687568" y="2944368"/>
            <a:ext cx="5623560" cy="475488"/>
          </a:xfrm>
          <a:prstGeom prst="roundRect">
            <a:avLst>
              <a:gd name="adj" fmla="val 23077"/>
            </a:avLst>
          </a:prstGeom>
          <a:solidFill>
            <a:srgbClr val="F2F7F7"/>
          </a:solidFill>
          <a:ln w="8890">
            <a:solidFill>
              <a:srgbClr val="F2F7F7"/>
            </a:solidFill>
            <a:prstDash val="solid"/>
          </a:ln>
        </p:spPr>
      </p:sp>
      <p:sp>
        <p:nvSpPr>
          <p:cNvPr id="21" name="Text 19"/>
          <p:cNvSpPr/>
          <p:nvPr/>
        </p:nvSpPr>
        <p:spPr>
          <a:xfrm>
            <a:off x="5852160" y="3035808"/>
            <a:ext cx="1463040" cy="246888"/>
          </a:xfrm>
          <a:prstGeom prst="rect">
            <a:avLst/>
          </a:prstGeom>
          <a:noFill/>
          <a:ln/>
        </p:spPr>
        <p:txBody>
          <a:bodyPr wrap="square" lIns="0" tIns="0" rIns="0" bIns="0" rtlCol="0" anchor="ctr">
            <a:normAutofit/>
          </a:bodyPr>
          <a:lstStyle/>
          <a:p>
            <a:pPr indent="0" marL="0">
              <a:buNone/>
            </a:pPr>
            <a:r>
              <a:rPr lang="en-US" sz="1000" b="1" dirty="0">
                <a:solidFill>
                  <a:srgbClr val="102638"/>
                </a:solidFill>
                <a:latin typeface="Aptos" pitchFamily="34" charset="0"/>
                <a:ea typeface="Aptos" pitchFamily="34" charset="-122"/>
                <a:cs typeface="Aptos" pitchFamily="34" charset="-120"/>
              </a:rPr>
              <a:t>1 organization</a:t>
            </a:r>
            <a:endParaRPr lang="en-US" sz="1000" dirty="0"/>
          </a:p>
        </p:txBody>
      </p:sp>
      <p:sp>
        <p:nvSpPr>
          <p:cNvPr id="22" name="Text 20"/>
          <p:cNvSpPr/>
          <p:nvPr/>
        </p:nvSpPr>
        <p:spPr>
          <a:xfrm>
            <a:off x="7470648" y="3035808"/>
            <a:ext cx="3566160" cy="246888"/>
          </a:xfrm>
          <a:prstGeom prst="rect">
            <a:avLst/>
          </a:prstGeom>
          <a:noFill/>
          <a:ln/>
        </p:spPr>
        <p:txBody>
          <a:bodyPr wrap="square" lIns="0" tIns="0" rIns="0" bIns="0" rtlCol="0" anchor="ctr">
            <a:normAutofit/>
          </a:bodyPr>
          <a:lstStyle/>
          <a:p>
            <a:pPr indent="0" marL="0">
              <a:buNone/>
            </a:pPr>
            <a:r>
              <a:rPr lang="en-US" sz="1000" b="1" dirty="0">
                <a:solidFill>
                  <a:srgbClr val="087F8C"/>
                </a:solidFill>
                <a:latin typeface="Aptos" pitchFamily="34" charset="0"/>
                <a:ea typeface="Aptos" pitchFamily="34" charset="-122"/>
                <a:cs typeface="Aptos" pitchFamily="34" charset="-120"/>
              </a:rPr>
              <a:t>$120k revenue · $90k gross profit</a:t>
            </a:r>
            <a:endParaRPr lang="en-US" sz="1000" dirty="0"/>
          </a:p>
        </p:txBody>
      </p:sp>
      <p:sp>
        <p:nvSpPr>
          <p:cNvPr id="23" name="Shape 21"/>
          <p:cNvSpPr/>
          <p:nvPr/>
        </p:nvSpPr>
        <p:spPr>
          <a:xfrm>
            <a:off x="5687568" y="3566160"/>
            <a:ext cx="5623560" cy="475488"/>
          </a:xfrm>
          <a:prstGeom prst="roundRect">
            <a:avLst>
              <a:gd name="adj" fmla="val 23077"/>
            </a:avLst>
          </a:prstGeom>
          <a:solidFill>
            <a:srgbClr val="F8FAFA"/>
          </a:solidFill>
          <a:ln w="8890">
            <a:solidFill>
              <a:srgbClr val="F8FAFA"/>
            </a:solidFill>
            <a:prstDash val="solid"/>
          </a:ln>
        </p:spPr>
      </p:sp>
      <p:sp>
        <p:nvSpPr>
          <p:cNvPr id="24" name="Text 22"/>
          <p:cNvSpPr/>
          <p:nvPr/>
        </p:nvSpPr>
        <p:spPr>
          <a:xfrm>
            <a:off x="5852160" y="3657600"/>
            <a:ext cx="1463040" cy="246888"/>
          </a:xfrm>
          <a:prstGeom prst="rect">
            <a:avLst/>
          </a:prstGeom>
          <a:noFill/>
          <a:ln/>
        </p:spPr>
        <p:txBody>
          <a:bodyPr wrap="square" lIns="0" tIns="0" rIns="0" bIns="0" rtlCol="0" anchor="ctr">
            <a:normAutofit/>
          </a:bodyPr>
          <a:lstStyle/>
          <a:p>
            <a:pPr indent="0" marL="0">
              <a:buNone/>
            </a:pPr>
            <a:r>
              <a:rPr lang="en-US" sz="1000" b="1" dirty="0">
                <a:solidFill>
                  <a:srgbClr val="102638"/>
                </a:solidFill>
                <a:latin typeface="Aptos" pitchFamily="34" charset="0"/>
                <a:ea typeface="Aptos" pitchFamily="34" charset="-122"/>
                <a:cs typeface="Aptos" pitchFamily="34" charset="-120"/>
              </a:rPr>
              <a:t>5 organizations</a:t>
            </a:r>
            <a:endParaRPr lang="en-US" sz="1000" dirty="0"/>
          </a:p>
        </p:txBody>
      </p:sp>
      <p:sp>
        <p:nvSpPr>
          <p:cNvPr id="25" name="Text 23"/>
          <p:cNvSpPr/>
          <p:nvPr/>
        </p:nvSpPr>
        <p:spPr>
          <a:xfrm>
            <a:off x="7470648" y="3657600"/>
            <a:ext cx="3566160" cy="246888"/>
          </a:xfrm>
          <a:prstGeom prst="rect">
            <a:avLst/>
          </a:prstGeom>
          <a:noFill/>
          <a:ln/>
        </p:spPr>
        <p:txBody>
          <a:bodyPr wrap="square" lIns="0" tIns="0" rIns="0" bIns="0" rtlCol="0" anchor="ctr">
            <a:normAutofit/>
          </a:bodyPr>
          <a:lstStyle/>
          <a:p>
            <a:pPr indent="0" marL="0">
              <a:buNone/>
            </a:pPr>
            <a:r>
              <a:rPr lang="en-US" sz="1000" b="1" dirty="0">
                <a:solidFill>
                  <a:srgbClr val="087F8C"/>
                </a:solidFill>
                <a:latin typeface="Aptos" pitchFamily="34" charset="0"/>
                <a:ea typeface="Aptos" pitchFamily="34" charset="-122"/>
                <a:cs typeface="Aptos" pitchFamily="34" charset="-120"/>
              </a:rPr>
              <a:t>$600k revenue · $450k gross profit</a:t>
            </a:r>
            <a:endParaRPr lang="en-US" sz="1000" dirty="0"/>
          </a:p>
        </p:txBody>
      </p:sp>
      <p:sp>
        <p:nvSpPr>
          <p:cNvPr id="26" name="Shape 24"/>
          <p:cNvSpPr/>
          <p:nvPr/>
        </p:nvSpPr>
        <p:spPr>
          <a:xfrm>
            <a:off x="5687568" y="4187952"/>
            <a:ext cx="5623560" cy="475488"/>
          </a:xfrm>
          <a:prstGeom prst="roundRect">
            <a:avLst>
              <a:gd name="adj" fmla="val 23077"/>
            </a:avLst>
          </a:prstGeom>
          <a:solidFill>
            <a:srgbClr val="F2F7F7"/>
          </a:solidFill>
          <a:ln w="8890">
            <a:solidFill>
              <a:srgbClr val="F2F7F7"/>
            </a:solidFill>
            <a:prstDash val="solid"/>
          </a:ln>
        </p:spPr>
      </p:sp>
      <p:sp>
        <p:nvSpPr>
          <p:cNvPr id="27" name="Text 25"/>
          <p:cNvSpPr/>
          <p:nvPr/>
        </p:nvSpPr>
        <p:spPr>
          <a:xfrm>
            <a:off x="5852160" y="4279392"/>
            <a:ext cx="1463040" cy="246888"/>
          </a:xfrm>
          <a:prstGeom prst="rect">
            <a:avLst/>
          </a:prstGeom>
          <a:noFill/>
          <a:ln/>
        </p:spPr>
        <p:txBody>
          <a:bodyPr wrap="square" lIns="0" tIns="0" rIns="0" bIns="0" rtlCol="0" anchor="ctr">
            <a:normAutofit/>
          </a:bodyPr>
          <a:lstStyle/>
          <a:p>
            <a:pPr indent="0" marL="0">
              <a:buNone/>
            </a:pPr>
            <a:r>
              <a:rPr lang="en-US" sz="1000" b="1" dirty="0">
                <a:solidFill>
                  <a:srgbClr val="102638"/>
                </a:solidFill>
                <a:latin typeface="Aptos" pitchFamily="34" charset="0"/>
                <a:ea typeface="Aptos" pitchFamily="34" charset="-122"/>
                <a:cs typeface="Aptos" pitchFamily="34" charset="-120"/>
              </a:rPr>
              <a:t>10 organizations</a:t>
            </a:r>
            <a:endParaRPr lang="en-US" sz="1000" dirty="0"/>
          </a:p>
        </p:txBody>
      </p:sp>
      <p:sp>
        <p:nvSpPr>
          <p:cNvPr id="28" name="Text 26"/>
          <p:cNvSpPr/>
          <p:nvPr/>
        </p:nvSpPr>
        <p:spPr>
          <a:xfrm>
            <a:off x="7470648" y="4279392"/>
            <a:ext cx="3566160" cy="246888"/>
          </a:xfrm>
          <a:prstGeom prst="rect">
            <a:avLst/>
          </a:prstGeom>
          <a:noFill/>
          <a:ln/>
        </p:spPr>
        <p:txBody>
          <a:bodyPr wrap="square" lIns="0" tIns="0" rIns="0" bIns="0" rtlCol="0" anchor="ctr">
            <a:normAutofit/>
          </a:bodyPr>
          <a:lstStyle/>
          <a:p>
            <a:pPr indent="0" marL="0">
              <a:buNone/>
            </a:pPr>
            <a:r>
              <a:rPr lang="en-US" sz="1000" b="1" dirty="0">
                <a:solidFill>
                  <a:srgbClr val="087F8C"/>
                </a:solidFill>
                <a:latin typeface="Aptos" pitchFamily="34" charset="0"/>
                <a:ea typeface="Aptos" pitchFamily="34" charset="-122"/>
                <a:cs typeface="Aptos" pitchFamily="34" charset="-120"/>
              </a:rPr>
              <a:t>$1.20m revenue · $900k gross profit</a:t>
            </a:r>
            <a:endParaRPr lang="en-US" sz="1000" dirty="0"/>
          </a:p>
        </p:txBody>
      </p:sp>
      <p:sp>
        <p:nvSpPr>
          <p:cNvPr id="29" name="Shape 27"/>
          <p:cNvSpPr/>
          <p:nvPr/>
        </p:nvSpPr>
        <p:spPr>
          <a:xfrm>
            <a:off x="5687568" y="4809744"/>
            <a:ext cx="5623560" cy="475488"/>
          </a:xfrm>
          <a:prstGeom prst="roundRect">
            <a:avLst>
              <a:gd name="adj" fmla="val 23077"/>
            </a:avLst>
          </a:prstGeom>
          <a:solidFill>
            <a:srgbClr val="F8FAFA"/>
          </a:solidFill>
          <a:ln w="8890">
            <a:solidFill>
              <a:srgbClr val="F8FAFA"/>
            </a:solidFill>
            <a:prstDash val="solid"/>
          </a:ln>
        </p:spPr>
      </p:sp>
      <p:sp>
        <p:nvSpPr>
          <p:cNvPr id="30" name="Text 28"/>
          <p:cNvSpPr/>
          <p:nvPr/>
        </p:nvSpPr>
        <p:spPr>
          <a:xfrm>
            <a:off x="5852160" y="4901184"/>
            <a:ext cx="1463040" cy="246888"/>
          </a:xfrm>
          <a:prstGeom prst="rect">
            <a:avLst/>
          </a:prstGeom>
          <a:noFill/>
          <a:ln/>
        </p:spPr>
        <p:txBody>
          <a:bodyPr wrap="square" lIns="0" tIns="0" rIns="0" bIns="0" rtlCol="0" anchor="ctr">
            <a:normAutofit/>
          </a:bodyPr>
          <a:lstStyle/>
          <a:p>
            <a:pPr indent="0" marL="0">
              <a:buNone/>
            </a:pPr>
            <a:r>
              <a:rPr lang="en-US" sz="1000" b="1" dirty="0">
                <a:solidFill>
                  <a:srgbClr val="102638"/>
                </a:solidFill>
                <a:latin typeface="Aptos" pitchFamily="34" charset="0"/>
                <a:ea typeface="Aptos" pitchFamily="34" charset="-122"/>
                <a:cs typeface="Aptos" pitchFamily="34" charset="-120"/>
              </a:rPr>
              <a:t>25 organizations</a:t>
            </a:r>
            <a:endParaRPr lang="en-US" sz="1000" dirty="0"/>
          </a:p>
        </p:txBody>
      </p:sp>
      <p:sp>
        <p:nvSpPr>
          <p:cNvPr id="31" name="Text 29"/>
          <p:cNvSpPr/>
          <p:nvPr/>
        </p:nvSpPr>
        <p:spPr>
          <a:xfrm>
            <a:off x="7470648" y="4901184"/>
            <a:ext cx="3566160" cy="246888"/>
          </a:xfrm>
          <a:prstGeom prst="rect">
            <a:avLst/>
          </a:prstGeom>
          <a:noFill/>
          <a:ln/>
        </p:spPr>
        <p:txBody>
          <a:bodyPr wrap="square" lIns="0" tIns="0" rIns="0" bIns="0" rtlCol="0" anchor="ctr">
            <a:normAutofit/>
          </a:bodyPr>
          <a:lstStyle/>
          <a:p>
            <a:pPr indent="0" marL="0">
              <a:buNone/>
            </a:pPr>
            <a:r>
              <a:rPr lang="en-US" sz="1000" b="1" dirty="0">
                <a:solidFill>
                  <a:srgbClr val="087F8C"/>
                </a:solidFill>
                <a:latin typeface="Aptos" pitchFamily="34" charset="0"/>
                <a:ea typeface="Aptos" pitchFamily="34" charset="-122"/>
                <a:cs typeface="Aptos" pitchFamily="34" charset="-120"/>
              </a:rPr>
              <a:t>$3.00m revenue · $2.25m gross profit</a:t>
            </a:r>
            <a:endParaRPr lang="en-US" sz="1000" dirty="0"/>
          </a:p>
        </p:txBody>
      </p:sp>
      <p:sp>
        <p:nvSpPr>
          <p:cNvPr id="32" name="Text 30"/>
          <p:cNvSpPr/>
          <p:nvPr/>
        </p:nvSpPr>
        <p:spPr>
          <a:xfrm>
            <a:off x="5769864" y="5449824"/>
            <a:ext cx="5532120" cy="182880"/>
          </a:xfrm>
          <a:prstGeom prst="rect">
            <a:avLst/>
          </a:prstGeom>
          <a:noFill/>
          <a:ln/>
        </p:spPr>
        <p:txBody>
          <a:bodyPr wrap="square" lIns="0" tIns="0" rIns="0" bIns="0" rtlCol="0" anchor="ctr">
            <a:normAutofit/>
          </a:bodyPr>
          <a:lstStyle/>
          <a:p>
            <a:pPr indent="0" marL="0">
              <a:buNone/>
            </a:pPr>
            <a:r>
              <a:rPr lang="en-US" sz="780" dirty="0">
                <a:solidFill>
                  <a:srgbClr val="72858D"/>
                </a:solidFill>
                <a:latin typeface="Aptos" pitchFamily="34" charset="0"/>
                <a:ea typeface="Aptos" pitchFamily="34" charset="-122"/>
                <a:cs typeface="Aptos" pitchFamily="34" charset="-120"/>
              </a:rPr>
              <a:t>Model: $92k recurring + $28k onboarding · $30k direct year-one cost per organization.</a:t>
            </a:r>
            <a:endParaRPr lang="en-US" sz="780" dirty="0"/>
          </a:p>
        </p:txBody>
      </p:sp>
      <p:sp>
        <p:nvSpPr>
          <p:cNvPr id="25" name="Slide Number Placeholder 0"/>
          <p:cNvSpPr>
            <a:spLocks noGrp="1"/>
          </p:cNvSpPr>
          <p:nvPr>
            <p:ph type="sldNum" sz="quarter" idx="4294967295"/>
          </p:nvPr>
        </p:nvSpPr>
        <p:spPr>
          <a:xfrm>
            <a:off x="11247120" y="6492240"/>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1838D"/>
                </a:solidFill>
                <a:latin typeface="Aptos"/>
                <a:ea typeface="Aptos"/>
                <a:cs typeface="Apto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292608"/>
            <a:ext cx="5943600" cy="182880"/>
          </a:xfrm>
          <a:prstGeom prst="rect">
            <a:avLst/>
          </a:prstGeom>
          <a:noFill/>
          <a:ln/>
        </p:spPr>
        <p:txBody>
          <a:bodyPr wrap="square" lIns="0" tIns="0" rIns="0" bIns="0" rtlCol="0" anchor="ctr">
            <a:normAutofit/>
          </a:bodyPr>
          <a:lstStyle/>
          <a:p>
            <a:pPr indent="0" marL="0">
              <a:buNone/>
            </a:pPr>
            <a:r>
              <a:rPr lang="en-US" sz="800" b="1" spc="120" kern="0" dirty="0">
                <a:solidFill>
                  <a:srgbClr val="5E80AA"/>
                </a:solidFill>
                <a:latin typeface="Aptos" pitchFamily="34" charset="0"/>
                <a:ea typeface="Aptos" pitchFamily="34" charset="-122"/>
                <a:cs typeface="Aptos" pitchFamily="34" charset="-120"/>
              </a:rPr>
              <a:t>TECHNICAL FEASIBILITY</a:t>
            </a:r>
            <a:endParaRPr lang="en-US" sz="8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indent="0" marL="0">
              <a:buNone/>
            </a:pPr>
            <a:r>
              <a:rPr lang="en-US" sz="2500" b="1" dirty="0">
                <a:solidFill>
                  <a:srgbClr val="102638"/>
                </a:solidFill>
                <a:latin typeface="Aptos Display" pitchFamily="34" charset="0"/>
                <a:ea typeface="Aptos Display" pitchFamily="34" charset="-122"/>
                <a:cs typeface="Aptos Display" pitchFamily="34" charset="-120"/>
              </a:rPr>
              <a:t>A small, familiar stack runs the demo.</a:t>
            </a:r>
            <a:endParaRPr lang="en-US" sz="2500" dirty="0"/>
          </a:p>
        </p:txBody>
      </p:sp>
      <p:sp>
        <p:nvSpPr>
          <p:cNvPr id="4" name="Text 2"/>
          <p:cNvSpPr/>
          <p:nvPr/>
        </p:nvSpPr>
        <p:spPr>
          <a:xfrm>
            <a:off x="585216" y="1152144"/>
            <a:ext cx="10881360" cy="347472"/>
          </a:xfrm>
          <a:prstGeom prst="rect">
            <a:avLst/>
          </a:prstGeom>
          <a:noFill/>
          <a:ln/>
        </p:spPr>
        <p:txBody>
          <a:bodyPr wrap="square" lIns="0" tIns="0" rIns="0" bIns="0" rtlCol="0" anchor="t">
            <a:normAutofit/>
          </a:bodyPr>
          <a:lstStyle/>
          <a:p>
            <a:pPr indent="0" marL="0">
              <a:buNone/>
            </a:pPr>
            <a:r>
              <a:rPr lang="en-US" sz="1200" dirty="0">
                <a:solidFill>
                  <a:srgbClr val="72858D"/>
                </a:solidFill>
                <a:latin typeface="Aptos" pitchFamily="34" charset="0"/>
                <a:ea typeface="Aptos" pitchFamily="34" charset="-122"/>
                <a:cs typeface="Aptos" pitchFamily="34" charset="-120"/>
              </a:rPr>
              <a:t>The app can run locally, with no cloud AI or graph database required.</a:t>
            </a:r>
            <a:endParaRPr lang="en-US" sz="1200" dirty="0"/>
          </a:p>
        </p:txBody>
      </p:sp>
      <p:sp>
        <p:nvSpPr>
          <p:cNvPr id="5" name="Shape 3"/>
          <p:cNvSpPr/>
          <p:nvPr/>
        </p:nvSpPr>
        <p:spPr>
          <a:xfrm>
            <a:off x="566928" y="1618488"/>
            <a:ext cx="11064240" cy="0"/>
          </a:xfrm>
          <a:prstGeom prst="line">
            <a:avLst/>
          </a:prstGeom>
          <a:noFill/>
          <a:ln w="12700">
            <a:solidFill>
              <a:srgbClr val="E0E8EA"/>
            </a:solidFill>
            <a:prstDash val="solid"/>
          </a:ln>
        </p:spPr>
      </p:sp>
      <p:sp>
        <p:nvSpPr>
          <p:cNvPr id="6" name="Text 4"/>
          <p:cNvSpPr/>
          <p:nvPr/>
        </p:nvSpPr>
        <p:spPr>
          <a:xfrm>
            <a:off x="621792" y="1847088"/>
            <a:ext cx="4389120" cy="182880"/>
          </a:xfrm>
          <a:prstGeom prst="rect">
            <a:avLst/>
          </a:prstGeom>
          <a:noFill/>
          <a:ln/>
        </p:spPr>
        <p:txBody>
          <a:bodyPr wrap="square" lIns="0" tIns="0" rIns="0" bIns="0" rtlCol="0" anchor="ctr">
            <a:normAutofit/>
          </a:bodyPr>
          <a:lstStyle/>
          <a:p>
            <a:pPr indent="0" marL="0">
              <a:buNone/>
            </a:pPr>
            <a:r>
              <a:rPr lang="en-US" sz="800" b="1" spc="90" kern="0" dirty="0">
                <a:solidFill>
                  <a:srgbClr val="91A0A6"/>
                </a:solidFill>
                <a:latin typeface="Aptos" pitchFamily="34" charset="0"/>
                <a:ea typeface="Aptos" pitchFamily="34" charset="-122"/>
                <a:cs typeface="Aptos" pitchFamily="34" charset="-120"/>
              </a:rPr>
              <a:t>PLANNING INSIGHT</a:t>
            </a:r>
            <a:endParaRPr lang="en-US" sz="800" dirty="0"/>
          </a:p>
        </p:txBody>
      </p:sp>
      <p:sp>
        <p:nvSpPr>
          <p:cNvPr id="7" name="Shape 5"/>
          <p:cNvSpPr/>
          <p:nvPr/>
        </p:nvSpPr>
        <p:spPr>
          <a:xfrm>
            <a:off x="640080" y="2221992"/>
            <a:ext cx="82296" cy="82296"/>
          </a:xfrm>
          <a:prstGeom prst="ellipse">
            <a:avLst/>
          </a:prstGeom>
          <a:solidFill>
            <a:srgbClr val="5E80AA"/>
          </a:solidFill>
          <a:ln w="12700">
            <a:solidFill>
              <a:srgbClr val="5E80AA">
                <a:alpha val="0"/>
              </a:srgbClr>
            </a:solidFill>
            <a:prstDash val="solid"/>
          </a:ln>
        </p:spPr>
      </p:sp>
      <p:sp>
        <p:nvSpPr>
          <p:cNvPr id="8" name="Text 6"/>
          <p:cNvSpPr/>
          <p:nvPr/>
        </p:nvSpPr>
        <p:spPr>
          <a:xfrm>
            <a:off x="841248" y="2157984"/>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React draws the map; FastAPI provides the API.</a:t>
            </a:r>
            <a:endParaRPr lang="en-US" sz="1300" dirty="0"/>
          </a:p>
        </p:txBody>
      </p:sp>
      <p:sp>
        <p:nvSpPr>
          <p:cNvPr id="9" name="Shape 7"/>
          <p:cNvSpPr/>
          <p:nvPr/>
        </p:nvSpPr>
        <p:spPr>
          <a:xfrm>
            <a:off x="640080" y="3118104"/>
            <a:ext cx="82296" cy="82296"/>
          </a:xfrm>
          <a:prstGeom prst="ellipse">
            <a:avLst/>
          </a:prstGeom>
          <a:solidFill>
            <a:srgbClr val="5E80AA"/>
          </a:solidFill>
          <a:ln w="12700">
            <a:solidFill>
              <a:srgbClr val="5E80AA">
                <a:alpha val="0"/>
              </a:srgbClr>
            </a:solidFill>
            <a:prstDash val="solid"/>
          </a:ln>
        </p:spPr>
      </p:sp>
      <p:sp>
        <p:nvSpPr>
          <p:cNvPr id="10" name="Text 8"/>
          <p:cNvSpPr/>
          <p:nvPr/>
        </p:nvSpPr>
        <p:spPr>
          <a:xfrm>
            <a:off x="841248" y="3054096"/>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NetworkX calculates impacts; PostgreSQL saves records.</a:t>
            </a:r>
            <a:endParaRPr lang="en-US" sz="1300" dirty="0"/>
          </a:p>
        </p:txBody>
      </p:sp>
      <p:sp>
        <p:nvSpPr>
          <p:cNvPr id="11" name="Shape 9"/>
          <p:cNvSpPr/>
          <p:nvPr/>
        </p:nvSpPr>
        <p:spPr>
          <a:xfrm>
            <a:off x="640080" y="4014216"/>
            <a:ext cx="82296" cy="82296"/>
          </a:xfrm>
          <a:prstGeom prst="ellipse">
            <a:avLst/>
          </a:prstGeom>
          <a:solidFill>
            <a:srgbClr val="5E80AA"/>
          </a:solidFill>
          <a:ln w="12700">
            <a:solidFill>
              <a:srgbClr val="5E80AA">
                <a:alpha val="0"/>
              </a:srgbClr>
            </a:solidFill>
            <a:prstDash val="solid"/>
          </a:ln>
        </p:spPr>
      </p:sp>
      <p:sp>
        <p:nvSpPr>
          <p:cNvPr id="12" name="Text 10"/>
          <p:cNvSpPr/>
          <p:nvPr/>
        </p:nvSpPr>
        <p:spPr>
          <a:xfrm>
            <a:off x="841248" y="3950208"/>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Ollama is an optional local AI service.</a:t>
            </a:r>
            <a:endParaRPr lang="en-US" sz="1300" dirty="0"/>
          </a:p>
        </p:txBody>
      </p:sp>
      <p:sp>
        <p:nvSpPr>
          <p:cNvPr id="13" name="Shape 11"/>
          <p:cNvSpPr/>
          <p:nvPr/>
        </p:nvSpPr>
        <p:spPr>
          <a:xfrm>
            <a:off x="612648" y="5175504"/>
            <a:ext cx="4462272" cy="731520"/>
          </a:xfrm>
          <a:prstGeom prst="roundRect">
            <a:avLst>
              <a:gd name="adj" fmla="val 15000"/>
            </a:avLst>
          </a:prstGeom>
          <a:solidFill>
            <a:srgbClr val="EDF2F8"/>
          </a:solidFill>
          <a:ln w="8890">
            <a:solidFill>
              <a:srgbClr val="EDF2F8"/>
            </a:solidFill>
            <a:prstDash val="solid"/>
          </a:ln>
        </p:spPr>
      </p:sp>
      <p:sp>
        <p:nvSpPr>
          <p:cNvPr id="14" name="Text 12"/>
          <p:cNvSpPr/>
          <p:nvPr/>
        </p:nvSpPr>
        <p:spPr>
          <a:xfrm>
            <a:off x="786384" y="5312664"/>
            <a:ext cx="914400" cy="146304"/>
          </a:xfrm>
          <a:prstGeom prst="rect">
            <a:avLst/>
          </a:prstGeom>
          <a:noFill/>
          <a:ln/>
        </p:spPr>
        <p:txBody>
          <a:bodyPr wrap="square" lIns="0" tIns="0" rIns="0" bIns="0" rtlCol="0" anchor="ctr">
            <a:normAutofit/>
          </a:bodyPr>
          <a:lstStyle/>
          <a:p>
            <a:pPr indent="0" marL="0">
              <a:buNone/>
            </a:pPr>
            <a:r>
              <a:rPr lang="en-US" sz="750" b="1" spc="90" kern="0" dirty="0">
                <a:solidFill>
                  <a:srgbClr val="5E80AA"/>
                </a:solidFill>
                <a:latin typeface="Aptos" pitchFamily="34" charset="0"/>
                <a:ea typeface="Aptos" pitchFamily="34" charset="-122"/>
                <a:cs typeface="Aptos" pitchFamily="34" charset="-120"/>
              </a:rPr>
              <a:t>TAKEAWAY</a:t>
            </a:r>
            <a:endParaRPr lang="en-US" sz="750" dirty="0"/>
          </a:p>
        </p:txBody>
      </p:sp>
      <p:sp>
        <p:nvSpPr>
          <p:cNvPr id="15" name="Text 13"/>
          <p:cNvSpPr/>
          <p:nvPr/>
        </p:nvSpPr>
        <p:spPr>
          <a:xfrm>
            <a:off x="786384" y="5504688"/>
            <a:ext cx="4105656" cy="310896"/>
          </a:xfrm>
          <a:prstGeom prst="rect">
            <a:avLst/>
          </a:prstGeom>
          <a:noFill/>
          <a:ln/>
        </p:spPr>
        <p:txBody>
          <a:bodyPr wrap="square" lIns="0" tIns="0" rIns="0" bIns="0" rtlCol="0" anchor="t">
            <a:normAutofit/>
          </a:bodyPr>
          <a:lstStyle/>
          <a:p>
            <a:pPr indent="0" marL="0">
              <a:buNone/>
            </a:pPr>
            <a:r>
              <a:rPr lang="en-US" sz="1030" b="1" dirty="0">
                <a:solidFill>
                  <a:srgbClr val="203747"/>
                </a:solidFill>
                <a:latin typeface="Aptos" pitchFamily="34" charset="0"/>
                <a:ea typeface="Aptos" pitchFamily="34" charset="-122"/>
                <a:cs typeface="Aptos" pitchFamily="34" charset="-120"/>
              </a:rPr>
              <a:t>The prototype is feasible; customer deployment needs hardening.</a:t>
            </a:r>
            <a:endParaRPr lang="en-US" sz="1030" dirty="0"/>
          </a:p>
        </p:txBody>
      </p:sp>
      <p:sp>
        <p:nvSpPr>
          <p:cNvPr id="16" name="Shape 14"/>
          <p:cNvSpPr/>
          <p:nvPr/>
        </p:nvSpPr>
        <p:spPr>
          <a:xfrm>
            <a:off x="5413248" y="1810512"/>
            <a:ext cx="6172200" cy="4096512"/>
          </a:xfrm>
          <a:prstGeom prst="roundRect">
            <a:avLst>
              <a:gd name="adj" fmla="val 2679"/>
            </a:avLst>
          </a:prstGeom>
          <a:solidFill>
            <a:srgbClr val="FFFFFF"/>
          </a:solidFill>
          <a:ln w="8890">
            <a:solidFill>
              <a:srgbClr val="E0E8EA"/>
            </a:solidFill>
            <a:prstDash val="solid"/>
          </a:ln>
        </p:spPr>
      </p:sp>
      <p:sp>
        <p:nvSpPr>
          <p:cNvPr id="17" name="Text 15"/>
          <p:cNvSpPr/>
          <p:nvPr/>
        </p:nvSpPr>
        <p:spPr>
          <a:xfrm>
            <a:off x="5687568" y="1993392"/>
            <a:ext cx="5577840" cy="274320"/>
          </a:xfrm>
          <a:prstGeom prst="rect">
            <a:avLst/>
          </a:prstGeom>
          <a:noFill/>
          <a:ln/>
        </p:spPr>
        <p:txBody>
          <a:bodyPr wrap="square" lIns="0" tIns="0" rIns="0" bIns="0" rtlCol="0" anchor="ctr">
            <a:normAutofit/>
          </a:bodyPr>
          <a:lstStyle/>
          <a:p>
            <a:pPr indent="0" marL="0">
              <a:buNone/>
            </a:pPr>
            <a:r>
              <a:rPr lang="en-US" sz="1400" b="1" dirty="0">
                <a:solidFill>
                  <a:srgbClr val="102638"/>
                </a:solidFill>
                <a:latin typeface="Aptos Display" pitchFamily="34" charset="0"/>
                <a:ea typeface="Aptos Display" pitchFamily="34" charset="-122"/>
                <a:cs typeface="Aptos Display" pitchFamily="34" charset="-120"/>
              </a:rPr>
              <a:t>Possible next build steps</a:t>
            </a:r>
            <a:endParaRPr lang="en-US" sz="1400" dirty="0"/>
          </a:p>
        </p:txBody>
      </p:sp>
      <p:sp>
        <p:nvSpPr>
          <p:cNvPr id="18" name="Shape 16"/>
          <p:cNvSpPr/>
          <p:nvPr/>
        </p:nvSpPr>
        <p:spPr>
          <a:xfrm>
            <a:off x="5916168" y="3520440"/>
            <a:ext cx="5166360" cy="0"/>
          </a:xfrm>
          <a:prstGeom prst="line">
            <a:avLst/>
          </a:prstGeom>
          <a:noFill/>
          <a:ln w="25400">
            <a:solidFill>
              <a:srgbClr val="CBDADD"/>
            </a:solidFill>
            <a:prstDash val="solid"/>
          </a:ln>
        </p:spPr>
      </p:sp>
      <p:sp>
        <p:nvSpPr>
          <p:cNvPr id="19" name="Shape 17"/>
          <p:cNvSpPr/>
          <p:nvPr/>
        </p:nvSpPr>
        <p:spPr>
          <a:xfrm>
            <a:off x="5806440" y="3401568"/>
            <a:ext cx="246888" cy="246888"/>
          </a:xfrm>
          <a:prstGeom prst="ellipse">
            <a:avLst/>
          </a:prstGeom>
          <a:solidFill>
            <a:srgbClr val="FFFFFF"/>
          </a:solidFill>
          <a:ln w="12700">
            <a:solidFill>
              <a:srgbClr val="5E80AA"/>
            </a:solidFill>
            <a:prstDash val="solid"/>
          </a:ln>
        </p:spPr>
      </p:sp>
      <p:sp>
        <p:nvSpPr>
          <p:cNvPr id="20" name="Shape 18"/>
          <p:cNvSpPr/>
          <p:nvPr/>
        </p:nvSpPr>
        <p:spPr>
          <a:xfrm>
            <a:off x="5641848" y="3886200"/>
            <a:ext cx="1755648" cy="1188720"/>
          </a:xfrm>
          <a:prstGeom prst="roundRect">
            <a:avLst>
              <a:gd name="adj" fmla="val 9231"/>
            </a:avLst>
          </a:prstGeom>
          <a:solidFill>
            <a:srgbClr val="EDF2F8"/>
          </a:solidFill>
          <a:ln w="8890">
            <a:solidFill>
              <a:srgbClr val="EDF2F8"/>
            </a:solidFill>
            <a:prstDash val="solid"/>
          </a:ln>
        </p:spPr>
      </p:sp>
      <p:sp>
        <p:nvSpPr>
          <p:cNvPr id="21" name="Text 19"/>
          <p:cNvSpPr/>
          <p:nvPr/>
        </p:nvSpPr>
        <p:spPr>
          <a:xfrm>
            <a:off x="5788152" y="4050792"/>
            <a:ext cx="1463040" cy="274320"/>
          </a:xfrm>
          <a:prstGeom prst="rect">
            <a:avLst/>
          </a:prstGeom>
          <a:noFill/>
          <a:ln/>
        </p:spPr>
        <p:txBody>
          <a:bodyPr wrap="square" lIns="0" tIns="0" rIns="0" bIns="0" rtlCol="0" anchor="ctr">
            <a:normAutofit/>
          </a:bodyPr>
          <a:lstStyle/>
          <a:p>
            <a:pPr indent="0" marL="0">
              <a:buNone/>
            </a:pPr>
            <a:r>
              <a:rPr lang="en-US" sz="1000" b="1" dirty="0">
                <a:solidFill>
                  <a:srgbClr val="5E80AA"/>
                </a:solidFill>
                <a:latin typeface="Aptos" pitchFamily="34" charset="0"/>
                <a:ea typeface="Aptos" pitchFamily="34" charset="-122"/>
                <a:cs typeface="Aptos" pitchFamily="34" charset="-120"/>
              </a:rPr>
              <a:t>0–3 months</a:t>
            </a:r>
            <a:endParaRPr lang="en-US" sz="1000" dirty="0"/>
          </a:p>
        </p:txBody>
      </p:sp>
      <p:sp>
        <p:nvSpPr>
          <p:cNvPr id="22" name="Text 20"/>
          <p:cNvSpPr/>
          <p:nvPr/>
        </p:nvSpPr>
        <p:spPr>
          <a:xfrm>
            <a:off x="5788152" y="4407408"/>
            <a:ext cx="1463040" cy="493776"/>
          </a:xfrm>
          <a:prstGeom prst="rect">
            <a:avLst/>
          </a:prstGeom>
          <a:noFill/>
          <a:ln/>
        </p:spPr>
        <p:txBody>
          <a:bodyPr wrap="square" lIns="0" tIns="0" rIns="0" bIns="0" rtlCol="0" anchor="t">
            <a:normAutofit/>
          </a:bodyPr>
          <a:lstStyle/>
          <a:p>
            <a:pPr indent="0" marL="0">
              <a:buNone/>
            </a:pPr>
            <a:r>
              <a:rPr lang="en-US" sz="820" dirty="0">
                <a:solidFill>
                  <a:srgbClr val="203747"/>
                </a:solidFill>
                <a:latin typeface="Aptos" pitchFamily="34" charset="0"/>
                <a:ea typeface="Aptos" pitchFamily="34" charset="-122"/>
                <a:cs typeface="Aptos" pitchFamily="34" charset="-120"/>
              </a:rPr>
              <a:t>Interview owners · confirm data fields · pick a safe pilot</a:t>
            </a:r>
            <a:endParaRPr lang="en-US" sz="820" dirty="0"/>
          </a:p>
        </p:txBody>
      </p:sp>
      <p:sp>
        <p:nvSpPr>
          <p:cNvPr id="23" name="Shape 21"/>
          <p:cNvSpPr/>
          <p:nvPr/>
        </p:nvSpPr>
        <p:spPr>
          <a:xfrm>
            <a:off x="7708392" y="3401568"/>
            <a:ext cx="246888" cy="246888"/>
          </a:xfrm>
          <a:prstGeom prst="ellipse">
            <a:avLst/>
          </a:prstGeom>
          <a:solidFill>
            <a:srgbClr val="FFFFFF"/>
          </a:solidFill>
          <a:ln w="12700">
            <a:solidFill>
              <a:srgbClr val="5E80AA"/>
            </a:solidFill>
            <a:prstDash val="solid"/>
          </a:ln>
        </p:spPr>
      </p:sp>
      <p:sp>
        <p:nvSpPr>
          <p:cNvPr id="24" name="Shape 22"/>
          <p:cNvSpPr/>
          <p:nvPr/>
        </p:nvSpPr>
        <p:spPr>
          <a:xfrm>
            <a:off x="7543800" y="3886200"/>
            <a:ext cx="1755648" cy="1188720"/>
          </a:xfrm>
          <a:prstGeom prst="roundRect">
            <a:avLst>
              <a:gd name="adj" fmla="val 9231"/>
            </a:avLst>
          </a:prstGeom>
          <a:solidFill>
            <a:srgbClr val="F7FAFA"/>
          </a:solidFill>
          <a:ln w="8890">
            <a:solidFill>
              <a:srgbClr val="E0E8EA"/>
            </a:solidFill>
            <a:prstDash val="solid"/>
          </a:ln>
        </p:spPr>
      </p:sp>
      <p:sp>
        <p:nvSpPr>
          <p:cNvPr id="25" name="Text 23"/>
          <p:cNvSpPr/>
          <p:nvPr/>
        </p:nvSpPr>
        <p:spPr>
          <a:xfrm>
            <a:off x="7690104" y="4050792"/>
            <a:ext cx="1463040" cy="274320"/>
          </a:xfrm>
          <a:prstGeom prst="rect">
            <a:avLst/>
          </a:prstGeom>
          <a:noFill/>
          <a:ln/>
        </p:spPr>
        <p:txBody>
          <a:bodyPr wrap="square" lIns="0" tIns="0" rIns="0" bIns="0" rtlCol="0" anchor="ctr">
            <a:normAutofit/>
          </a:bodyPr>
          <a:lstStyle/>
          <a:p>
            <a:pPr indent="0" marL="0">
              <a:buNone/>
            </a:pPr>
            <a:r>
              <a:rPr lang="en-US" sz="1000" b="1" dirty="0">
                <a:solidFill>
                  <a:srgbClr val="5E80AA"/>
                </a:solidFill>
                <a:latin typeface="Aptos" pitchFamily="34" charset="0"/>
                <a:ea typeface="Aptos" pitchFamily="34" charset="-122"/>
                <a:cs typeface="Aptos" pitchFamily="34" charset="-120"/>
              </a:rPr>
              <a:t>3–6 months</a:t>
            </a:r>
            <a:endParaRPr lang="en-US" sz="1000" dirty="0"/>
          </a:p>
        </p:txBody>
      </p:sp>
      <p:sp>
        <p:nvSpPr>
          <p:cNvPr id="26" name="Text 24"/>
          <p:cNvSpPr/>
          <p:nvPr/>
        </p:nvSpPr>
        <p:spPr>
          <a:xfrm>
            <a:off x="7690104" y="4407408"/>
            <a:ext cx="1463040" cy="493776"/>
          </a:xfrm>
          <a:prstGeom prst="rect">
            <a:avLst/>
          </a:prstGeom>
          <a:noFill/>
          <a:ln/>
        </p:spPr>
        <p:txBody>
          <a:bodyPr wrap="square" lIns="0" tIns="0" rIns="0" bIns="0" rtlCol="0" anchor="t">
            <a:normAutofit/>
          </a:bodyPr>
          <a:lstStyle/>
          <a:p>
            <a:pPr indent="0" marL="0">
              <a:buNone/>
            </a:pPr>
            <a:r>
              <a:rPr lang="en-US" sz="820" dirty="0">
                <a:solidFill>
                  <a:srgbClr val="203747"/>
                </a:solidFill>
                <a:latin typeface="Aptos" pitchFamily="34" charset="0"/>
                <a:ea typeface="Aptos" pitchFamily="34" charset="-122"/>
                <a:cs typeface="Aptos" pitchFamily="34" charset="-120"/>
              </a:rPr>
              <a:t>Customer-controlled pilot · accounts · review workflow</a:t>
            </a:r>
            <a:endParaRPr lang="en-US" sz="820" dirty="0"/>
          </a:p>
        </p:txBody>
      </p:sp>
      <p:sp>
        <p:nvSpPr>
          <p:cNvPr id="27" name="Shape 25"/>
          <p:cNvSpPr/>
          <p:nvPr/>
        </p:nvSpPr>
        <p:spPr>
          <a:xfrm>
            <a:off x="9610344" y="3401568"/>
            <a:ext cx="246888" cy="246888"/>
          </a:xfrm>
          <a:prstGeom prst="ellipse">
            <a:avLst/>
          </a:prstGeom>
          <a:solidFill>
            <a:srgbClr val="FFFFFF"/>
          </a:solidFill>
          <a:ln w="12700">
            <a:solidFill>
              <a:srgbClr val="5E80AA"/>
            </a:solidFill>
            <a:prstDash val="solid"/>
          </a:ln>
        </p:spPr>
      </p:sp>
      <p:sp>
        <p:nvSpPr>
          <p:cNvPr id="28" name="Shape 26"/>
          <p:cNvSpPr/>
          <p:nvPr/>
        </p:nvSpPr>
        <p:spPr>
          <a:xfrm>
            <a:off x="9445752" y="3886200"/>
            <a:ext cx="1755648" cy="1188720"/>
          </a:xfrm>
          <a:prstGeom prst="roundRect">
            <a:avLst>
              <a:gd name="adj" fmla="val 9231"/>
            </a:avLst>
          </a:prstGeom>
          <a:solidFill>
            <a:srgbClr val="F7FAFA"/>
          </a:solidFill>
          <a:ln w="8890">
            <a:solidFill>
              <a:srgbClr val="E0E8EA"/>
            </a:solidFill>
            <a:prstDash val="solid"/>
          </a:ln>
        </p:spPr>
      </p:sp>
      <p:sp>
        <p:nvSpPr>
          <p:cNvPr id="29" name="Text 27"/>
          <p:cNvSpPr/>
          <p:nvPr/>
        </p:nvSpPr>
        <p:spPr>
          <a:xfrm>
            <a:off x="9592056" y="4050792"/>
            <a:ext cx="1463040" cy="274320"/>
          </a:xfrm>
          <a:prstGeom prst="rect">
            <a:avLst/>
          </a:prstGeom>
          <a:noFill/>
          <a:ln/>
        </p:spPr>
        <p:txBody>
          <a:bodyPr wrap="square" lIns="0" tIns="0" rIns="0" bIns="0" rtlCol="0" anchor="ctr">
            <a:normAutofit/>
          </a:bodyPr>
          <a:lstStyle/>
          <a:p>
            <a:pPr indent="0" marL="0">
              <a:buNone/>
            </a:pPr>
            <a:r>
              <a:rPr lang="en-US" sz="1000" b="1" dirty="0">
                <a:solidFill>
                  <a:srgbClr val="5E80AA"/>
                </a:solidFill>
                <a:latin typeface="Aptos" pitchFamily="34" charset="0"/>
                <a:ea typeface="Aptos" pitchFamily="34" charset="-122"/>
                <a:cs typeface="Aptos" pitchFamily="34" charset="-120"/>
              </a:rPr>
              <a:t>6–12 months</a:t>
            </a:r>
            <a:endParaRPr lang="en-US" sz="1000" dirty="0"/>
          </a:p>
        </p:txBody>
      </p:sp>
      <p:sp>
        <p:nvSpPr>
          <p:cNvPr id="30" name="Text 28"/>
          <p:cNvSpPr/>
          <p:nvPr/>
        </p:nvSpPr>
        <p:spPr>
          <a:xfrm>
            <a:off x="9592056" y="4407408"/>
            <a:ext cx="1463040" cy="493776"/>
          </a:xfrm>
          <a:prstGeom prst="rect">
            <a:avLst/>
          </a:prstGeom>
          <a:noFill/>
          <a:ln/>
        </p:spPr>
        <p:txBody>
          <a:bodyPr wrap="square" lIns="0" tIns="0" rIns="0" bIns="0" rtlCol="0" anchor="t">
            <a:normAutofit/>
          </a:bodyPr>
          <a:lstStyle/>
          <a:p>
            <a:pPr indent="0" marL="0">
              <a:buNone/>
            </a:pPr>
            <a:r>
              <a:rPr lang="en-US" sz="820" dirty="0">
                <a:solidFill>
                  <a:srgbClr val="203747"/>
                </a:solidFill>
                <a:latin typeface="Aptos" pitchFamily="34" charset="0"/>
                <a:ea typeface="Aptos" pitchFamily="34" charset="-122"/>
                <a:cs typeface="Aptos" pitchFamily="34" charset="-120"/>
              </a:rPr>
              <a:t>Approved integrations · stronger audit and security</a:t>
            </a:r>
            <a:endParaRPr lang="en-US" sz="820" dirty="0"/>
          </a:p>
        </p:txBody>
      </p:sp>
      <p:sp>
        <p:nvSpPr>
          <p:cNvPr id="25" name="Slide Number Placeholder 0"/>
          <p:cNvSpPr>
            <a:spLocks noGrp="1"/>
          </p:cNvSpPr>
          <p:nvPr>
            <p:ph type="sldNum" sz="quarter" idx="4294967295"/>
          </p:nvPr>
        </p:nvSpPr>
        <p:spPr>
          <a:xfrm>
            <a:off x="11247120" y="6492240"/>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1838D"/>
                </a:solidFill>
                <a:latin typeface="Aptos"/>
                <a:ea typeface="Aptos"/>
                <a:cs typeface="Apto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292608"/>
            <a:ext cx="5943600" cy="182880"/>
          </a:xfrm>
          <a:prstGeom prst="rect">
            <a:avLst/>
          </a:prstGeom>
          <a:noFill/>
          <a:ln/>
        </p:spPr>
        <p:txBody>
          <a:bodyPr wrap="square" lIns="0" tIns="0" rIns="0" bIns="0" rtlCol="0" anchor="ctr">
            <a:normAutofit/>
          </a:bodyPr>
          <a:lstStyle/>
          <a:p>
            <a:pPr indent="0" marL="0">
              <a:buNone/>
            </a:pPr>
            <a:r>
              <a:rPr lang="en-US" sz="800" b="1" spc="120" kern="0" dirty="0">
                <a:solidFill>
                  <a:srgbClr val="B17B24"/>
                </a:solidFill>
                <a:latin typeface="Aptos" pitchFamily="34" charset="0"/>
                <a:ea typeface="Aptos" pitchFamily="34" charset="-122"/>
                <a:cs typeface="Aptos" pitchFamily="34" charset="-120"/>
              </a:rPr>
              <a:t>VALUE &amp; RISKS</a:t>
            </a:r>
            <a:endParaRPr lang="en-US" sz="800" dirty="0"/>
          </a:p>
        </p:txBody>
      </p:sp>
      <p:sp>
        <p:nvSpPr>
          <p:cNvPr id="3" name="Text 1"/>
          <p:cNvSpPr/>
          <p:nvPr/>
        </p:nvSpPr>
        <p:spPr>
          <a:xfrm>
            <a:off x="566928" y="566928"/>
            <a:ext cx="10972800" cy="530352"/>
          </a:xfrm>
          <a:prstGeom prst="rect">
            <a:avLst/>
          </a:prstGeom>
          <a:noFill/>
          <a:ln/>
        </p:spPr>
        <p:txBody>
          <a:bodyPr wrap="square" lIns="0" tIns="0" rIns="0" bIns="0" rtlCol="0" anchor="ctr">
            <a:normAutofit/>
          </a:bodyPr>
          <a:lstStyle/>
          <a:p>
            <a:pPr indent="0" marL="0">
              <a:buNone/>
            </a:pPr>
            <a:r>
              <a:rPr lang="en-US" sz="2500" b="1" dirty="0">
                <a:solidFill>
                  <a:srgbClr val="102638"/>
                </a:solidFill>
                <a:latin typeface="Aptos Display" pitchFamily="34" charset="0"/>
                <a:ea typeface="Aptos Display" pitchFamily="34" charset="-122"/>
                <a:cs typeface="Aptos Display" pitchFamily="34" charset="-120"/>
              </a:rPr>
              <a:t>Start small, with one service owner.</a:t>
            </a:r>
            <a:endParaRPr lang="en-US" sz="2500" dirty="0"/>
          </a:p>
        </p:txBody>
      </p:sp>
      <p:sp>
        <p:nvSpPr>
          <p:cNvPr id="4" name="Text 2"/>
          <p:cNvSpPr/>
          <p:nvPr/>
        </p:nvSpPr>
        <p:spPr>
          <a:xfrm>
            <a:off x="585216" y="1152144"/>
            <a:ext cx="10881360" cy="347472"/>
          </a:xfrm>
          <a:prstGeom prst="rect">
            <a:avLst/>
          </a:prstGeom>
          <a:noFill/>
          <a:ln/>
        </p:spPr>
        <p:txBody>
          <a:bodyPr wrap="square" lIns="0" tIns="0" rIns="0" bIns="0" rtlCol="0" anchor="t">
            <a:normAutofit/>
          </a:bodyPr>
          <a:lstStyle/>
          <a:p>
            <a:pPr indent="0" marL="0">
              <a:buNone/>
            </a:pPr>
            <a:r>
              <a:rPr lang="en-US" sz="1200" dirty="0">
                <a:solidFill>
                  <a:srgbClr val="72858D"/>
                </a:solidFill>
                <a:latin typeface="Aptos" pitchFamily="34" charset="0"/>
                <a:ea typeface="Aptos" pitchFamily="34" charset="-122"/>
                <a:cs typeface="Aptos" pitchFamily="34" charset="-120"/>
              </a:rPr>
              <a:t>Choose a safe dataset, review its evidence and run one scenario together.</a:t>
            </a:r>
            <a:endParaRPr lang="en-US" sz="1200" dirty="0"/>
          </a:p>
        </p:txBody>
      </p:sp>
      <p:sp>
        <p:nvSpPr>
          <p:cNvPr id="5" name="Shape 3"/>
          <p:cNvSpPr/>
          <p:nvPr/>
        </p:nvSpPr>
        <p:spPr>
          <a:xfrm>
            <a:off x="566928" y="1618488"/>
            <a:ext cx="11064240" cy="0"/>
          </a:xfrm>
          <a:prstGeom prst="line">
            <a:avLst/>
          </a:prstGeom>
          <a:noFill/>
          <a:ln w="12700">
            <a:solidFill>
              <a:srgbClr val="E0E8EA"/>
            </a:solidFill>
            <a:prstDash val="solid"/>
          </a:ln>
        </p:spPr>
      </p:sp>
      <p:sp>
        <p:nvSpPr>
          <p:cNvPr id="6" name="Text 4"/>
          <p:cNvSpPr/>
          <p:nvPr/>
        </p:nvSpPr>
        <p:spPr>
          <a:xfrm>
            <a:off x="621792" y="1847088"/>
            <a:ext cx="4389120" cy="182880"/>
          </a:xfrm>
          <a:prstGeom prst="rect">
            <a:avLst/>
          </a:prstGeom>
          <a:noFill/>
          <a:ln/>
        </p:spPr>
        <p:txBody>
          <a:bodyPr wrap="square" lIns="0" tIns="0" rIns="0" bIns="0" rtlCol="0" anchor="ctr">
            <a:normAutofit/>
          </a:bodyPr>
          <a:lstStyle/>
          <a:p>
            <a:pPr indent="0" marL="0">
              <a:buNone/>
            </a:pPr>
            <a:r>
              <a:rPr lang="en-US" sz="800" b="1" spc="90" kern="0" dirty="0">
                <a:solidFill>
                  <a:srgbClr val="91A0A6"/>
                </a:solidFill>
                <a:latin typeface="Aptos" pitchFamily="34" charset="0"/>
                <a:ea typeface="Aptos" pitchFamily="34" charset="-122"/>
                <a:cs typeface="Aptos" pitchFamily="34" charset="-120"/>
              </a:rPr>
              <a:t>PLANNING INSIGHT</a:t>
            </a:r>
            <a:endParaRPr lang="en-US" sz="800" dirty="0"/>
          </a:p>
        </p:txBody>
      </p:sp>
      <p:sp>
        <p:nvSpPr>
          <p:cNvPr id="7" name="Shape 5"/>
          <p:cNvSpPr/>
          <p:nvPr/>
        </p:nvSpPr>
        <p:spPr>
          <a:xfrm>
            <a:off x="640080" y="2221992"/>
            <a:ext cx="82296" cy="82296"/>
          </a:xfrm>
          <a:prstGeom prst="ellipse">
            <a:avLst/>
          </a:prstGeom>
          <a:solidFill>
            <a:srgbClr val="B17B24"/>
          </a:solidFill>
          <a:ln w="12700">
            <a:solidFill>
              <a:srgbClr val="B17B24">
                <a:alpha val="0"/>
              </a:srgbClr>
            </a:solidFill>
            <a:prstDash val="solid"/>
          </a:ln>
        </p:spPr>
      </p:sp>
      <p:sp>
        <p:nvSpPr>
          <p:cNvPr id="8" name="Text 6"/>
          <p:cNvSpPr/>
          <p:nvPr/>
        </p:nvSpPr>
        <p:spPr>
          <a:xfrm>
            <a:off x="841248" y="2157984"/>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Measure time to prepare an exercise and review its result paths.</a:t>
            </a:r>
            <a:endParaRPr lang="en-US" sz="1300" dirty="0"/>
          </a:p>
        </p:txBody>
      </p:sp>
      <p:sp>
        <p:nvSpPr>
          <p:cNvPr id="9" name="Shape 7"/>
          <p:cNvSpPr/>
          <p:nvPr/>
        </p:nvSpPr>
        <p:spPr>
          <a:xfrm>
            <a:off x="640080" y="3118104"/>
            <a:ext cx="82296" cy="82296"/>
          </a:xfrm>
          <a:prstGeom prst="ellipse">
            <a:avLst/>
          </a:prstGeom>
          <a:solidFill>
            <a:srgbClr val="B17B24"/>
          </a:solidFill>
          <a:ln w="12700">
            <a:solidFill>
              <a:srgbClr val="B17B24">
                <a:alpha val="0"/>
              </a:srgbClr>
            </a:solidFill>
            <a:prstDash val="solid"/>
          </a:ln>
        </p:spPr>
      </p:sp>
      <p:sp>
        <p:nvSpPr>
          <p:cNvPr id="10" name="Text 8"/>
          <p:cNvSpPr/>
          <p:nvPr/>
        </p:nvSpPr>
        <p:spPr>
          <a:xfrm>
            <a:off x="841248" y="3054096"/>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Biggest risk: incomplete, old or disputed dependency records.</a:t>
            </a:r>
            <a:endParaRPr lang="en-US" sz="1300" dirty="0"/>
          </a:p>
        </p:txBody>
      </p:sp>
      <p:sp>
        <p:nvSpPr>
          <p:cNvPr id="11" name="Shape 9"/>
          <p:cNvSpPr/>
          <p:nvPr/>
        </p:nvSpPr>
        <p:spPr>
          <a:xfrm>
            <a:off x="640080" y="4014216"/>
            <a:ext cx="82296" cy="82296"/>
          </a:xfrm>
          <a:prstGeom prst="ellipse">
            <a:avLst/>
          </a:prstGeom>
          <a:solidFill>
            <a:srgbClr val="B17B24"/>
          </a:solidFill>
          <a:ln w="12700">
            <a:solidFill>
              <a:srgbClr val="B17B24">
                <a:alpha val="0"/>
              </a:srgbClr>
            </a:solidFill>
            <a:prstDash val="solid"/>
          </a:ln>
        </p:spPr>
      </p:sp>
      <p:sp>
        <p:nvSpPr>
          <p:cNvPr id="12" name="Text 10"/>
          <p:cNvSpPr/>
          <p:nvPr/>
        </p:nvSpPr>
        <p:spPr>
          <a:xfrm>
            <a:off x="841248" y="3950208"/>
            <a:ext cx="4224528" cy="566928"/>
          </a:xfrm>
          <a:prstGeom prst="rect">
            <a:avLst/>
          </a:prstGeom>
          <a:noFill/>
          <a:ln/>
        </p:spPr>
        <p:txBody>
          <a:bodyPr wrap="square" lIns="0" tIns="0" rIns="0" bIns="0" rtlCol="0" anchor="t">
            <a:normAutofit/>
          </a:bodyPr>
          <a:lstStyle/>
          <a:p>
            <a:pPr indent="0" marL="0">
              <a:buNone/>
            </a:pPr>
            <a:r>
              <a:rPr lang="en-US" sz="1300" dirty="0">
                <a:solidFill>
                  <a:srgbClr val="203747"/>
                </a:solidFill>
                <a:latin typeface="Aptos" pitchFamily="34" charset="0"/>
                <a:ea typeface="Aptos" pitchFamily="34" charset="-122"/>
                <a:cs typeface="Aptos" pitchFamily="34" charset="-120"/>
              </a:rPr>
              <a:t>Continue only if owners can explain and trust the evidence.</a:t>
            </a:r>
            <a:endParaRPr lang="en-US" sz="1300" dirty="0"/>
          </a:p>
        </p:txBody>
      </p:sp>
      <p:sp>
        <p:nvSpPr>
          <p:cNvPr id="13" name="Shape 11"/>
          <p:cNvSpPr/>
          <p:nvPr/>
        </p:nvSpPr>
        <p:spPr>
          <a:xfrm>
            <a:off x="612648" y="5175504"/>
            <a:ext cx="4462272" cy="731520"/>
          </a:xfrm>
          <a:prstGeom prst="roundRect">
            <a:avLst>
              <a:gd name="adj" fmla="val 15000"/>
            </a:avLst>
          </a:prstGeom>
          <a:solidFill>
            <a:srgbClr val="FFF4DC"/>
          </a:solidFill>
          <a:ln w="8890">
            <a:solidFill>
              <a:srgbClr val="FFF4DC"/>
            </a:solidFill>
            <a:prstDash val="solid"/>
          </a:ln>
        </p:spPr>
      </p:sp>
      <p:sp>
        <p:nvSpPr>
          <p:cNvPr id="14" name="Text 12"/>
          <p:cNvSpPr/>
          <p:nvPr/>
        </p:nvSpPr>
        <p:spPr>
          <a:xfrm>
            <a:off x="786384" y="5312664"/>
            <a:ext cx="914400" cy="146304"/>
          </a:xfrm>
          <a:prstGeom prst="rect">
            <a:avLst/>
          </a:prstGeom>
          <a:noFill/>
          <a:ln/>
        </p:spPr>
        <p:txBody>
          <a:bodyPr wrap="square" lIns="0" tIns="0" rIns="0" bIns="0" rtlCol="0" anchor="ctr">
            <a:normAutofit/>
          </a:bodyPr>
          <a:lstStyle/>
          <a:p>
            <a:pPr indent="0" marL="0">
              <a:buNone/>
            </a:pPr>
            <a:r>
              <a:rPr lang="en-US" sz="750" b="1" spc="90" kern="0" dirty="0">
                <a:solidFill>
                  <a:srgbClr val="B17B24"/>
                </a:solidFill>
                <a:latin typeface="Aptos" pitchFamily="34" charset="0"/>
                <a:ea typeface="Aptos" pitchFamily="34" charset="-122"/>
                <a:cs typeface="Aptos" pitchFamily="34" charset="-120"/>
              </a:rPr>
              <a:t>TAKEAWAY</a:t>
            </a:r>
            <a:endParaRPr lang="en-US" sz="750" dirty="0"/>
          </a:p>
        </p:txBody>
      </p:sp>
      <p:sp>
        <p:nvSpPr>
          <p:cNvPr id="15" name="Text 13"/>
          <p:cNvSpPr/>
          <p:nvPr/>
        </p:nvSpPr>
        <p:spPr>
          <a:xfrm>
            <a:off x="786384" y="5504688"/>
            <a:ext cx="4105656" cy="310896"/>
          </a:xfrm>
          <a:prstGeom prst="rect">
            <a:avLst/>
          </a:prstGeom>
          <a:noFill/>
          <a:ln/>
        </p:spPr>
        <p:txBody>
          <a:bodyPr wrap="square" lIns="0" tIns="0" rIns="0" bIns="0" rtlCol="0" anchor="t">
            <a:normAutofit/>
          </a:bodyPr>
          <a:lstStyle/>
          <a:p>
            <a:pPr indent="0" marL="0">
              <a:buNone/>
            </a:pPr>
            <a:r>
              <a:rPr lang="en-US" sz="1030" b="1" dirty="0">
                <a:solidFill>
                  <a:srgbClr val="203747"/>
                </a:solidFill>
                <a:latin typeface="Aptos" pitchFamily="34" charset="0"/>
                <a:ea typeface="Aptos" pitchFamily="34" charset="-122"/>
                <a:cs typeface="Aptos" pitchFamily="34" charset="-120"/>
              </a:rPr>
              <a:t>The tool makes assumptions easier to inspect; it cannot fix bad data.</a:t>
            </a:r>
            <a:endParaRPr lang="en-US" sz="1030" dirty="0"/>
          </a:p>
        </p:txBody>
      </p:sp>
      <p:sp>
        <p:nvSpPr>
          <p:cNvPr id="16" name="Shape 14"/>
          <p:cNvSpPr/>
          <p:nvPr/>
        </p:nvSpPr>
        <p:spPr>
          <a:xfrm>
            <a:off x="5413248" y="1810512"/>
            <a:ext cx="6172200" cy="4096512"/>
          </a:xfrm>
          <a:prstGeom prst="roundRect">
            <a:avLst>
              <a:gd name="adj" fmla="val 2679"/>
            </a:avLst>
          </a:prstGeom>
          <a:solidFill>
            <a:srgbClr val="FFFFFF"/>
          </a:solidFill>
          <a:ln w="8890">
            <a:solidFill>
              <a:srgbClr val="E0E8EA"/>
            </a:solidFill>
            <a:prstDash val="solid"/>
          </a:ln>
        </p:spPr>
      </p:sp>
      <p:sp>
        <p:nvSpPr>
          <p:cNvPr id="17" name="Text 15"/>
          <p:cNvSpPr/>
          <p:nvPr/>
        </p:nvSpPr>
        <p:spPr>
          <a:xfrm>
            <a:off x="5687568" y="1993392"/>
            <a:ext cx="5577840" cy="274320"/>
          </a:xfrm>
          <a:prstGeom prst="rect">
            <a:avLst/>
          </a:prstGeom>
          <a:noFill/>
          <a:ln/>
        </p:spPr>
        <p:txBody>
          <a:bodyPr wrap="square" lIns="0" tIns="0" rIns="0" bIns="0" rtlCol="0" anchor="ctr">
            <a:normAutofit/>
          </a:bodyPr>
          <a:lstStyle/>
          <a:p>
            <a:pPr indent="0" marL="0">
              <a:buNone/>
            </a:pPr>
            <a:r>
              <a:rPr lang="en-US" sz="1400" b="1" dirty="0">
                <a:solidFill>
                  <a:srgbClr val="102638"/>
                </a:solidFill>
                <a:latin typeface="Aptos Display" pitchFamily="34" charset="0"/>
                <a:ea typeface="Aptos Display" pitchFamily="34" charset="-122"/>
                <a:cs typeface="Aptos Display" pitchFamily="34" charset="-120"/>
              </a:rPr>
              <a:t>A bounded pilot</a:t>
            </a:r>
            <a:endParaRPr lang="en-US" sz="1400" dirty="0"/>
          </a:p>
        </p:txBody>
      </p:sp>
      <p:sp>
        <p:nvSpPr>
          <p:cNvPr id="18" name="Shape 16"/>
          <p:cNvSpPr/>
          <p:nvPr/>
        </p:nvSpPr>
        <p:spPr>
          <a:xfrm>
            <a:off x="5641848" y="2788920"/>
            <a:ext cx="1734312" cy="1508760"/>
          </a:xfrm>
          <a:prstGeom prst="roundRect">
            <a:avLst>
              <a:gd name="adj" fmla="val 7273"/>
            </a:avLst>
          </a:prstGeom>
          <a:solidFill>
            <a:srgbClr val="FFF4DC"/>
          </a:solidFill>
          <a:ln w="8890">
            <a:solidFill>
              <a:srgbClr val="FFF4DC"/>
            </a:solidFill>
            <a:prstDash val="solid"/>
          </a:ln>
        </p:spPr>
      </p:sp>
      <p:sp>
        <p:nvSpPr>
          <p:cNvPr id="19" name="Shape 17"/>
          <p:cNvSpPr/>
          <p:nvPr/>
        </p:nvSpPr>
        <p:spPr>
          <a:xfrm>
            <a:off x="5641848" y="2788920"/>
            <a:ext cx="45720" cy="1508760"/>
          </a:xfrm>
          <a:prstGeom prst="rect">
            <a:avLst/>
          </a:prstGeom>
          <a:solidFill>
            <a:srgbClr val="B17B24"/>
          </a:solidFill>
          <a:ln w="12700">
            <a:solidFill>
              <a:srgbClr val="B17B24">
                <a:alpha val="0"/>
              </a:srgbClr>
            </a:solidFill>
            <a:prstDash val="solid"/>
          </a:ln>
        </p:spPr>
      </p:sp>
      <p:sp>
        <p:nvSpPr>
          <p:cNvPr id="20" name="Text 18"/>
          <p:cNvSpPr/>
          <p:nvPr/>
        </p:nvSpPr>
        <p:spPr>
          <a:xfrm>
            <a:off x="5806440" y="2944368"/>
            <a:ext cx="1423416" cy="228600"/>
          </a:xfrm>
          <a:prstGeom prst="rect">
            <a:avLst/>
          </a:prstGeom>
          <a:noFill/>
          <a:ln/>
        </p:spPr>
        <p:txBody>
          <a:bodyPr wrap="square" lIns="0" tIns="0" rIns="0" bIns="0" rtlCol="0" anchor="t">
            <a:normAutofit/>
          </a:bodyPr>
          <a:lstStyle/>
          <a:p>
            <a:pPr indent="0" marL="0">
              <a:buNone/>
            </a:pPr>
            <a:r>
              <a:rPr lang="en-US" sz="1000" b="1" dirty="0">
                <a:solidFill>
                  <a:srgbClr val="102638"/>
                </a:solidFill>
                <a:latin typeface="Aptos" pitchFamily="34" charset="0"/>
                <a:ea typeface="Aptos" pitchFamily="34" charset="-122"/>
                <a:cs typeface="Aptos" pitchFamily="34" charset="-120"/>
              </a:rPr>
              <a:t>Choose</a:t>
            </a:r>
            <a:endParaRPr lang="en-US" sz="1000" dirty="0"/>
          </a:p>
        </p:txBody>
      </p:sp>
      <p:sp>
        <p:nvSpPr>
          <p:cNvPr id="21" name="Text 19"/>
          <p:cNvSpPr/>
          <p:nvPr/>
        </p:nvSpPr>
        <p:spPr>
          <a:xfrm>
            <a:off x="5806440" y="3291840"/>
            <a:ext cx="1423416" cy="886968"/>
          </a:xfrm>
          <a:prstGeom prst="rect">
            <a:avLst/>
          </a:prstGeom>
          <a:noFill/>
          <a:ln/>
        </p:spPr>
        <p:txBody>
          <a:bodyPr wrap="square" lIns="0" tIns="0" rIns="0" bIns="0" rtlCol="0" anchor="t">
            <a:normAutofit/>
          </a:bodyPr>
          <a:lstStyle/>
          <a:p>
            <a:pPr indent="0" marL="0">
              <a:buNone/>
            </a:pPr>
            <a:r>
              <a:rPr lang="en-US" sz="920" dirty="0">
                <a:solidFill>
                  <a:srgbClr val="72858D"/>
                </a:solidFill>
                <a:latin typeface="Aptos" pitchFamily="34" charset="0"/>
                <a:ea typeface="Aptos" pitchFamily="34" charset="-122"/>
                <a:cs typeface="Aptos" pitchFamily="34" charset="-120"/>
              </a:rPr>
              <a:t>One service group and safe data</a:t>
            </a:r>
            <a:endParaRPr lang="en-US" sz="920" dirty="0"/>
          </a:p>
        </p:txBody>
      </p:sp>
      <p:sp>
        <p:nvSpPr>
          <p:cNvPr id="22" name="Shape 20"/>
          <p:cNvSpPr/>
          <p:nvPr/>
        </p:nvSpPr>
        <p:spPr>
          <a:xfrm>
            <a:off x="7632192" y="2788920"/>
            <a:ext cx="1734312" cy="1508760"/>
          </a:xfrm>
          <a:prstGeom prst="roundRect">
            <a:avLst>
              <a:gd name="adj" fmla="val 7273"/>
            </a:avLst>
          </a:prstGeom>
          <a:solidFill>
            <a:srgbClr val="F7FAFA"/>
          </a:solidFill>
          <a:ln w="8890">
            <a:solidFill>
              <a:srgbClr val="E0E8EA"/>
            </a:solidFill>
            <a:prstDash val="solid"/>
          </a:ln>
        </p:spPr>
      </p:sp>
      <p:sp>
        <p:nvSpPr>
          <p:cNvPr id="23" name="Shape 21"/>
          <p:cNvSpPr/>
          <p:nvPr/>
        </p:nvSpPr>
        <p:spPr>
          <a:xfrm>
            <a:off x="7632192" y="2788920"/>
            <a:ext cx="45720" cy="1508760"/>
          </a:xfrm>
          <a:prstGeom prst="rect">
            <a:avLst/>
          </a:prstGeom>
          <a:solidFill>
            <a:srgbClr val="B17B24"/>
          </a:solidFill>
          <a:ln w="12700">
            <a:solidFill>
              <a:srgbClr val="B17B24">
                <a:alpha val="0"/>
              </a:srgbClr>
            </a:solidFill>
            <a:prstDash val="solid"/>
          </a:ln>
        </p:spPr>
      </p:sp>
      <p:sp>
        <p:nvSpPr>
          <p:cNvPr id="24" name="Text 22"/>
          <p:cNvSpPr/>
          <p:nvPr/>
        </p:nvSpPr>
        <p:spPr>
          <a:xfrm>
            <a:off x="7796784" y="2944368"/>
            <a:ext cx="1423416" cy="228600"/>
          </a:xfrm>
          <a:prstGeom prst="rect">
            <a:avLst/>
          </a:prstGeom>
          <a:noFill/>
          <a:ln/>
        </p:spPr>
        <p:txBody>
          <a:bodyPr wrap="square" lIns="0" tIns="0" rIns="0" bIns="0" rtlCol="0" anchor="t">
            <a:normAutofit/>
          </a:bodyPr>
          <a:lstStyle/>
          <a:p>
            <a:pPr indent="0" marL="0">
              <a:buNone/>
            </a:pPr>
            <a:r>
              <a:rPr lang="en-US" sz="1000" b="1" dirty="0">
                <a:solidFill>
                  <a:srgbClr val="102638"/>
                </a:solidFill>
                <a:latin typeface="Aptos" pitchFamily="34" charset="0"/>
                <a:ea typeface="Aptos" pitchFamily="34" charset="-122"/>
                <a:cs typeface="Aptos" pitchFamily="34" charset="-120"/>
              </a:rPr>
              <a:t>Review</a:t>
            </a:r>
            <a:endParaRPr lang="en-US" sz="1000" dirty="0"/>
          </a:p>
        </p:txBody>
      </p:sp>
      <p:sp>
        <p:nvSpPr>
          <p:cNvPr id="25" name="Text 23"/>
          <p:cNvSpPr/>
          <p:nvPr/>
        </p:nvSpPr>
        <p:spPr>
          <a:xfrm>
            <a:off x="7796784" y="3291840"/>
            <a:ext cx="1423416" cy="886968"/>
          </a:xfrm>
          <a:prstGeom prst="rect">
            <a:avLst/>
          </a:prstGeom>
          <a:noFill/>
          <a:ln/>
        </p:spPr>
        <p:txBody>
          <a:bodyPr wrap="square" lIns="0" tIns="0" rIns="0" bIns="0" rtlCol="0" anchor="t">
            <a:normAutofit/>
          </a:bodyPr>
          <a:lstStyle/>
          <a:p>
            <a:pPr indent="0" marL="0">
              <a:buNone/>
            </a:pPr>
            <a:r>
              <a:rPr lang="en-US" sz="920" dirty="0">
                <a:solidFill>
                  <a:srgbClr val="72858D"/>
                </a:solidFill>
                <a:latin typeface="Aptos" pitchFamily="34" charset="0"/>
                <a:ea typeface="Aptos" pitchFamily="34" charset="-122"/>
                <a:cs typeface="Aptos" pitchFamily="34" charset="-120"/>
              </a:rPr>
              <a:t>Named owners and evidence</a:t>
            </a:r>
            <a:endParaRPr lang="en-US" sz="920" dirty="0"/>
          </a:p>
        </p:txBody>
      </p:sp>
      <p:sp>
        <p:nvSpPr>
          <p:cNvPr id="26" name="Shape 24"/>
          <p:cNvSpPr/>
          <p:nvPr/>
        </p:nvSpPr>
        <p:spPr>
          <a:xfrm>
            <a:off x="9622536" y="2788920"/>
            <a:ext cx="1734312" cy="1508760"/>
          </a:xfrm>
          <a:prstGeom prst="roundRect">
            <a:avLst>
              <a:gd name="adj" fmla="val 7273"/>
            </a:avLst>
          </a:prstGeom>
          <a:solidFill>
            <a:srgbClr val="F7FAFA"/>
          </a:solidFill>
          <a:ln w="8890">
            <a:solidFill>
              <a:srgbClr val="E0E8EA"/>
            </a:solidFill>
            <a:prstDash val="solid"/>
          </a:ln>
        </p:spPr>
      </p:sp>
      <p:sp>
        <p:nvSpPr>
          <p:cNvPr id="27" name="Shape 25"/>
          <p:cNvSpPr/>
          <p:nvPr/>
        </p:nvSpPr>
        <p:spPr>
          <a:xfrm>
            <a:off x="9622536" y="2788920"/>
            <a:ext cx="45720" cy="1508760"/>
          </a:xfrm>
          <a:prstGeom prst="rect">
            <a:avLst/>
          </a:prstGeom>
          <a:solidFill>
            <a:srgbClr val="B17B24"/>
          </a:solidFill>
          <a:ln w="12700">
            <a:solidFill>
              <a:srgbClr val="B17B24">
                <a:alpha val="0"/>
              </a:srgbClr>
            </a:solidFill>
            <a:prstDash val="solid"/>
          </a:ln>
        </p:spPr>
      </p:sp>
      <p:sp>
        <p:nvSpPr>
          <p:cNvPr id="28" name="Text 26"/>
          <p:cNvSpPr/>
          <p:nvPr/>
        </p:nvSpPr>
        <p:spPr>
          <a:xfrm>
            <a:off x="9787128" y="2944368"/>
            <a:ext cx="1423416" cy="228600"/>
          </a:xfrm>
          <a:prstGeom prst="rect">
            <a:avLst/>
          </a:prstGeom>
          <a:noFill/>
          <a:ln/>
        </p:spPr>
        <p:txBody>
          <a:bodyPr wrap="square" lIns="0" tIns="0" rIns="0" bIns="0" rtlCol="0" anchor="t">
            <a:normAutofit/>
          </a:bodyPr>
          <a:lstStyle/>
          <a:p>
            <a:pPr indent="0" marL="0">
              <a:buNone/>
            </a:pPr>
            <a:r>
              <a:rPr lang="en-US" sz="1000" b="1" dirty="0">
                <a:solidFill>
                  <a:srgbClr val="102638"/>
                </a:solidFill>
                <a:latin typeface="Aptos" pitchFamily="34" charset="0"/>
                <a:ea typeface="Aptos" pitchFamily="34" charset="-122"/>
                <a:cs typeface="Aptos" pitchFamily="34" charset="-120"/>
              </a:rPr>
              <a:t>Exercise</a:t>
            </a:r>
            <a:endParaRPr lang="en-US" sz="1000" dirty="0"/>
          </a:p>
        </p:txBody>
      </p:sp>
      <p:sp>
        <p:nvSpPr>
          <p:cNvPr id="29" name="Text 27"/>
          <p:cNvSpPr/>
          <p:nvPr/>
        </p:nvSpPr>
        <p:spPr>
          <a:xfrm>
            <a:off x="9787128" y="3291840"/>
            <a:ext cx="1423416" cy="886968"/>
          </a:xfrm>
          <a:prstGeom prst="rect">
            <a:avLst/>
          </a:prstGeom>
          <a:noFill/>
          <a:ln/>
        </p:spPr>
        <p:txBody>
          <a:bodyPr wrap="square" lIns="0" tIns="0" rIns="0" bIns="0" rtlCol="0" anchor="t">
            <a:normAutofit/>
          </a:bodyPr>
          <a:lstStyle/>
          <a:p>
            <a:pPr indent="0" marL="0">
              <a:buNone/>
            </a:pPr>
            <a:r>
              <a:rPr lang="en-US" sz="920" dirty="0">
                <a:solidFill>
                  <a:srgbClr val="72858D"/>
                </a:solidFill>
                <a:latin typeface="Aptos" pitchFamily="34" charset="0"/>
                <a:ea typeface="Aptos" pitchFamily="34" charset="-122"/>
                <a:cs typeface="Aptos" pitchFamily="34" charset="-120"/>
              </a:rPr>
              <a:t>A fixed what-if with known answers</a:t>
            </a:r>
            <a:endParaRPr lang="en-US" sz="920" dirty="0"/>
          </a:p>
        </p:txBody>
      </p:sp>
      <p:sp>
        <p:nvSpPr>
          <p:cNvPr id="25" name="Slide Number Placeholder 0"/>
          <p:cNvSpPr>
            <a:spLocks noGrp="1"/>
          </p:cNvSpPr>
          <p:nvPr>
            <p:ph type="sldNum" sz="quarter" idx="4294967295"/>
          </p:nvPr>
        </p:nvSpPr>
        <p:spPr>
          <a:xfrm>
            <a:off x="11247120" y="6492240"/>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1838D"/>
                </a:solidFill>
                <a:latin typeface="Aptos"/>
                <a:ea typeface="Aptos"/>
                <a:cs typeface="Aptos"/>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ContinuityMap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ContinuityMap — AI-assisted critical infrastructure resilience planning</dc:title>
  <dc:subject>Evidence-backed infrastructure dependency and resilience planning</dc:subject>
  <dc:creator>ContinuityMap</dc:creator>
  <cp:lastModifiedBy>ContinuityMap</cp:lastModifiedBy>
  <cp:revision>1</cp:revision>
  <dcterms:created xsi:type="dcterms:W3CDTF">2026-10-27T06:46:01Z</dcterms:created>
  <dcterms:modified xsi:type="dcterms:W3CDTF">2026-10-27T06:46:01Z</dcterms:modified>
</cp:coreProperties>
</file>